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7.xml" ContentType="application/vnd.openxmlformats-officedocument.drawingml.chart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0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456" r:id="rId195"/>
    <p:sldId id="457" r:id="rId196"/>
    <p:sldId id="458" r:id="rId197"/>
    <p:sldId id="459" r:id="rId198"/>
    <p:sldId id="460" r:id="rId199"/>
    <p:sldId id="461" r:id="rId200"/>
    <p:sldId id="462" r:id="rId201"/>
    <p:sldId id="463" r:id="rId202"/>
    <p:sldId id="464" r:id="rId20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B895"/>
    <a:srgbClr val="E8E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95" Type="http://schemas.openxmlformats.org/officeDocument/2006/relationships/slide" Target="slides/slide190.xml"/><Relationship Id="rId196" Type="http://schemas.openxmlformats.org/officeDocument/2006/relationships/slide" Target="slides/slide191.xml"/><Relationship Id="rId197" Type="http://schemas.openxmlformats.org/officeDocument/2006/relationships/slide" Target="slides/slide192.xml"/><Relationship Id="rId198" Type="http://schemas.openxmlformats.org/officeDocument/2006/relationships/slide" Target="slides/slide193.xml"/><Relationship Id="rId199" Type="http://schemas.openxmlformats.org/officeDocument/2006/relationships/slide" Target="slides/slide194.xml"/><Relationship Id="rId200" Type="http://schemas.openxmlformats.org/officeDocument/2006/relationships/slide" Target="slides/slide195.xml"/><Relationship Id="rId201" Type="http://schemas.openxmlformats.org/officeDocument/2006/relationships/slide" Target="slides/slide196.xml"/><Relationship Id="rId202" Type="http://schemas.openxmlformats.org/officeDocument/2006/relationships/slide" Target="slides/slide197.xml"/><Relationship Id="rId203" Type="http://schemas.openxmlformats.org/officeDocument/2006/relationships/slide" Target="slides/slide198.xml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Q2</c:v>
                </c:pt>
                <c:pt idx="1">
                  <c:v>Volume</c:v>
                </c:pt>
                <c:pt idx="2">
                  <c:v>Price</c:v>
                </c:pt>
                <c:pt idx="3">
                  <c:v>Mix</c:v>
                </c:pt>
                <c:pt idx="4">
                  <c:v>Promo cost</c:v>
                </c:pt>
                <c:pt idx="5">
                  <c:v>Q3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100</c:v>
                </c:pt>
                <c:pt idx="2">
                  <c:v>112</c:v>
                </c:pt>
                <c:pt idx="3">
                  <c:v>115</c:v>
                </c:pt>
                <c:pt idx="4">
                  <c:v>113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16B795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900">
                    <a:solidFill>
                      <a:srgbClr val="0E1D29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Q2</c:v>
                </c:pt>
                <c:pt idx="1">
                  <c:v>Volume</c:v>
                </c:pt>
                <c:pt idx="2">
                  <c:v>Price</c:v>
                </c:pt>
                <c:pt idx="3">
                  <c:v>Mix</c:v>
                </c:pt>
                <c:pt idx="4">
                  <c:v>Promo cost</c:v>
                </c:pt>
                <c:pt idx="5">
                  <c:v>Q3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12</c:v>
                </c:pt>
                <c:pt idx="2">
                  <c:v>6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00BBF0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900">
                    <a:solidFill>
                      <a:srgbClr val="0E1D29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Q2</c:v>
                </c:pt>
                <c:pt idx="1">
                  <c:v>Volume</c:v>
                </c:pt>
                <c:pt idx="2">
                  <c:v>Price</c:v>
                </c:pt>
                <c:pt idx="3">
                  <c:v>Mix</c:v>
                </c:pt>
                <c:pt idx="4">
                  <c:v>Promo cost</c:v>
                </c:pt>
                <c:pt idx="5">
                  <c:v>Q3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</c:v>
                </c:pt>
                <c:pt idx="4">
                  <c:v>2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5083"/>
            </a:solidFill>
          </c:spPr>
          <c:dLbls>
            <c:numFmt formatCode="#,##0;-#,##0;;" sourceLinked="0"/>
            <c:txPr>
              <a:bodyPr/>
              <a:lstStyle/>
              <a:p>
                <a:pPr>
                  <a:defRPr sz="900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Q2</c:v>
                </c:pt>
                <c:pt idx="1">
                  <c:v>Volume</c:v>
                </c:pt>
                <c:pt idx="2">
                  <c:v>Price</c:v>
                </c:pt>
                <c:pt idx="3">
                  <c:v>Mix</c:v>
                </c:pt>
                <c:pt idx="4">
                  <c:v>Promo cost</c:v>
                </c:pt>
                <c:pt idx="5">
                  <c:v>Q3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113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4C3CE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FF2F6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37465B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9.png"/><Relationship Id="rId4" Type="http://schemas.openxmlformats.org/officeDocument/2006/relationships/image" Target="../media/image3.svg"/><Relationship Id="rId5" Type="http://schemas.openxmlformats.org/officeDocument/2006/relationships/image" Target="../media/image2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E | DIVIDER - Shape Dark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A6655-CA7A-6637-8AA8-A022517F3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5118" y="1366508"/>
            <a:ext cx="4659943" cy="886397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ZA" noProof="0"/>
              <a:t>Short Divider Title is Placed over Two Lines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02B7B9E-5495-F802-4DDC-A5E107F110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220171" y="1607710"/>
            <a:ext cx="0" cy="403994"/>
          </a:xfrm>
          <a:prstGeom prst="line">
            <a:avLst/>
          </a:prstGeom>
          <a:ln w="254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0732341-4AAD-77EF-8331-ADA41F0028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717619" y="6387351"/>
            <a:ext cx="1124672" cy="162781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A784110-334E-2DE4-CCCE-522FC9177C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09950" y="1374773"/>
            <a:ext cx="2672893" cy="9144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r">
              <a:buNone/>
              <a:defRPr sz="1200" b="1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ZA" noProof="0"/>
              <a:t>SECTION #</a:t>
            </a:r>
          </a:p>
        </p:txBody>
      </p:sp>
    </p:spTree>
    <p:extLst>
      <p:ext uri="{BB962C8B-B14F-4D97-AF65-F5344CB8AC3E}">
        <p14:creationId xmlns:p14="http://schemas.microsoft.com/office/powerpoint/2010/main" val="945580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E | 3_Title Slide - ONE + Sub-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1F541EA-1442-A627-D2BE-7C37818F793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88166" y="1750770"/>
            <a:ext cx="11051375" cy="4695279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600"/>
              </a:lnSpc>
              <a:buFont typeface="Calibri" panose="020F0502020204030204" pitchFamily="34" charset="0"/>
              <a:buChar char="+"/>
              <a:defRPr sz="1100">
                <a:solidFill>
                  <a:schemeClr val="tx2">
                    <a:lumMod val="50000"/>
                  </a:schemeClr>
                </a:solidFill>
              </a:defRPr>
            </a:lvl1pPr>
            <a:lvl2pPr>
              <a:lnSpc>
                <a:spcPts val="1600"/>
              </a:lnSpc>
              <a:defRPr sz="105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166" y="532999"/>
            <a:ext cx="11051379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2400" b="1" spc="40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CLICK TO INSERT ONE LINE HEADING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cxnSp>
        <p:nvCxnSpPr>
          <p:cNvPr id="18" name="Straight Connector 15">
            <a:extLst>
              <a:ext uri="{FF2B5EF4-FFF2-40B4-BE49-F238E27FC236}">
                <a16:creationId xmlns:a16="http://schemas.microsoft.com/office/drawing/2014/main" id="{2BBC4686-AE3D-7460-6E17-80A22B3E85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88166" y="1382123"/>
            <a:ext cx="1566364" cy="0"/>
          </a:xfrm>
          <a:prstGeom prst="line">
            <a:avLst/>
          </a:prstGeom>
          <a:ln w="508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CE98A85-0F23-B4F7-9263-8293DAE7015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88166" y="1007744"/>
            <a:ext cx="11051375" cy="20518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400" spc="3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Sub-heading</a:t>
            </a:r>
          </a:p>
        </p:txBody>
      </p:sp>
    </p:spTree>
    <p:extLst>
      <p:ext uri="{BB962C8B-B14F-4D97-AF65-F5344CB8AC3E}">
        <p14:creationId xmlns:p14="http://schemas.microsoft.com/office/powerpoint/2010/main" val="9019516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01 | 10_COVER - Photo DB 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erson in a blue shirt&#10;&#10;Description automatically generated">
            <a:extLst>
              <a:ext uri="{FF2B5EF4-FFF2-40B4-BE49-F238E27FC236}">
                <a16:creationId xmlns:a16="http://schemas.microsoft.com/office/drawing/2014/main" id="{BAE8ADC2-EA44-0D00-F9EE-B52F08D86A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3AD0C36-D921-79D3-26C8-1C253B21E0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rot="5400000">
            <a:off x="3838572" y="-1495426"/>
            <a:ext cx="4514850" cy="12192001"/>
          </a:xfrm>
          <a:prstGeom prst="rect">
            <a:avLst/>
          </a:prstGeom>
          <a:gradFill flip="none" rotWithShape="1">
            <a:gsLst>
              <a:gs pos="44000">
                <a:srgbClr val="1B232E">
                  <a:alpha val="50000"/>
                </a:srgbClr>
              </a:gs>
              <a:gs pos="85000">
                <a:schemeClr val="accent5">
                  <a:lumMod val="50000"/>
                  <a:alpha val="95000"/>
                </a:schemeClr>
              </a:gs>
              <a:gs pos="0">
                <a:schemeClr val="accent5">
                  <a:lumMod val="50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28D4BF4-F55E-B756-CC17-06B3CBA6E8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95752" y="5856404"/>
            <a:ext cx="4608513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800" spc="50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200">
                <a:solidFill>
                  <a:schemeClr val="bg1"/>
                </a:solidFill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ZA" noProof="0" dirty="0"/>
              <a:t>Edit Subheading here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51FFA24-8C0D-A48B-EE2C-6AF9662B2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5752" y="4539746"/>
            <a:ext cx="7868848" cy="11079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sz="4000" spc="40" baseline="0">
                <a:solidFill>
                  <a:schemeClr val="bg1"/>
                </a:solidFill>
              </a:defRPr>
            </a:lvl1pPr>
          </a:lstStyle>
          <a:p>
            <a:r>
              <a:rPr lang="en-ZA" noProof="0" dirty="0"/>
              <a:t>Click to add Presentation Title over Two Lines or Three lines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F749D24-8EB0-3218-8B08-586B605D47A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4600" y="0"/>
            <a:ext cx="3327400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10EB20-AE66-7009-613F-08F462B0530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472142" y="6351821"/>
            <a:ext cx="1370149" cy="198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6895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03 | 6_Thank you -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88BABE-9D3D-438B-3367-C555A0A1ED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302128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D0DB626-CB34-FD26-E9BF-E8F4E299CC36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auto">
          <a:xfrm>
            <a:off x="8574296" y="-1318"/>
            <a:ext cx="3617702" cy="2182543"/>
            <a:chOff x="4539" y="-4"/>
            <a:chExt cx="3156" cy="190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65B3AE9-06A4-96BD-89E1-2D3B563BA6A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6508" y="225"/>
              <a:ext cx="1187" cy="1446"/>
            </a:xfrm>
            <a:custGeom>
              <a:avLst/>
              <a:gdLst>
                <a:gd name="T0" fmla="*/ 909 w 1187"/>
                <a:gd name="T1" fmla="*/ 0 h 1446"/>
                <a:gd name="T2" fmla="*/ 0 w 1187"/>
                <a:gd name="T3" fmla="*/ 910 h 1446"/>
                <a:gd name="T4" fmla="*/ 534 w 1187"/>
                <a:gd name="T5" fmla="*/ 910 h 1446"/>
                <a:gd name="T6" fmla="*/ 534 w 1187"/>
                <a:gd name="T7" fmla="*/ 1446 h 1446"/>
                <a:gd name="T8" fmla="*/ 1187 w 1187"/>
                <a:gd name="T9" fmla="*/ 793 h 1446"/>
                <a:gd name="T10" fmla="*/ 1187 w 1187"/>
                <a:gd name="T11" fmla="*/ 534 h 1446"/>
                <a:gd name="T12" fmla="*/ 909 w 1187"/>
                <a:gd name="T13" fmla="*/ 534 h 1446"/>
                <a:gd name="T14" fmla="*/ 909 w 1187"/>
                <a:gd name="T15" fmla="*/ 0 h 1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87" h="1446">
                  <a:moveTo>
                    <a:pt x="909" y="0"/>
                  </a:moveTo>
                  <a:lnTo>
                    <a:pt x="0" y="910"/>
                  </a:lnTo>
                  <a:lnTo>
                    <a:pt x="534" y="910"/>
                  </a:lnTo>
                  <a:lnTo>
                    <a:pt x="534" y="1446"/>
                  </a:lnTo>
                  <a:lnTo>
                    <a:pt x="1187" y="793"/>
                  </a:lnTo>
                  <a:lnTo>
                    <a:pt x="1187" y="534"/>
                  </a:lnTo>
                  <a:lnTo>
                    <a:pt x="909" y="534"/>
                  </a:lnTo>
                  <a:lnTo>
                    <a:pt x="909" y="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 dirty="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2581D95-8E88-FA7F-E8C0-2760FB722B9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6508" y="225"/>
              <a:ext cx="1187" cy="1446"/>
            </a:xfrm>
            <a:custGeom>
              <a:avLst/>
              <a:gdLst>
                <a:gd name="T0" fmla="*/ 909 w 1187"/>
                <a:gd name="T1" fmla="*/ 0 h 1446"/>
                <a:gd name="T2" fmla="*/ 0 w 1187"/>
                <a:gd name="T3" fmla="*/ 910 h 1446"/>
                <a:gd name="T4" fmla="*/ 534 w 1187"/>
                <a:gd name="T5" fmla="*/ 910 h 1446"/>
                <a:gd name="T6" fmla="*/ 534 w 1187"/>
                <a:gd name="T7" fmla="*/ 1446 h 1446"/>
                <a:gd name="T8" fmla="*/ 1187 w 1187"/>
                <a:gd name="T9" fmla="*/ 793 h 1446"/>
                <a:gd name="T10" fmla="*/ 1187 w 1187"/>
                <a:gd name="T11" fmla="*/ 534 h 1446"/>
                <a:gd name="T12" fmla="*/ 909 w 1187"/>
                <a:gd name="T13" fmla="*/ 534 h 1446"/>
                <a:gd name="T14" fmla="*/ 909 w 1187"/>
                <a:gd name="T15" fmla="*/ 0 h 1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87" h="1446">
                  <a:moveTo>
                    <a:pt x="909" y="0"/>
                  </a:moveTo>
                  <a:lnTo>
                    <a:pt x="0" y="910"/>
                  </a:lnTo>
                  <a:lnTo>
                    <a:pt x="534" y="910"/>
                  </a:lnTo>
                  <a:lnTo>
                    <a:pt x="534" y="1446"/>
                  </a:lnTo>
                  <a:lnTo>
                    <a:pt x="1187" y="793"/>
                  </a:lnTo>
                  <a:lnTo>
                    <a:pt x="1187" y="534"/>
                  </a:lnTo>
                  <a:lnTo>
                    <a:pt x="909" y="534"/>
                  </a:lnTo>
                  <a:lnTo>
                    <a:pt x="90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BD0E5ED-2ACA-93F9-E295-9855B42133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6508" y="1135"/>
              <a:ext cx="534" cy="536"/>
            </a:xfrm>
            <a:custGeom>
              <a:avLst/>
              <a:gdLst>
                <a:gd name="T0" fmla="*/ 147 w 534"/>
                <a:gd name="T1" fmla="*/ 389 h 536"/>
                <a:gd name="T2" fmla="*/ 147 w 534"/>
                <a:gd name="T3" fmla="*/ 147 h 536"/>
                <a:gd name="T4" fmla="*/ 387 w 534"/>
                <a:gd name="T5" fmla="*/ 147 h 536"/>
                <a:gd name="T6" fmla="*/ 387 w 534"/>
                <a:gd name="T7" fmla="*/ 389 h 536"/>
                <a:gd name="T8" fmla="*/ 147 w 534"/>
                <a:gd name="T9" fmla="*/ 389 h 536"/>
                <a:gd name="T10" fmla="*/ 534 w 534"/>
                <a:gd name="T11" fmla="*/ 536 h 536"/>
                <a:gd name="T12" fmla="*/ 534 w 534"/>
                <a:gd name="T13" fmla="*/ 0 h 536"/>
                <a:gd name="T14" fmla="*/ 0 w 534"/>
                <a:gd name="T15" fmla="*/ 0 h 536"/>
                <a:gd name="T16" fmla="*/ 0 w 534"/>
                <a:gd name="T17" fmla="*/ 536 h 536"/>
                <a:gd name="T18" fmla="*/ 534 w 534"/>
                <a:gd name="T19" fmla="*/ 536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4" h="536">
                  <a:moveTo>
                    <a:pt x="147" y="389"/>
                  </a:moveTo>
                  <a:lnTo>
                    <a:pt x="147" y="147"/>
                  </a:lnTo>
                  <a:lnTo>
                    <a:pt x="387" y="147"/>
                  </a:lnTo>
                  <a:lnTo>
                    <a:pt x="387" y="389"/>
                  </a:lnTo>
                  <a:lnTo>
                    <a:pt x="147" y="389"/>
                  </a:lnTo>
                  <a:close/>
                  <a:moveTo>
                    <a:pt x="534" y="536"/>
                  </a:moveTo>
                  <a:lnTo>
                    <a:pt x="534" y="0"/>
                  </a:lnTo>
                  <a:lnTo>
                    <a:pt x="0" y="0"/>
                  </a:lnTo>
                  <a:lnTo>
                    <a:pt x="0" y="536"/>
                  </a:lnTo>
                  <a:lnTo>
                    <a:pt x="534" y="536"/>
                  </a:ln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FFC95BD-3F5D-42F0-51FF-890F5313C33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7417" y="225"/>
              <a:ext cx="278" cy="534"/>
            </a:xfrm>
            <a:custGeom>
              <a:avLst/>
              <a:gdLst>
                <a:gd name="T0" fmla="*/ 0 w 278"/>
                <a:gd name="T1" fmla="*/ 534 h 534"/>
                <a:gd name="T2" fmla="*/ 278 w 278"/>
                <a:gd name="T3" fmla="*/ 534 h 534"/>
                <a:gd name="T4" fmla="*/ 278 w 278"/>
                <a:gd name="T5" fmla="*/ 387 h 534"/>
                <a:gd name="T6" fmla="*/ 147 w 278"/>
                <a:gd name="T7" fmla="*/ 387 h 534"/>
                <a:gd name="T8" fmla="*/ 147 w 278"/>
                <a:gd name="T9" fmla="*/ 147 h 534"/>
                <a:gd name="T10" fmla="*/ 278 w 278"/>
                <a:gd name="T11" fmla="*/ 147 h 534"/>
                <a:gd name="T12" fmla="*/ 278 w 278"/>
                <a:gd name="T13" fmla="*/ 0 h 534"/>
                <a:gd name="T14" fmla="*/ 0 w 278"/>
                <a:gd name="T15" fmla="*/ 0 h 534"/>
                <a:gd name="T16" fmla="*/ 0 w 278"/>
                <a:gd name="T17" fmla="*/ 534 h 5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8" h="534">
                  <a:moveTo>
                    <a:pt x="0" y="534"/>
                  </a:moveTo>
                  <a:lnTo>
                    <a:pt x="278" y="534"/>
                  </a:lnTo>
                  <a:lnTo>
                    <a:pt x="278" y="387"/>
                  </a:lnTo>
                  <a:lnTo>
                    <a:pt x="147" y="387"/>
                  </a:lnTo>
                  <a:lnTo>
                    <a:pt x="147" y="147"/>
                  </a:lnTo>
                  <a:lnTo>
                    <a:pt x="278" y="147"/>
                  </a:lnTo>
                  <a:lnTo>
                    <a:pt x="278" y="0"/>
                  </a:lnTo>
                  <a:lnTo>
                    <a:pt x="0" y="0"/>
                  </a:lnTo>
                  <a:lnTo>
                    <a:pt x="0" y="534"/>
                  </a:lnTo>
                  <a:close/>
                </a:path>
              </a:pathLst>
            </a:custGeom>
            <a:solidFill>
              <a:srgbClr val="1DBC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CFD39D1-B771-DD02-62D2-ABAB9582AC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4539" y="453"/>
              <a:ext cx="1445" cy="1447"/>
            </a:xfrm>
            <a:custGeom>
              <a:avLst/>
              <a:gdLst>
                <a:gd name="T0" fmla="*/ 1253 w 1445"/>
                <a:gd name="T1" fmla="*/ 0 h 1447"/>
                <a:gd name="T2" fmla="*/ 1106 w 1445"/>
                <a:gd name="T3" fmla="*/ 0 h 1447"/>
                <a:gd name="T4" fmla="*/ 0 w 1445"/>
                <a:gd name="T5" fmla="*/ 1105 h 1447"/>
                <a:gd name="T6" fmla="*/ 0 w 1445"/>
                <a:gd name="T7" fmla="*/ 1252 h 1447"/>
                <a:gd name="T8" fmla="*/ 195 w 1445"/>
                <a:gd name="T9" fmla="*/ 1252 h 1447"/>
                <a:gd name="T10" fmla="*/ 195 w 1445"/>
                <a:gd name="T11" fmla="*/ 1447 h 1447"/>
                <a:gd name="T12" fmla="*/ 341 w 1445"/>
                <a:gd name="T13" fmla="*/ 1447 h 1447"/>
                <a:gd name="T14" fmla="*/ 1445 w 1445"/>
                <a:gd name="T15" fmla="*/ 340 h 1447"/>
                <a:gd name="T16" fmla="*/ 1445 w 1445"/>
                <a:gd name="T17" fmla="*/ 193 h 1447"/>
                <a:gd name="T18" fmla="*/ 1253 w 1445"/>
                <a:gd name="T19" fmla="*/ 193 h 1447"/>
                <a:gd name="T20" fmla="*/ 1253 w 1445"/>
                <a:gd name="T21" fmla="*/ 0 h 1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45" h="1447">
                  <a:moveTo>
                    <a:pt x="1253" y="0"/>
                  </a:moveTo>
                  <a:lnTo>
                    <a:pt x="1106" y="0"/>
                  </a:lnTo>
                  <a:lnTo>
                    <a:pt x="0" y="1105"/>
                  </a:lnTo>
                  <a:lnTo>
                    <a:pt x="0" y="1252"/>
                  </a:lnTo>
                  <a:lnTo>
                    <a:pt x="195" y="1252"/>
                  </a:lnTo>
                  <a:lnTo>
                    <a:pt x="195" y="1447"/>
                  </a:lnTo>
                  <a:lnTo>
                    <a:pt x="341" y="1447"/>
                  </a:lnTo>
                  <a:lnTo>
                    <a:pt x="1445" y="340"/>
                  </a:lnTo>
                  <a:lnTo>
                    <a:pt x="1445" y="193"/>
                  </a:lnTo>
                  <a:lnTo>
                    <a:pt x="1253" y="193"/>
                  </a:lnTo>
                  <a:lnTo>
                    <a:pt x="1253" y="0"/>
                  </a:lnTo>
                  <a:close/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A06B4B2-A022-23CF-1D71-3DF65EDB4CF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4539" y="453"/>
              <a:ext cx="1445" cy="1447"/>
            </a:xfrm>
            <a:custGeom>
              <a:avLst/>
              <a:gdLst>
                <a:gd name="T0" fmla="*/ 1253 w 1445"/>
                <a:gd name="T1" fmla="*/ 0 h 1447"/>
                <a:gd name="T2" fmla="*/ 1106 w 1445"/>
                <a:gd name="T3" fmla="*/ 0 h 1447"/>
                <a:gd name="T4" fmla="*/ 0 w 1445"/>
                <a:gd name="T5" fmla="*/ 1105 h 1447"/>
                <a:gd name="T6" fmla="*/ 0 w 1445"/>
                <a:gd name="T7" fmla="*/ 1252 h 1447"/>
                <a:gd name="T8" fmla="*/ 195 w 1445"/>
                <a:gd name="T9" fmla="*/ 1252 h 1447"/>
                <a:gd name="T10" fmla="*/ 195 w 1445"/>
                <a:gd name="T11" fmla="*/ 1447 h 1447"/>
                <a:gd name="T12" fmla="*/ 341 w 1445"/>
                <a:gd name="T13" fmla="*/ 1447 h 1447"/>
                <a:gd name="T14" fmla="*/ 1445 w 1445"/>
                <a:gd name="T15" fmla="*/ 340 h 1447"/>
                <a:gd name="T16" fmla="*/ 1445 w 1445"/>
                <a:gd name="T17" fmla="*/ 193 h 1447"/>
                <a:gd name="T18" fmla="*/ 1253 w 1445"/>
                <a:gd name="T19" fmla="*/ 193 h 1447"/>
                <a:gd name="T20" fmla="*/ 1253 w 1445"/>
                <a:gd name="T21" fmla="*/ 0 h 1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45" h="1447">
                  <a:moveTo>
                    <a:pt x="1253" y="0"/>
                  </a:moveTo>
                  <a:lnTo>
                    <a:pt x="1106" y="0"/>
                  </a:lnTo>
                  <a:lnTo>
                    <a:pt x="0" y="1105"/>
                  </a:lnTo>
                  <a:lnTo>
                    <a:pt x="0" y="1252"/>
                  </a:lnTo>
                  <a:lnTo>
                    <a:pt x="195" y="1252"/>
                  </a:lnTo>
                  <a:lnTo>
                    <a:pt x="195" y="1447"/>
                  </a:lnTo>
                  <a:lnTo>
                    <a:pt x="341" y="1447"/>
                  </a:lnTo>
                  <a:lnTo>
                    <a:pt x="1445" y="340"/>
                  </a:lnTo>
                  <a:lnTo>
                    <a:pt x="1445" y="193"/>
                  </a:lnTo>
                  <a:lnTo>
                    <a:pt x="1253" y="193"/>
                  </a:lnTo>
                  <a:lnTo>
                    <a:pt x="1253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E5D4B90A-CCEF-B554-C21E-0406514CD4C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4539" y="1363"/>
              <a:ext cx="536" cy="537"/>
            </a:xfrm>
            <a:custGeom>
              <a:avLst/>
              <a:gdLst>
                <a:gd name="T0" fmla="*/ 195 w 536"/>
                <a:gd name="T1" fmla="*/ 537 h 537"/>
                <a:gd name="T2" fmla="*/ 195 w 536"/>
                <a:gd name="T3" fmla="*/ 342 h 537"/>
                <a:gd name="T4" fmla="*/ 0 w 536"/>
                <a:gd name="T5" fmla="*/ 342 h 537"/>
                <a:gd name="T6" fmla="*/ 0 w 536"/>
                <a:gd name="T7" fmla="*/ 195 h 537"/>
                <a:gd name="T8" fmla="*/ 195 w 536"/>
                <a:gd name="T9" fmla="*/ 195 h 537"/>
                <a:gd name="T10" fmla="*/ 195 w 536"/>
                <a:gd name="T11" fmla="*/ 0 h 537"/>
                <a:gd name="T12" fmla="*/ 341 w 536"/>
                <a:gd name="T13" fmla="*/ 0 h 537"/>
                <a:gd name="T14" fmla="*/ 341 w 536"/>
                <a:gd name="T15" fmla="*/ 195 h 537"/>
                <a:gd name="T16" fmla="*/ 536 w 536"/>
                <a:gd name="T17" fmla="*/ 195 h 537"/>
                <a:gd name="T18" fmla="*/ 536 w 536"/>
                <a:gd name="T19" fmla="*/ 342 h 537"/>
                <a:gd name="T20" fmla="*/ 341 w 536"/>
                <a:gd name="T21" fmla="*/ 342 h 537"/>
                <a:gd name="T22" fmla="*/ 341 w 536"/>
                <a:gd name="T23" fmla="*/ 537 h 537"/>
                <a:gd name="T24" fmla="*/ 195 w 536"/>
                <a:gd name="T25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6" h="537">
                  <a:moveTo>
                    <a:pt x="195" y="537"/>
                  </a:moveTo>
                  <a:lnTo>
                    <a:pt x="195" y="342"/>
                  </a:lnTo>
                  <a:lnTo>
                    <a:pt x="0" y="342"/>
                  </a:lnTo>
                  <a:lnTo>
                    <a:pt x="0" y="195"/>
                  </a:lnTo>
                  <a:lnTo>
                    <a:pt x="195" y="195"/>
                  </a:lnTo>
                  <a:lnTo>
                    <a:pt x="195" y="0"/>
                  </a:lnTo>
                  <a:lnTo>
                    <a:pt x="341" y="0"/>
                  </a:lnTo>
                  <a:lnTo>
                    <a:pt x="341" y="195"/>
                  </a:lnTo>
                  <a:lnTo>
                    <a:pt x="536" y="195"/>
                  </a:lnTo>
                  <a:lnTo>
                    <a:pt x="536" y="342"/>
                  </a:lnTo>
                  <a:lnTo>
                    <a:pt x="341" y="342"/>
                  </a:lnTo>
                  <a:lnTo>
                    <a:pt x="341" y="537"/>
                  </a:lnTo>
                  <a:lnTo>
                    <a:pt x="195" y="537"/>
                  </a:lnTo>
                  <a:close/>
                </a:path>
              </a:pathLst>
            </a:custGeom>
            <a:solidFill>
              <a:srgbClr val="0D79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FF270865-D600-F266-19C7-67630AFF755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5450" y="453"/>
              <a:ext cx="534" cy="535"/>
            </a:xfrm>
            <a:custGeom>
              <a:avLst/>
              <a:gdLst>
                <a:gd name="T0" fmla="*/ 195 w 534"/>
                <a:gd name="T1" fmla="*/ 535 h 535"/>
                <a:gd name="T2" fmla="*/ 195 w 534"/>
                <a:gd name="T3" fmla="*/ 340 h 535"/>
                <a:gd name="T4" fmla="*/ 0 w 534"/>
                <a:gd name="T5" fmla="*/ 340 h 535"/>
                <a:gd name="T6" fmla="*/ 0 w 534"/>
                <a:gd name="T7" fmla="*/ 193 h 535"/>
                <a:gd name="T8" fmla="*/ 195 w 534"/>
                <a:gd name="T9" fmla="*/ 193 h 535"/>
                <a:gd name="T10" fmla="*/ 195 w 534"/>
                <a:gd name="T11" fmla="*/ 0 h 535"/>
                <a:gd name="T12" fmla="*/ 342 w 534"/>
                <a:gd name="T13" fmla="*/ 0 h 535"/>
                <a:gd name="T14" fmla="*/ 342 w 534"/>
                <a:gd name="T15" fmla="*/ 193 h 535"/>
                <a:gd name="T16" fmla="*/ 534 w 534"/>
                <a:gd name="T17" fmla="*/ 193 h 535"/>
                <a:gd name="T18" fmla="*/ 534 w 534"/>
                <a:gd name="T19" fmla="*/ 340 h 535"/>
                <a:gd name="T20" fmla="*/ 342 w 534"/>
                <a:gd name="T21" fmla="*/ 340 h 535"/>
                <a:gd name="T22" fmla="*/ 342 w 534"/>
                <a:gd name="T23" fmla="*/ 535 h 535"/>
                <a:gd name="T24" fmla="*/ 195 w 534"/>
                <a:gd name="T25" fmla="*/ 535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34" h="535">
                  <a:moveTo>
                    <a:pt x="195" y="535"/>
                  </a:moveTo>
                  <a:lnTo>
                    <a:pt x="195" y="340"/>
                  </a:lnTo>
                  <a:lnTo>
                    <a:pt x="0" y="340"/>
                  </a:lnTo>
                  <a:lnTo>
                    <a:pt x="0" y="193"/>
                  </a:lnTo>
                  <a:lnTo>
                    <a:pt x="195" y="193"/>
                  </a:lnTo>
                  <a:lnTo>
                    <a:pt x="195" y="0"/>
                  </a:lnTo>
                  <a:lnTo>
                    <a:pt x="342" y="0"/>
                  </a:lnTo>
                  <a:lnTo>
                    <a:pt x="342" y="193"/>
                  </a:lnTo>
                  <a:lnTo>
                    <a:pt x="534" y="193"/>
                  </a:lnTo>
                  <a:lnTo>
                    <a:pt x="534" y="340"/>
                  </a:lnTo>
                  <a:lnTo>
                    <a:pt x="342" y="340"/>
                  </a:lnTo>
                  <a:lnTo>
                    <a:pt x="342" y="535"/>
                  </a:lnTo>
                  <a:lnTo>
                    <a:pt x="195" y="535"/>
                  </a:lnTo>
                  <a:close/>
                </a:path>
              </a:pathLst>
            </a:custGeom>
            <a:solidFill>
              <a:srgbClr val="087C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DFC0F008-1A7D-9601-F848-F0008142AD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5905" y="-4"/>
              <a:ext cx="1151" cy="781"/>
            </a:xfrm>
            <a:custGeom>
              <a:avLst/>
              <a:gdLst>
                <a:gd name="T0" fmla="*/ 381 w 580"/>
                <a:gd name="T1" fmla="*/ 0 h 393"/>
                <a:gd name="T2" fmla="*/ 0 w 580"/>
                <a:gd name="T3" fmla="*/ 0 h 393"/>
                <a:gd name="T4" fmla="*/ 392 w 580"/>
                <a:gd name="T5" fmla="*/ 393 h 393"/>
                <a:gd name="T6" fmla="*/ 390 w 580"/>
                <a:gd name="T7" fmla="*/ 390 h 393"/>
                <a:gd name="T8" fmla="*/ 382 w 580"/>
                <a:gd name="T9" fmla="*/ 380 h 393"/>
                <a:gd name="T10" fmla="*/ 378 w 580"/>
                <a:gd name="T11" fmla="*/ 375 h 393"/>
                <a:gd name="T12" fmla="*/ 376 w 580"/>
                <a:gd name="T13" fmla="*/ 372 h 393"/>
                <a:gd name="T14" fmla="*/ 374 w 580"/>
                <a:gd name="T15" fmla="*/ 369 h 393"/>
                <a:gd name="T16" fmla="*/ 373 w 580"/>
                <a:gd name="T17" fmla="*/ 367 h 393"/>
                <a:gd name="T18" fmla="*/ 371 w 580"/>
                <a:gd name="T19" fmla="*/ 364 h 393"/>
                <a:gd name="T20" fmla="*/ 370 w 580"/>
                <a:gd name="T21" fmla="*/ 361 h 393"/>
                <a:gd name="T22" fmla="*/ 368 w 580"/>
                <a:gd name="T23" fmla="*/ 358 h 393"/>
                <a:gd name="T24" fmla="*/ 367 w 580"/>
                <a:gd name="T25" fmla="*/ 355 h 393"/>
                <a:gd name="T26" fmla="*/ 366 w 580"/>
                <a:gd name="T27" fmla="*/ 352 h 393"/>
                <a:gd name="T28" fmla="*/ 363 w 580"/>
                <a:gd name="T29" fmla="*/ 346 h 393"/>
                <a:gd name="T30" fmla="*/ 362 w 580"/>
                <a:gd name="T31" fmla="*/ 343 h 393"/>
                <a:gd name="T32" fmla="*/ 361 w 580"/>
                <a:gd name="T33" fmla="*/ 338 h 393"/>
                <a:gd name="T34" fmla="*/ 359 w 580"/>
                <a:gd name="T35" fmla="*/ 333 h 393"/>
                <a:gd name="T36" fmla="*/ 359 w 580"/>
                <a:gd name="T37" fmla="*/ 330 h 393"/>
                <a:gd name="T38" fmla="*/ 358 w 580"/>
                <a:gd name="T39" fmla="*/ 327 h 393"/>
                <a:gd name="T40" fmla="*/ 358 w 580"/>
                <a:gd name="T41" fmla="*/ 326 h 393"/>
                <a:gd name="T42" fmla="*/ 357 w 580"/>
                <a:gd name="T43" fmla="*/ 320 h 393"/>
                <a:gd name="T44" fmla="*/ 356 w 580"/>
                <a:gd name="T45" fmla="*/ 317 h 393"/>
                <a:gd name="T46" fmla="*/ 356 w 580"/>
                <a:gd name="T47" fmla="*/ 316 h 393"/>
                <a:gd name="T48" fmla="*/ 355 w 580"/>
                <a:gd name="T49" fmla="*/ 300 h 393"/>
                <a:gd name="T50" fmla="*/ 367 w 580"/>
                <a:gd name="T51" fmla="*/ 244 h 393"/>
                <a:gd name="T52" fmla="*/ 370 w 580"/>
                <a:gd name="T53" fmla="*/ 238 h 393"/>
                <a:gd name="T54" fmla="*/ 371 w 580"/>
                <a:gd name="T55" fmla="*/ 235 h 393"/>
                <a:gd name="T56" fmla="*/ 375 w 580"/>
                <a:gd name="T57" fmla="*/ 230 h 393"/>
                <a:gd name="T58" fmla="*/ 376 w 580"/>
                <a:gd name="T59" fmla="*/ 227 h 393"/>
                <a:gd name="T60" fmla="*/ 380 w 580"/>
                <a:gd name="T61" fmla="*/ 222 h 393"/>
                <a:gd name="T62" fmla="*/ 384 w 580"/>
                <a:gd name="T63" fmla="*/ 216 h 393"/>
                <a:gd name="T64" fmla="*/ 388 w 580"/>
                <a:gd name="T65" fmla="*/ 211 h 393"/>
                <a:gd name="T66" fmla="*/ 395 w 580"/>
                <a:gd name="T67" fmla="*/ 204 h 393"/>
                <a:gd name="T68" fmla="*/ 490 w 580"/>
                <a:gd name="T69" fmla="*/ 165 h 393"/>
                <a:gd name="T70" fmla="*/ 490 w 580"/>
                <a:gd name="T71" fmla="*/ 165 h 393"/>
                <a:gd name="T72" fmla="*/ 496 w 580"/>
                <a:gd name="T73" fmla="*/ 165 h 393"/>
                <a:gd name="T74" fmla="*/ 502 w 580"/>
                <a:gd name="T75" fmla="*/ 165 h 393"/>
                <a:gd name="T76" fmla="*/ 503 w 580"/>
                <a:gd name="T77" fmla="*/ 166 h 393"/>
                <a:gd name="T78" fmla="*/ 508 w 580"/>
                <a:gd name="T79" fmla="*/ 166 h 393"/>
                <a:gd name="T80" fmla="*/ 515 w 580"/>
                <a:gd name="T81" fmla="*/ 167 h 393"/>
                <a:gd name="T82" fmla="*/ 520 w 580"/>
                <a:gd name="T83" fmla="*/ 168 h 393"/>
                <a:gd name="T84" fmla="*/ 520 w 580"/>
                <a:gd name="T85" fmla="*/ 168 h 393"/>
                <a:gd name="T86" fmla="*/ 523 w 580"/>
                <a:gd name="T87" fmla="*/ 169 h 393"/>
                <a:gd name="T88" fmla="*/ 527 w 580"/>
                <a:gd name="T89" fmla="*/ 170 h 393"/>
                <a:gd name="T90" fmla="*/ 529 w 580"/>
                <a:gd name="T91" fmla="*/ 171 h 393"/>
                <a:gd name="T92" fmla="*/ 531 w 580"/>
                <a:gd name="T93" fmla="*/ 171 h 393"/>
                <a:gd name="T94" fmla="*/ 536 w 580"/>
                <a:gd name="T95" fmla="*/ 173 h 393"/>
                <a:gd name="T96" fmla="*/ 536 w 580"/>
                <a:gd name="T97" fmla="*/ 173 h 393"/>
                <a:gd name="T98" fmla="*/ 542 w 580"/>
                <a:gd name="T99" fmla="*/ 175 h 393"/>
                <a:gd name="T100" fmla="*/ 545 w 580"/>
                <a:gd name="T101" fmla="*/ 177 h 393"/>
                <a:gd name="T102" fmla="*/ 551 w 580"/>
                <a:gd name="T103" fmla="*/ 180 h 393"/>
                <a:gd name="T104" fmla="*/ 555 w 580"/>
                <a:gd name="T105" fmla="*/ 182 h 393"/>
                <a:gd name="T106" fmla="*/ 561 w 580"/>
                <a:gd name="T107" fmla="*/ 185 h 393"/>
                <a:gd name="T108" fmla="*/ 565 w 580"/>
                <a:gd name="T109" fmla="*/ 188 h 393"/>
                <a:gd name="T110" fmla="*/ 566 w 580"/>
                <a:gd name="T111" fmla="*/ 188 h 393"/>
                <a:gd name="T112" fmla="*/ 570 w 580"/>
                <a:gd name="T113" fmla="*/ 192 h 393"/>
                <a:gd name="T114" fmla="*/ 571 w 580"/>
                <a:gd name="T115" fmla="*/ 192 h 393"/>
                <a:gd name="T116" fmla="*/ 575 w 580"/>
                <a:gd name="T117" fmla="*/ 196 h 393"/>
                <a:gd name="T118" fmla="*/ 579 w 580"/>
                <a:gd name="T119" fmla="*/ 199 h 393"/>
                <a:gd name="T120" fmla="*/ 580 w 580"/>
                <a:gd name="T121" fmla="*/ 200 h 393"/>
                <a:gd name="T122" fmla="*/ 580 w 580"/>
                <a:gd name="T123" fmla="*/ 200 h 393"/>
                <a:gd name="T124" fmla="*/ 381 w 580"/>
                <a:gd name="T125" fmla="*/ 0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580" h="393">
                  <a:moveTo>
                    <a:pt x="38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92" y="393"/>
                    <a:pt x="392" y="393"/>
                    <a:pt x="392" y="393"/>
                  </a:cubicBezTo>
                  <a:cubicBezTo>
                    <a:pt x="391" y="392"/>
                    <a:pt x="391" y="391"/>
                    <a:pt x="390" y="390"/>
                  </a:cubicBezTo>
                  <a:cubicBezTo>
                    <a:pt x="387" y="387"/>
                    <a:pt x="384" y="383"/>
                    <a:pt x="382" y="380"/>
                  </a:cubicBezTo>
                  <a:cubicBezTo>
                    <a:pt x="380" y="378"/>
                    <a:pt x="379" y="377"/>
                    <a:pt x="378" y="375"/>
                  </a:cubicBezTo>
                  <a:cubicBezTo>
                    <a:pt x="377" y="374"/>
                    <a:pt x="377" y="373"/>
                    <a:pt x="376" y="372"/>
                  </a:cubicBezTo>
                  <a:cubicBezTo>
                    <a:pt x="376" y="371"/>
                    <a:pt x="375" y="370"/>
                    <a:pt x="374" y="369"/>
                  </a:cubicBezTo>
                  <a:cubicBezTo>
                    <a:pt x="374" y="368"/>
                    <a:pt x="373" y="367"/>
                    <a:pt x="373" y="367"/>
                  </a:cubicBezTo>
                  <a:cubicBezTo>
                    <a:pt x="372" y="366"/>
                    <a:pt x="372" y="365"/>
                    <a:pt x="371" y="364"/>
                  </a:cubicBezTo>
                  <a:cubicBezTo>
                    <a:pt x="371" y="363"/>
                    <a:pt x="370" y="362"/>
                    <a:pt x="370" y="361"/>
                  </a:cubicBezTo>
                  <a:cubicBezTo>
                    <a:pt x="369" y="360"/>
                    <a:pt x="369" y="359"/>
                    <a:pt x="368" y="358"/>
                  </a:cubicBezTo>
                  <a:cubicBezTo>
                    <a:pt x="368" y="357"/>
                    <a:pt x="367" y="356"/>
                    <a:pt x="367" y="355"/>
                  </a:cubicBezTo>
                  <a:cubicBezTo>
                    <a:pt x="367" y="354"/>
                    <a:pt x="366" y="353"/>
                    <a:pt x="366" y="352"/>
                  </a:cubicBezTo>
                  <a:cubicBezTo>
                    <a:pt x="365" y="350"/>
                    <a:pt x="364" y="348"/>
                    <a:pt x="363" y="346"/>
                  </a:cubicBezTo>
                  <a:cubicBezTo>
                    <a:pt x="363" y="345"/>
                    <a:pt x="362" y="344"/>
                    <a:pt x="362" y="343"/>
                  </a:cubicBezTo>
                  <a:cubicBezTo>
                    <a:pt x="362" y="341"/>
                    <a:pt x="361" y="340"/>
                    <a:pt x="361" y="338"/>
                  </a:cubicBezTo>
                  <a:cubicBezTo>
                    <a:pt x="360" y="337"/>
                    <a:pt x="360" y="335"/>
                    <a:pt x="359" y="333"/>
                  </a:cubicBezTo>
                  <a:cubicBezTo>
                    <a:pt x="359" y="332"/>
                    <a:pt x="359" y="331"/>
                    <a:pt x="359" y="330"/>
                  </a:cubicBezTo>
                  <a:cubicBezTo>
                    <a:pt x="358" y="329"/>
                    <a:pt x="358" y="328"/>
                    <a:pt x="358" y="327"/>
                  </a:cubicBezTo>
                  <a:cubicBezTo>
                    <a:pt x="358" y="327"/>
                    <a:pt x="358" y="326"/>
                    <a:pt x="358" y="326"/>
                  </a:cubicBezTo>
                  <a:cubicBezTo>
                    <a:pt x="357" y="324"/>
                    <a:pt x="357" y="322"/>
                    <a:pt x="357" y="320"/>
                  </a:cubicBezTo>
                  <a:cubicBezTo>
                    <a:pt x="356" y="319"/>
                    <a:pt x="356" y="318"/>
                    <a:pt x="356" y="317"/>
                  </a:cubicBezTo>
                  <a:cubicBezTo>
                    <a:pt x="356" y="316"/>
                    <a:pt x="356" y="316"/>
                    <a:pt x="356" y="316"/>
                  </a:cubicBezTo>
                  <a:cubicBezTo>
                    <a:pt x="355" y="311"/>
                    <a:pt x="355" y="305"/>
                    <a:pt x="355" y="300"/>
                  </a:cubicBezTo>
                  <a:cubicBezTo>
                    <a:pt x="355" y="280"/>
                    <a:pt x="359" y="261"/>
                    <a:pt x="367" y="244"/>
                  </a:cubicBezTo>
                  <a:cubicBezTo>
                    <a:pt x="368" y="242"/>
                    <a:pt x="369" y="240"/>
                    <a:pt x="370" y="238"/>
                  </a:cubicBezTo>
                  <a:cubicBezTo>
                    <a:pt x="370" y="237"/>
                    <a:pt x="371" y="236"/>
                    <a:pt x="371" y="235"/>
                  </a:cubicBezTo>
                  <a:cubicBezTo>
                    <a:pt x="372" y="233"/>
                    <a:pt x="373" y="232"/>
                    <a:pt x="375" y="230"/>
                  </a:cubicBezTo>
                  <a:cubicBezTo>
                    <a:pt x="375" y="229"/>
                    <a:pt x="376" y="228"/>
                    <a:pt x="376" y="227"/>
                  </a:cubicBezTo>
                  <a:cubicBezTo>
                    <a:pt x="377" y="225"/>
                    <a:pt x="379" y="223"/>
                    <a:pt x="380" y="222"/>
                  </a:cubicBezTo>
                  <a:cubicBezTo>
                    <a:pt x="381" y="220"/>
                    <a:pt x="382" y="218"/>
                    <a:pt x="384" y="216"/>
                  </a:cubicBezTo>
                  <a:cubicBezTo>
                    <a:pt x="385" y="215"/>
                    <a:pt x="386" y="213"/>
                    <a:pt x="388" y="211"/>
                  </a:cubicBezTo>
                  <a:cubicBezTo>
                    <a:pt x="390" y="209"/>
                    <a:pt x="392" y="207"/>
                    <a:pt x="395" y="204"/>
                  </a:cubicBezTo>
                  <a:cubicBezTo>
                    <a:pt x="419" y="180"/>
                    <a:pt x="453" y="165"/>
                    <a:pt x="490" y="165"/>
                  </a:cubicBezTo>
                  <a:cubicBezTo>
                    <a:pt x="490" y="165"/>
                    <a:pt x="490" y="165"/>
                    <a:pt x="490" y="165"/>
                  </a:cubicBezTo>
                  <a:cubicBezTo>
                    <a:pt x="492" y="165"/>
                    <a:pt x="494" y="165"/>
                    <a:pt x="496" y="165"/>
                  </a:cubicBezTo>
                  <a:cubicBezTo>
                    <a:pt x="498" y="165"/>
                    <a:pt x="500" y="165"/>
                    <a:pt x="502" y="165"/>
                  </a:cubicBezTo>
                  <a:cubicBezTo>
                    <a:pt x="502" y="165"/>
                    <a:pt x="503" y="166"/>
                    <a:pt x="503" y="166"/>
                  </a:cubicBezTo>
                  <a:cubicBezTo>
                    <a:pt x="505" y="166"/>
                    <a:pt x="507" y="166"/>
                    <a:pt x="508" y="166"/>
                  </a:cubicBezTo>
                  <a:cubicBezTo>
                    <a:pt x="511" y="166"/>
                    <a:pt x="513" y="167"/>
                    <a:pt x="515" y="167"/>
                  </a:cubicBezTo>
                  <a:cubicBezTo>
                    <a:pt x="517" y="168"/>
                    <a:pt x="519" y="168"/>
                    <a:pt x="520" y="168"/>
                  </a:cubicBezTo>
                  <a:cubicBezTo>
                    <a:pt x="520" y="168"/>
                    <a:pt x="520" y="168"/>
                    <a:pt x="520" y="168"/>
                  </a:cubicBezTo>
                  <a:cubicBezTo>
                    <a:pt x="521" y="169"/>
                    <a:pt x="522" y="169"/>
                    <a:pt x="523" y="169"/>
                  </a:cubicBezTo>
                  <a:cubicBezTo>
                    <a:pt x="524" y="169"/>
                    <a:pt x="525" y="170"/>
                    <a:pt x="527" y="170"/>
                  </a:cubicBezTo>
                  <a:cubicBezTo>
                    <a:pt x="527" y="170"/>
                    <a:pt x="528" y="170"/>
                    <a:pt x="529" y="171"/>
                  </a:cubicBezTo>
                  <a:cubicBezTo>
                    <a:pt x="530" y="171"/>
                    <a:pt x="530" y="171"/>
                    <a:pt x="531" y="171"/>
                  </a:cubicBezTo>
                  <a:cubicBezTo>
                    <a:pt x="533" y="172"/>
                    <a:pt x="534" y="172"/>
                    <a:pt x="536" y="173"/>
                  </a:cubicBezTo>
                  <a:cubicBezTo>
                    <a:pt x="536" y="173"/>
                    <a:pt x="536" y="173"/>
                    <a:pt x="536" y="173"/>
                  </a:cubicBezTo>
                  <a:cubicBezTo>
                    <a:pt x="538" y="174"/>
                    <a:pt x="540" y="175"/>
                    <a:pt x="542" y="175"/>
                  </a:cubicBezTo>
                  <a:cubicBezTo>
                    <a:pt x="543" y="176"/>
                    <a:pt x="544" y="176"/>
                    <a:pt x="545" y="177"/>
                  </a:cubicBezTo>
                  <a:cubicBezTo>
                    <a:pt x="547" y="178"/>
                    <a:pt x="549" y="179"/>
                    <a:pt x="551" y="180"/>
                  </a:cubicBezTo>
                  <a:cubicBezTo>
                    <a:pt x="552" y="180"/>
                    <a:pt x="554" y="181"/>
                    <a:pt x="555" y="182"/>
                  </a:cubicBezTo>
                  <a:cubicBezTo>
                    <a:pt x="557" y="183"/>
                    <a:pt x="559" y="184"/>
                    <a:pt x="561" y="185"/>
                  </a:cubicBezTo>
                  <a:cubicBezTo>
                    <a:pt x="563" y="186"/>
                    <a:pt x="564" y="187"/>
                    <a:pt x="565" y="188"/>
                  </a:cubicBezTo>
                  <a:cubicBezTo>
                    <a:pt x="566" y="188"/>
                    <a:pt x="566" y="188"/>
                    <a:pt x="566" y="188"/>
                  </a:cubicBezTo>
                  <a:cubicBezTo>
                    <a:pt x="567" y="189"/>
                    <a:pt x="569" y="191"/>
                    <a:pt x="570" y="192"/>
                  </a:cubicBezTo>
                  <a:cubicBezTo>
                    <a:pt x="571" y="192"/>
                    <a:pt x="571" y="192"/>
                    <a:pt x="571" y="192"/>
                  </a:cubicBezTo>
                  <a:cubicBezTo>
                    <a:pt x="572" y="193"/>
                    <a:pt x="574" y="194"/>
                    <a:pt x="575" y="196"/>
                  </a:cubicBezTo>
                  <a:cubicBezTo>
                    <a:pt x="577" y="197"/>
                    <a:pt x="578" y="198"/>
                    <a:pt x="579" y="199"/>
                  </a:cubicBezTo>
                  <a:cubicBezTo>
                    <a:pt x="580" y="200"/>
                    <a:pt x="580" y="200"/>
                    <a:pt x="580" y="200"/>
                  </a:cubicBezTo>
                  <a:cubicBezTo>
                    <a:pt x="580" y="200"/>
                    <a:pt x="580" y="200"/>
                    <a:pt x="580" y="200"/>
                  </a:cubicBezTo>
                  <a:cubicBezTo>
                    <a:pt x="381" y="0"/>
                    <a:pt x="381" y="0"/>
                    <a:pt x="381" y="0"/>
                  </a:cubicBezTo>
                </a:path>
              </a:pathLst>
            </a:custGeom>
            <a:solidFill>
              <a:schemeClr val="accent1">
                <a:alpha val="2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26A82AF1-0EF3-FA8F-B7CD-475D35AF99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auto">
            <a:xfrm>
              <a:off x="6609" y="324"/>
              <a:ext cx="534" cy="535"/>
            </a:xfrm>
            <a:custGeom>
              <a:avLst/>
              <a:gdLst>
                <a:gd name="T0" fmla="*/ 33 w 269"/>
                <a:gd name="T1" fmla="*/ 46 h 269"/>
                <a:gd name="T2" fmla="*/ 25 w 269"/>
                <a:gd name="T3" fmla="*/ 57 h 269"/>
                <a:gd name="T4" fmla="*/ 20 w 269"/>
                <a:gd name="T5" fmla="*/ 65 h 269"/>
                <a:gd name="T6" fmla="*/ 15 w 269"/>
                <a:gd name="T7" fmla="*/ 73 h 269"/>
                <a:gd name="T8" fmla="*/ 11 w 269"/>
                <a:gd name="T9" fmla="*/ 82 h 269"/>
                <a:gd name="T10" fmla="*/ 8 w 269"/>
                <a:gd name="T11" fmla="*/ 90 h 269"/>
                <a:gd name="T12" fmla="*/ 5 w 269"/>
                <a:gd name="T13" fmla="*/ 97 h 269"/>
                <a:gd name="T14" fmla="*/ 3 w 269"/>
                <a:gd name="T15" fmla="*/ 106 h 269"/>
                <a:gd name="T16" fmla="*/ 1 w 269"/>
                <a:gd name="T17" fmla="*/ 120 h 269"/>
                <a:gd name="T18" fmla="*/ 0 w 269"/>
                <a:gd name="T19" fmla="*/ 143 h 269"/>
                <a:gd name="T20" fmla="*/ 1 w 269"/>
                <a:gd name="T21" fmla="*/ 152 h 269"/>
                <a:gd name="T22" fmla="*/ 3 w 269"/>
                <a:gd name="T23" fmla="*/ 161 h 269"/>
                <a:gd name="T24" fmla="*/ 4 w 269"/>
                <a:gd name="T25" fmla="*/ 165 h 269"/>
                <a:gd name="T26" fmla="*/ 6 w 269"/>
                <a:gd name="T27" fmla="*/ 173 h 269"/>
                <a:gd name="T28" fmla="*/ 8 w 269"/>
                <a:gd name="T29" fmla="*/ 181 h 269"/>
                <a:gd name="T30" fmla="*/ 12 w 269"/>
                <a:gd name="T31" fmla="*/ 190 h 269"/>
                <a:gd name="T32" fmla="*/ 15 w 269"/>
                <a:gd name="T33" fmla="*/ 196 h 269"/>
                <a:gd name="T34" fmla="*/ 18 w 269"/>
                <a:gd name="T35" fmla="*/ 202 h 269"/>
                <a:gd name="T36" fmla="*/ 21 w 269"/>
                <a:gd name="T37" fmla="*/ 207 h 269"/>
                <a:gd name="T38" fmla="*/ 27 w 269"/>
                <a:gd name="T39" fmla="*/ 215 h 269"/>
                <a:gd name="T40" fmla="*/ 135 w 269"/>
                <a:gd name="T41" fmla="*/ 269 h 269"/>
                <a:gd name="T42" fmla="*/ 225 w 269"/>
                <a:gd name="T43" fmla="*/ 35 h 269"/>
                <a:gd name="T44" fmla="*/ 224 w 269"/>
                <a:gd name="T45" fmla="*/ 34 h 269"/>
                <a:gd name="T46" fmla="*/ 216 w 269"/>
                <a:gd name="T47" fmla="*/ 27 h 269"/>
                <a:gd name="T48" fmla="*/ 211 w 269"/>
                <a:gd name="T49" fmla="*/ 23 h 269"/>
                <a:gd name="T50" fmla="*/ 206 w 269"/>
                <a:gd name="T51" fmla="*/ 20 h 269"/>
                <a:gd name="T52" fmla="*/ 196 w 269"/>
                <a:gd name="T53" fmla="*/ 15 h 269"/>
                <a:gd name="T54" fmla="*/ 187 w 269"/>
                <a:gd name="T55" fmla="*/ 10 h 269"/>
                <a:gd name="T56" fmla="*/ 181 w 269"/>
                <a:gd name="T57" fmla="*/ 8 h 269"/>
                <a:gd name="T58" fmla="*/ 174 w 269"/>
                <a:gd name="T59" fmla="*/ 6 h 269"/>
                <a:gd name="T60" fmla="*/ 168 w 269"/>
                <a:gd name="T61" fmla="*/ 4 h 269"/>
                <a:gd name="T62" fmla="*/ 165 w 269"/>
                <a:gd name="T63" fmla="*/ 3 h 269"/>
                <a:gd name="T64" fmla="*/ 153 w 269"/>
                <a:gd name="T65" fmla="*/ 1 h 269"/>
                <a:gd name="T66" fmla="*/ 147 w 269"/>
                <a:gd name="T67" fmla="*/ 0 h 269"/>
                <a:gd name="T68" fmla="*/ 135 w 269"/>
                <a:gd name="T69" fmla="*/ 0 h 269"/>
                <a:gd name="T70" fmla="*/ 40 w 269"/>
                <a:gd name="T71" fmla="*/ 39 h 269"/>
                <a:gd name="T72" fmla="*/ 135 w 269"/>
                <a:gd name="T73" fmla="*/ 195 h 269"/>
                <a:gd name="T74" fmla="*/ 135 w 269"/>
                <a:gd name="T75" fmla="*/ 74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69" h="269">
                  <a:moveTo>
                    <a:pt x="40" y="39"/>
                  </a:moveTo>
                  <a:cubicBezTo>
                    <a:pt x="37" y="42"/>
                    <a:pt x="35" y="44"/>
                    <a:pt x="33" y="46"/>
                  </a:cubicBezTo>
                  <a:cubicBezTo>
                    <a:pt x="32" y="48"/>
                    <a:pt x="30" y="50"/>
                    <a:pt x="29" y="51"/>
                  </a:cubicBezTo>
                  <a:cubicBezTo>
                    <a:pt x="27" y="53"/>
                    <a:pt x="26" y="55"/>
                    <a:pt x="25" y="57"/>
                  </a:cubicBezTo>
                  <a:cubicBezTo>
                    <a:pt x="24" y="58"/>
                    <a:pt x="22" y="60"/>
                    <a:pt x="21" y="62"/>
                  </a:cubicBezTo>
                  <a:cubicBezTo>
                    <a:pt x="21" y="63"/>
                    <a:pt x="20" y="64"/>
                    <a:pt x="20" y="65"/>
                  </a:cubicBezTo>
                  <a:cubicBezTo>
                    <a:pt x="18" y="67"/>
                    <a:pt x="17" y="68"/>
                    <a:pt x="16" y="70"/>
                  </a:cubicBezTo>
                  <a:cubicBezTo>
                    <a:pt x="16" y="71"/>
                    <a:pt x="15" y="72"/>
                    <a:pt x="15" y="73"/>
                  </a:cubicBezTo>
                  <a:cubicBezTo>
                    <a:pt x="14" y="75"/>
                    <a:pt x="13" y="77"/>
                    <a:pt x="12" y="79"/>
                  </a:cubicBezTo>
                  <a:cubicBezTo>
                    <a:pt x="11" y="80"/>
                    <a:pt x="11" y="81"/>
                    <a:pt x="11" y="82"/>
                  </a:cubicBezTo>
                  <a:cubicBezTo>
                    <a:pt x="10" y="84"/>
                    <a:pt x="10" y="85"/>
                    <a:pt x="9" y="86"/>
                  </a:cubicBezTo>
                  <a:cubicBezTo>
                    <a:pt x="9" y="87"/>
                    <a:pt x="8" y="88"/>
                    <a:pt x="8" y="90"/>
                  </a:cubicBezTo>
                  <a:cubicBezTo>
                    <a:pt x="7" y="91"/>
                    <a:pt x="7" y="92"/>
                    <a:pt x="6" y="93"/>
                  </a:cubicBezTo>
                  <a:cubicBezTo>
                    <a:pt x="6" y="95"/>
                    <a:pt x="6" y="96"/>
                    <a:pt x="5" y="97"/>
                  </a:cubicBezTo>
                  <a:cubicBezTo>
                    <a:pt x="5" y="100"/>
                    <a:pt x="4" y="102"/>
                    <a:pt x="3" y="105"/>
                  </a:cubicBezTo>
                  <a:cubicBezTo>
                    <a:pt x="3" y="106"/>
                    <a:pt x="3" y="106"/>
                    <a:pt x="3" y="106"/>
                  </a:cubicBezTo>
                  <a:cubicBezTo>
                    <a:pt x="3" y="108"/>
                    <a:pt x="2" y="110"/>
                    <a:pt x="2" y="113"/>
                  </a:cubicBezTo>
                  <a:cubicBezTo>
                    <a:pt x="1" y="115"/>
                    <a:pt x="1" y="118"/>
                    <a:pt x="1" y="120"/>
                  </a:cubicBezTo>
                  <a:cubicBezTo>
                    <a:pt x="0" y="125"/>
                    <a:pt x="0" y="130"/>
                    <a:pt x="0" y="135"/>
                  </a:cubicBezTo>
                  <a:cubicBezTo>
                    <a:pt x="0" y="137"/>
                    <a:pt x="0" y="140"/>
                    <a:pt x="0" y="143"/>
                  </a:cubicBezTo>
                  <a:cubicBezTo>
                    <a:pt x="1" y="146"/>
                    <a:pt x="1" y="148"/>
                    <a:pt x="1" y="151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1" y="153"/>
                    <a:pt x="1" y="154"/>
                    <a:pt x="2" y="155"/>
                  </a:cubicBezTo>
                  <a:cubicBezTo>
                    <a:pt x="2" y="157"/>
                    <a:pt x="2" y="159"/>
                    <a:pt x="3" y="161"/>
                  </a:cubicBezTo>
                  <a:cubicBezTo>
                    <a:pt x="3" y="161"/>
                    <a:pt x="3" y="162"/>
                    <a:pt x="3" y="162"/>
                  </a:cubicBezTo>
                  <a:cubicBezTo>
                    <a:pt x="3" y="163"/>
                    <a:pt x="3" y="164"/>
                    <a:pt x="4" y="165"/>
                  </a:cubicBezTo>
                  <a:cubicBezTo>
                    <a:pt x="4" y="166"/>
                    <a:pt x="4" y="167"/>
                    <a:pt x="4" y="168"/>
                  </a:cubicBezTo>
                  <a:cubicBezTo>
                    <a:pt x="5" y="170"/>
                    <a:pt x="5" y="172"/>
                    <a:pt x="6" y="173"/>
                  </a:cubicBezTo>
                  <a:cubicBezTo>
                    <a:pt x="6" y="175"/>
                    <a:pt x="7" y="176"/>
                    <a:pt x="7" y="178"/>
                  </a:cubicBezTo>
                  <a:cubicBezTo>
                    <a:pt x="8" y="179"/>
                    <a:pt x="8" y="180"/>
                    <a:pt x="8" y="181"/>
                  </a:cubicBezTo>
                  <a:cubicBezTo>
                    <a:pt x="9" y="183"/>
                    <a:pt x="10" y="185"/>
                    <a:pt x="11" y="187"/>
                  </a:cubicBezTo>
                  <a:cubicBezTo>
                    <a:pt x="11" y="188"/>
                    <a:pt x="12" y="189"/>
                    <a:pt x="12" y="190"/>
                  </a:cubicBezTo>
                  <a:cubicBezTo>
                    <a:pt x="12" y="191"/>
                    <a:pt x="13" y="192"/>
                    <a:pt x="13" y="193"/>
                  </a:cubicBezTo>
                  <a:cubicBezTo>
                    <a:pt x="14" y="194"/>
                    <a:pt x="14" y="195"/>
                    <a:pt x="15" y="196"/>
                  </a:cubicBezTo>
                  <a:cubicBezTo>
                    <a:pt x="15" y="197"/>
                    <a:pt x="16" y="198"/>
                    <a:pt x="16" y="199"/>
                  </a:cubicBezTo>
                  <a:cubicBezTo>
                    <a:pt x="17" y="200"/>
                    <a:pt x="17" y="201"/>
                    <a:pt x="18" y="202"/>
                  </a:cubicBezTo>
                  <a:cubicBezTo>
                    <a:pt x="18" y="202"/>
                    <a:pt x="19" y="203"/>
                    <a:pt x="19" y="204"/>
                  </a:cubicBezTo>
                  <a:cubicBezTo>
                    <a:pt x="20" y="205"/>
                    <a:pt x="21" y="206"/>
                    <a:pt x="21" y="207"/>
                  </a:cubicBezTo>
                  <a:cubicBezTo>
                    <a:pt x="22" y="208"/>
                    <a:pt x="22" y="209"/>
                    <a:pt x="23" y="210"/>
                  </a:cubicBezTo>
                  <a:cubicBezTo>
                    <a:pt x="24" y="212"/>
                    <a:pt x="25" y="213"/>
                    <a:pt x="27" y="215"/>
                  </a:cubicBezTo>
                  <a:cubicBezTo>
                    <a:pt x="29" y="218"/>
                    <a:pt x="32" y="222"/>
                    <a:pt x="35" y="225"/>
                  </a:cubicBezTo>
                  <a:cubicBezTo>
                    <a:pt x="60" y="252"/>
                    <a:pt x="95" y="269"/>
                    <a:pt x="135" y="269"/>
                  </a:cubicBezTo>
                  <a:cubicBezTo>
                    <a:pt x="209" y="269"/>
                    <a:pt x="269" y="209"/>
                    <a:pt x="269" y="135"/>
                  </a:cubicBezTo>
                  <a:cubicBezTo>
                    <a:pt x="269" y="95"/>
                    <a:pt x="252" y="59"/>
                    <a:pt x="225" y="35"/>
                  </a:cubicBezTo>
                  <a:cubicBezTo>
                    <a:pt x="225" y="35"/>
                    <a:pt x="225" y="35"/>
                    <a:pt x="225" y="35"/>
                  </a:cubicBezTo>
                  <a:cubicBezTo>
                    <a:pt x="224" y="34"/>
                    <a:pt x="224" y="34"/>
                    <a:pt x="224" y="34"/>
                  </a:cubicBezTo>
                  <a:cubicBezTo>
                    <a:pt x="223" y="33"/>
                    <a:pt x="222" y="32"/>
                    <a:pt x="220" y="31"/>
                  </a:cubicBezTo>
                  <a:cubicBezTo>
                    <a:pt x="219" y="29"/>
                    <a:pt x="217" y="28"/>
                    <a:pt x="216" y="27"/>
                  </a:cubicBezTo>
                  <a:cubicBezTo>
                    <a:pt x="215" y="27"/>
                    <a:pt x="215" y="27"/>
                    <a:pt x="215" y="27"/>
                  </a:cubicBezTo>
                  <a:cubicBezTo>
                    <a:pt x="214" y="26"/>
                    <a:pt x="212" y="24"/>
                    <a:pt x="211" y="23"/>
                  </a:cubicBezTo>
                  <a:cubicBezTo>
                    <a:pt x="210" y="23"/>
                    <a:pt x="210" y="23"/>
                    <a:pt x="210" y="23"/>
                  </a:cubicBezTo>
                  <a:cubicBezTo>
                    <a:pt x="209" y="22"/>
                    <a:pt x="208" y="21"/>
                    <a:pt x="206" y="20"/>
                  </a:cubicBezTo>
                  <a:cubicBezTo>
                    <a:pt x="204" y="19"/>
                    <a:pt x="202" y="18"/>
                    <a:pt x="200" y="17"/>
                  </a:cubicBezTo>
                  <a:cubicBezTo>
                    <a:pt x="199" y="16"/>
                    <a:pt x="197" y="15"/>
                    <a:pt x="196" y="15"/>
                  </a:cubicBezTo>
                  <a:cubicBezTo>
                    <a:pt x="194" y="14"/>
                    <a:pt x="192" y="13"/>
                    <a:pt x="190" y="12"/>
                  </a:cubicBezTo>
                  <a:cubicBezTo>
                    <a:pt x="189" y="11"/>
                    <a:pt x="188" y="11"/>
                    <a:pt x="187" y="10"/>
                  </a:cubicBezTo>
                  <a:cubicBezTo>
                    <a:pt x="185" y="10"/>
                    <a:pt x="183" y="9"/>
                    <a:pt x="181" y="8"/>
                  </a:cubicBezTo>
                  <a:cubicBezTo>
                    <a:pt x="181" y="8"/>
                    <a:pt x="181" y="8"/>
                    <a:pt x="181" y="8"/>
                  </a:cubicBezTo>
                  <a:cubicBezTo>
                    <a:pt x="179" y="7"/>
                    <a:pt x="178" y="7"/>
                    <a:pt x="176" y="6"/>
                  </a:cubicBezTo>
                  <a:cubicBezTo>
                    <a:pt x="175" y="6"/>
                    <a:pt x="175" y="6"/>
                    <a:pt x="174" y="6"/>
                  </a:cubicBezTo>
                  <a:cubicBezTo>
                    <a:pt x="173" y="5"/>
                    <a:pt x="172" y="5"/>
                    <a:pt x="172" y="5"/>
                  </a:cubicBezTo>
                  <a:cubicBezTo>
                    <a:pt x="170" y="5"/>
                    <a:pt x="169" y="4"/>
                    <a:pt x="168" y="4"/>
                  </a:cubicBezTo>
                  <a:cubicBezTo>
                    <a:pt x="167" y="4"/>
                    <a:pt x="166" y="4"/>
                    <a:pt x="165" y="3"/>
                  </a:cubicBezTo>
                  <a:cubicBezTo>
                    <a:pt x="165" y="3"/>
                    <a:pt x="165" y="3"/>
                    <a:pt x="165" y="3"/>
                  </a:cubicBezTo>
                  <a:cubicBezTo>
                    <a:pt x="164" y="3"/>
                    <a:pt x="162" y="3"/>
                    <a:pt x="160" y="2"/>
                  </a:cubicBezTo>
                  <a:cubicBezTo>
                    <a:pt x="158" y="2"/>
                    <a:pt x="156" y="1"/>
                    <a:pt x="153" y="1"/>
                  </a:cubicBezTo>
                  <a:cubicBezTo>
                    <a:pt x="152" y="1"/>
                    <a:pt x="150" y="1"/>
                    <a:pt x="148" y="1"/>
                  </a:cubicBezTo>
                  <a:cubicBezTo>
                    <a:pt x="148" y="1"/>
                    <a:pt x="147" y="0"/>
                    <a:pt x="147" y="0"/>
                  </a:cubicBezTo>
                  <a:cubicBezTo>
                    <a:pt x="145" y="0"/>
                    <a:pt x="143" y="0"/>
                    <a:pt x="141" y="0"/>
                  </a:cubicBezTo>
                  <a:cubicBezTo>
                    <a:pt x="139" y="0"/>
                    <a:pt x="137" y="0"/>
                    <a:pt x="135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98" y="0"/>
                    <a:pt x="64" y="15"/>
                    <a:pt x="40" y="39"/>
                  </a:cubicBezTo>
                  <a:close/>
                  <a:moveTo>
                    <a:pt x="196" y="135"/>
                  </a:moveTo>
                  <a:cubicBezTo>
                    <a:pt x="196" y="168"/>
                    <a:pt x="168" y="195"/>
                    <a:pt x="135" y="195"/>
                  </a:cubicBezTo>
                  <a:cubicBezTo>
                    <a:pt x="101" y="195"/>
                    <a:pt x="74" y="168"/>
                    <a:pt x="74" y="135"/>
                  </a:cubicBezTo>
                  <a:cubicBezTo>
                    <a:pt x="74" y="101"/>
                    <a:pt x="101" y="74"/>
                    <a:pt x="135" y="74"/>
                  </a:cubicBezTo>
                  <a:cubicBezTo>
                    <a:pt x="168" y="74"/>
                    <a:pt x="196" y="101"/>
                    <a:pt x="196" y="135"/>
                  </a:cubicBezTo>
                  <a:close/>
                </a:path>
              </a:pathLst>
            </a:custGeom>
            <a:solidFill>
              <a:srgbClr val="14B7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169" y="847495"/>
            <a:ext cx="2975768" cy="443198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 algn="l">
              <a:defRPr sz="3200" b="1" spc="40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THANK YOU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1">
              <a:alpha val="2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cxnSp>
        <p:nvCxnSpPr>
          <p:cNvPr id="18" name="Straight Connector 15">
            <a:extLst>
              <a:ext uri="{FF2B5EF4-FFF2-40B4-BE49-F238E27FC236}">
                <a16:creationId xmlns:a16="http://schemas.microsoft.com/office/drawing/2014/main" id="{2BBC4686-AE3D-7460-6E17-80A22B3E85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88169" y="1458113"/>
            <a:ext cx="1566364" cy="0"/>
          </a:xfrm>
          <a:prstGeom prst="line">
            <a:avLst/>
          </a:prstGeom>
          <a:ln w="508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C6A6B99C-1F25-E80A-44F2-D2A703BF9B1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88169" y="1654733"/>
            <a:ext cx="5508919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2400" b="1" spc="40" baseline="0">
                <a:solidFill>
                  <a:schemeClr val="bg2">
                    <a:lumMod val="75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ZA" noProof="0" dirty="0"/>
              <a:t>FOR THE OPPORTUNITY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F745881-58B2-D97D-29A5-1CCB8F1CAC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88170" y="2552700"/>
            <a:ext cx="3831430" cy="38314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3" name="Text Placeholder 34">
            <a:extLst>
              <a:ext uri="{FF2B5EF4-FFF2-40B4-BE49-F238E27FC236}">
                <a16:creationId xmlns:a16="http://schemas.microsoft.com/office/drawing/2014/main" id="{811EE65E-4DB1-5B63-A818-044858EE4DC1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6800" y="3021282"/>
            <a:ext cx="2847975" cy="2912793"/>
          </a:xfrm>
          <a:prstGeom prst="rect">
            <a:avLst/>
          </a:prstGeom>
          <a:noFill/>
        </p:spPr>
        <p:txBody>
          <a:bodyPr lIns="180000" tIns="180000" rIns="180000" bIns="180000" anchor="ctr" anchorCtr="0">
            <a:noAutofit/>
          </a:bodyPr>
          <a:lstStyle>
            <a:lvl1pPr marL="0" indent="0" algn="ctr">
              <a:lnSpc>
                <a:spcPts val="1800"/>
              </a:lnSpc>
              <a:buNone/>
              <a:defRPr sz="1200" spc="40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ts val="1400"/>
              </a:lnSpc>
              <a:buNone/>
              <a:defRPr sz="1200" spc="40" baseline="0">
                <a:latin typeface="+mj-lt"/>
              </a:defRPr>
            </a:lvl2pPr>
            <a:lvl3pPr marL="914400" indent="0">
              <a:lnSpc>
                <a:spcPts val="1400"/>
              </a:lnSpc>
              <a:buNone/>
              <a:defRPr sz="1200" spc="40" baseline="0">
                <a:latin typeface="+mj-lt"/>
              </a:defRPr>
            </a:lvl3pPr>
            <a:lvl4pPr marL="1371600" indent="0">
              <a:lnSpc>
                <a:spcPts val="1400"/>
              </a:lnSpc>
              <a:buNone/>
              <a:defRPr sz="1200" spc="40" baseline="0">
                <a:latin typeface="+mj-lt"/>
              </a:defRPr>
            </a:lvl4pPr>
            <a:lvl5pPr marL="1828800" indent="0">
              <a:lnSpc>
                <a:spcPts val="1400"/>
              </a:lnSpc>
              <a:buNone/>
              <a:defRPr sz="1200" spc="40" baseline="0">
                <a:latin typeface="+mj-lt"/>
              </a:defRPr>
            </a:lvl5pPr>
          </a:lstStyle>
          <a:p>
            <a:pPr lvl="0"/>
            <a:r>
              <a:rPr lang="en-US" dirty="0"/>
              <a:t>Type your message here…</a:t>
            </a:r>
            <a:endParaRPr lang="en-ZA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7F1335A2-A868-D93B-FC64-440A6FA1338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007770" y="3851668"/>
            <a:ext cx="6596056" cy="2531716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1600"/>
              </a:lnSpc>
              <a:buFont typeface="Calibri" panose="020F0502020204030204" pitchFamily="34" charset="0"/>
              <a:buChar char="+"/>
              <a:defRPr sz="1100">
                <a:solidFill>
                  <a:schemeClr val="tx2">
                    <a:lumMod val="50000"/>
                  </a:schemeClr>
                </a:solidFill>
              </a:defRPr>
            </a:lvl1pPr>
            <a:lvl2pPr>
              <a:lnSpc>
                <a:spcPts val="1600"/>
              </a:lnSpc>
              <a:defRPr sz="105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928C6E4-59CF-ADE3-56B5-6358F61A80B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07725" y="3489825"/>
            <a:ext cx="6595311" cy="205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400" spc="30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Sub-heading</a:t>
            </a:r>
          </a:p>
        </p:txBody>
      </p:sp>
    </p:spTree>
    <p:extLst>
      <p:ext uri="{BB962C8B-B14F-4D97-AF65-F5344CB8AC3E}">
        <p14:creationId xmlns:p14="http://schemas.microsoft.com/office/powerpoint/2010/main" val="256717758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04 | 1_3. Single Head + Intro + 1 x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CADC196-1239-E73E-8FE0-96E724E69039}"/>
              </a:ext>
            </a:extLst>
          </p:cNvPr>
          <p:cNvSpPr>
            <a:spLocks noGrp="1"/>
          </p:cNvSpPr>
          <p:nvPr>
            <p:ph type="tbl" sz="quarter" idx="39" hasCustomPrompt="1"/>
          </p:nvPr>
        </p:nvSpPr>
        <p:spPr>
          <a:xfrm>
            <a:off x="587375" y="1528516"/>
            <a:ext cx="11052175" cy="49183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/>
            </a:lvl1pPr>
          </a:lstStyle>
          <a:p>
            <a:r>
              <a:rPr lang="en-ZA" dirty="0"/>
              <a:t>Insert Table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170" y="532999"/>
            <a:ext cx="11051375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ctr">
              <a:defRPr sz="2400" b="1" spc="40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CLICK TO INSERT ONE LINE HEADING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B344E32D-2457-EF2E-E316-6DB23431487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87375" y="1003472"/>
            <a:ext cx="11052175" cy="185500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ctr">
              <a:lnSpc>
                <a:spcPts val="1600"/>
              </a:lnSpc>
              <a:spcBef>
                <a:spcPts val="0"/>
              </a:spcBef>
              <a:buNone/>
              <a:defRPr sz="1050" spc="4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Insert introductory text here. No longer than 1 line maximum. Insert introductory text here.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7744912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05 | Single Heading + 1 x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50E336C-D711-3D95-EABA-6926D5164BBD}"/>
              </a:ext>
            </a:extLst>
          </p:cNvPr>
          <p:cNvSpPr>
            <a:spLocks noGrp="1"/>
          </p:cNvSpPr>
          <p:nvPr>
            <p:ph type="chart" sz="quarter" idx="40" hasCustomPrompt="1"/>
          </p:nvPr>
        </p:nvSpPr>
        <p:spPr>
          <a:xfrm>
            <a:off x="585789" y="1111250"/>
            <a:ext cx="11051374" cy="53355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/>
            </a:lvl1pPr>
          </a:lstStyle>
          <a:p>
            <a:r>
              <a:rPr lang="en-US" dirty="0"/>
              <a:t>Insert Graph</a:t>
            </a:r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170" y="532999"/>
            <a:ext cx="11051375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2400" b="1" spc="40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CLICK TO INSERT ONE LINE HEADING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</p:spTree>
    <p:extLst>
      <p:ext uri="{BB962C8B-B14F-4D97-AF65-F5344CB8AC3E}">
        <p14:creationId xmlns:p14="http://schemas.microsoft.com/office/powerpoint/2010/main" val="366306655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07 | ONE HEAD + Org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12617E2C-F4E2-E8B4-0305-E761EA908D23}"/>
              </a:ext>
            </a:extLst>
          </p:cNvPr>
          <p:cNvSpPr>
            <a:spLocks noGrp="1"/>
          </p:cNvSpPr>
          <p:nvPr>
            <p:ph type="dgm" sz="quarter" idx="40" hasCustomPrompt="1"/>
          </p:nvPr>
        </p:nvSpPr>
        <p:spPr>
          <a:xfrm>
            <a:off x="587375" y="1291430"/>
            <a:ext cx="11050588" cy="50387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‘Hierarchy’ SmartArt</a:t>
            </a:r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170" y="532999"/>
            <a:ext cx="11051375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2400" b="1" spc="40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CLICK TO INSERT ONE LINE HEADING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cxnSp>
        <p:nvCxnSpPr>
          <p:cNvPr id="18" name="Straight Connector 15">
            <a:extLst>
              <a:ext uri="{FF2B5EF4-FFF2-40B4-BE49-F238E27FC236}">
                <a16:creationId xmlns:a16="http://schemas.microsoft.com/office/drawing/2014/main" id="{2BBC4686-AE3D-7460-6E17-80A22B3E85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88170" y="1033292"/>
            <a:ext cx="1566364" cy="0"/>
          </a:xfrm>
          <a:prstGeom prst="line">
            <a:avLst/>
          </a:prstGeom>
          <a:ln w="508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93874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3 | HEAD + Photo + 1 x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ACE5DE-848D-7004-8FE9-23A07F5438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88164" y="1733678"/>
            <a:ext cx="11051371" cy="4712369"/>
          </a:xfrm>
          <a:prstGeom prst="rect">
            <a:avLst/>
          </a:prstGeom>
          <a:solidFill>
            <a:srgbClr val="EFF2F6"/>
          </a:solidFill>
          <a:ln w="12855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E2D48D9C-369A-6276-061E-718E5CFC2F9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149618" y="5006903"/>
            <a:ext cx="4268416" cy="5606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50" spc="4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descriptive text for this statistic here. No longer than 3 lines maximum. Insert text here. Insert descriptive text for this statistic here. No longer than 3 lines maximum.</a:t>
            </a:r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166" y="532999"/>
            <a:ext cx="11051379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2400" b="1" spc="40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CLICK TO INSERT ONE LINE HEADING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  <a:alpha val="25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  <a:alpha val="25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  <a:alpha val="25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cxnSp>
        <p:nvCxnSpPr>
          <p:cNvPr id="18" name="Straight Connector 15">
            <a:extLst>
              <a:ext uri="{FF2B5EF4-FFF2-40B4-BE49-F238E27FC236}">
                <a16:creationId xmlns:a16="http://schemas.microsoft.com/office/drawing/2014/main" id="{2BBC4686-AE3D-7460-6E17-80A22B3E85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88166" y="1382123"/>
            <a:ext cx="1566364" cy="0"/>
          </a:xfrm>
          <a:prstGeom prst="line">
            <a:avLst/>
          </a:prstGeom>
          <a:ln w="508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CE98A85-0F23-B4F7-9263-8293DAE7015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88166" y="1007744"/>
            <a:ext cx="11051375" cy="20518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400" spc="3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Sub-heading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FBED8F70-6A83-6A79-C597-AC07FA07FA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444238" y="3249181"/>
            <a:ext cx="3973785" cy="9239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56%</a:t>
            </a:r>
            <a:endParaRPr lang="en-GB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E7C9454-95FA-D867-0096-73287630F84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517925" y="4290849"/>
            <a:ext cx="3946135" cy="18703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100" b="1" spc="3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Statistic title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22DFB2A7-19D8-201D-D1B6-2DF4C112A97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149614" y="5790773"/>
            <a:ext cx="4268412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200"/>
              </a:lnSpc>
              <a:spcBef>
                <a:spcPts val="400"/>
              </a:spcBef>
              <a:buNone/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your secondary text here. Click to edit your secondary text here. Click to edit your secondary text here. Click to edit your secondary text here. </a:t>
            </a:r>
            <a:endParaRPr lang="en-ZA" dirty="0"/>
          </a:p>
        </p:txBody>
      </p:sp>
      <p:sp>
        <p:nvSpPr>
          <p:cNvPr id="4" name="그림 개체 틀 3">
            <a:extLst>
              <a:ext uri="{FF2B5EF4-FFF2-40B4-BE49-F238E27FC236}">
                <a16:creationId xmlns:a16="http://schemas.microsoft.com/office/drawing/2014/main" id="{334864FC-E0D6-C55B-7548-DA14D310D98B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096000" y="1733678"/>
            <a:ext cx="5543535" cy="4712369"/>
          </a:xfrm>
          <a:prstGeom prst="rect">
            <a:avLst/>
          </a:prstGeom>
          <a:pattFill prst="ltDnDiag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457189" indent="-457189" algn="ctr">
              <a:buNone/>
              <a:defRPr lang="ko-KR" altLang="en-US" sz="1000" kern="1200" baseline="0" dirty="0">
                <a:solidFill>
                  <a:srgbClr val="0E1D29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1219170" rtl="0" eaLnBrk="1" latinLnBrk="1" hangingPunct="1">
              <a:spcBef>
                <a:spcPct val="20000"/>
              </a:spcBef>
            </a:pPr>
            <a:r>
              <a:rPr lang="en-US" altLang="ko-KR" dirty="0"/>
              <a:t>Insert Image</a:t>
            </a:r>
            <a:endParaRPr lang="ko-KR" alt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3CA409-38E1-D327-4A22-235BB6D1A63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1153295" y="2879931"/>
            <a:ext cx="0" cy="166643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467909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13 | HEAD + 3 x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EF9DA8B-E2F0-68B7-0AAD-67AF7C6DB8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733678"/>
            <a:ext cx="12192000" cy="5124322"/>
          </a:xfrm>
          <a:prstGeom prst="rect">
            <a:avLst/>
          </a:prstGeom>
          <a:solidFill>
            <a:schemeClr val="tx2"/>
          </a:solidFill>
          <a:ln w="12855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E2D48D9C-369A-6276-061E-718E5CFC2F9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816332" y="4350069"/>
            <a:ext cx="3161606" cy="945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50" spc="4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descriptive text for this statistic here. No longer than 5 lines maximum. Insert text here. Insert descriptive text for this statistic here. No longer than 5 lines maximum. Insert text here.</a:t>
            </a:r>
            <a:endParaRPr lang="en-ZA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8ABA2F-1866-0C6D-DFBA-10CF55F485F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88166" y="532999"/>
            <a:ext cx="11051379" cy="3323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2400" b="1" spc="40" baseline="0">
                <a:solidFill>
                  <a:schemeClr val="accent1"/>
                </a:solidFill>
              </a:defRPr>
            </a:lvl1pPr>
          </a:lstStyle>
          <a:p>
            <a:r>
              <a:rPr lang="en-GB" noProof="0"/>
              <a:t>CLICK TO INSERT ONE LINE HEADING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18EB0B-C4F0-7481-DE9C-787837A515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351790" y="6570663"/>
            <a:ext cx="287760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 eaLnBrk="1" hangingPunct="1">
              <a:defRPr/>
            </a:pPr>
            <a:fld id="{FFF1A63A-3C88-468D-9DE5-EDAF1F8ED471}" type="slidenum">
              <a:rPr lang="en-GB" sz="650" smtClean="0">
                <a:solidFill>
                  <a:schemeClr val="accent5">
                    <a:lumMod val="20000"/>
                    <a:lumOff val="80000"/>
                    <a:alpha val="25000"/>
                  </a:schemeClr>
                </a:solidFill>
                <a:latin typeface="+mj-lt"/>
              </a:rPr>
              <a:pPr algn="r" eaLnBrk="1" hangingPunct="1">
                <a:defRPr/>
              </a:pPr>
              <a:t>‹#›</a:t>
            </a:fld>
            <a:endParaRPr lang="en-GB" sz="650" dirty="0">
              <a:solidFill>
                <a:schemeClr val="accent5">
                  <a:lumMod val="20000"/>
                  <a:lumOff val="80000"/>
                  <a:alpha val="25000"/>
                </a:schemeClr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1F743-078A-E9BE-0097-0794640725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626476" y="6570663"/>
            <a:ext cx="2653306" cy="287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r">
              <a:defRPr/>
            </a:pPr>
            <a:r>
              <a:rPr lang="en-GB" sz="600" spc="70" baseline="0" noProof="0" dirty="0">
                <a:solidFill>
                  <a:schemeClr val="accent5">
                    <a:lumMod val="20000"/>
                    <a:lumOff val="80000"/>
                    <a:alpha val="25000"/>
                  </a:schemeClr>
                </a:solidFill>
                <a:latin typeface="+mj-lt"/>
              </a:rPr>
              <a:t>WINNING AT THE POINT OF PURCHASE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AE5ED69-6191-3408-6AF2-AFF4F4887E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51790" y="6677025"/>
            <a:ext cx="0" cy="180975"/>
          </a:xfrm>
          <a:prstGeom prst="line">
            <a:avLst/>
          </a:prstGeom>
          <a:ln w="6350">
            <a:solidFill>
              <a:schemeClr val="accent5">
                <a:lumMod val="20000"/>
                <a:lumOff val="80000"/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 9">
            <a:extLst>
              <a:ext uri="{FF2B5EF4-FFF2-40B4-BE49-F238E27FC236}">
                <a16:creationId xmlns:a16="http://schemas.microsoft.com/office/drawing/2014/main" id="{605E3913-428E-524D-308B-1B7DDD0831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588171" y="164304"/>
            <a:ext cx="704074" cy="95251"/>
          </a:xfrm>
          <a:custGeom>
            <a:avLst/>
            <a:gdLst>
              <a:gd name="T0" fmla="*/ 14 w 227"/>
              <a:gd name="T1" fmla="*/ 6 h 30"/>
              <a:gd name="T2" fmla="*/ 25 w 227"/>
              <a:gd name="T3" fmla="*/ 2 h 30"/>
              <a:gd name="T4" fmla="*/ 1 w 227"/>
              <a:gd name="T5" fmla="*/ 9 h 30"/>
              <a:gd name="T6" fmla="*/ 13 w 227"/>
              <a:gd name="T7" fmla="*/ 24 h 30"/>
              <a:gd name="T8" fmla="*/ 0 w 227"/>
              <a:gd name="T9" fmla="*/ 27 h 30"/>
              <a:gd name="T10" fmla="*/ 26 w 227"/>
              <a:gd name="T11" fmla="*/ 21 h 30"/>
              <a:gd name="T12" fmla="*/ 48 w 227"/>
              <a:gd name="T13" fmla="*/ 17 h 30"/>
              <a:gd name="T14" fmla="*/ 30 w 227"/>
              <a:gd name="T15" fmla="*/ 0 h 30"/>
              <a:gd name="T16" fmla="*/ 38 w 227"/>
              <a:gd name="T17" fmla="*/ 30 h 30"/>
              <a:gd name="T18" fmla="*/ 46 w 227"/>
              <a:gd name="T19" fmla="*/ 27 h 30"/>
              <a:gd name="T20" fmla="*/ 57 w 227"/>
              <a:gd name="T21" fmla="*/ 14 h 30"/>
              <a:gd name="T22" fmla="*/ 65 w 227"/>
              <a:gd name="T23" fmla="*/ 30 h 30"/>
              <a:gd name="T24" fmla="*/ 58 w 227"/>
              <a:gd name="T25" fmla="*/ 0 h 30"/>
              <a:gd name="T26" fmla="*/ 86 w 227"/>
              <a:gd name="T27" fmla="*/ 0 h 30"/>
              <a:gd name="T28" fmla="*/ 86 w 227"/>
              <a:gd name="T29" fmla="*/ 30 h 30"/>
              <a:gd name="T30" fmla="*/ 86 w 227"/>
              <a:gd name="T31" fmla="*/ 0 h 30"/>
              <a:gd name="T32" fmla="*/ 78 w 227"/>
              <a:gd name="T33" fmla="*/ 15 h 30"/>
              <a:gd name="T34" fmla="*/ 94 w 227"/>
              <a:gd name="T35" fmla="*/ 15 h 30"/>
              <a:gd name="T36" fmla="*/ 115 w 227"/>
              <a:gd name="T37" fmla="*/ 0 h 30"/>
              <a:gd name="T38" fmla="*/ 107 w 227"/>
              <a:gd name="T39" fmla="*/ 30 h 30"/>
              <a:gd name="T40" fmla="*/ 129 w 227"/>
              <a:gd name="T41" fmla="*/ 23 h 30"/>
              <a:gd name="T42" fmla="*/ 115 w 227"/>
              <a:gd name="T43" fmla="*/ 0 h 30"/>
              <a:gd name="T44" fmla="*/ 133 w 227"/>
              <a:gd name="T45" fmla="*/ 0 h 30"/>
              <a:gd name="T46" fmla="*/ 156 w 227"/>
              <a:gd name="T47" fmla="*/ 30 h 30"/>
              <a:gd name="T48" fmla="*/ 142 w 227"/>
              <a:gd name="T49" fmla="*/ 23 h 30"/>
              <a:gd name="T50" fmla="*/ 173 w 227"/>
              <a:gd name="T51" fmla="*/ 0 h 30"/>
              <a:gd name="T52" fmla="*/ 169 w 227"/>
              <a:gd name="T53" fmla="*/ 30 h 30"/>
              <a:gd name="T54" fmla="*/ 184 w 227"/>
              <a:gd name="T55" fmla="*/ 24 h 30"/>
              <a:gd name="T56" fmla="*/ 195 w 227"/>
              <a:gd name="T57" fmla="*/ 30 h 30"/>
              <a:gd name="T58" fmla="*/ 173 w 227"/>
              <a:gd name="T59" fmla="*/ 0 h 30"/>
              <a:gd name="T60" fmla="*/ 177 w 227"/>
              <a:gd name="T61" fmla="*/ 8 h 30"/>
              <a:gd name="T62" fmla="*/ 174 w 227"/>
              <a:gd name="T63" fmla="*/ 18 h 30"/>
              <a:gd name="T64" fmla="*/ 219 w 227"/>
              <a:gd name="T65" fmla="*/ 16 h 30"/>
              <a:gd name="T66" fmla="*/ 199 w 227"/>
              <a:gd name="T67" fmla="*/ 0 h 30"/>
              <a:gd name="T68" fmla="*/ 207 w 227"/>
              <a:gd name="T69" fmla="*/ 30 h 30"/>
              <a:gd name="T70" fmla="*/ 220 w 227"/>
              <a:gd name="T71" fmla="*/ 30 h 30"/>
              <a:gd name="T72" fmla="*/ 227 w 227"/>
              <a:gd name="T73" fmla="*/ 0 h 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227" h="30">
                <a:moveTo>
                  <a:pt x="9" y="9"/>
                </a:moveTo>
                <a:cubicBezTo>
                  <a:pt x="9" y="7"/>
                  <a:pt x="10" y="6"/>
                  <a:pt x="14" y="6"/>
                </a:cubicBezTo>
                <a:cubicBezTo>
                  <a:pt x="16" y="6"/>
                  <a:pt x="19" y="7"/>
                  <a:pt x="22" y="8"/>
                </a:cubicBezTo>
                <a:cubicBezTo>
                  <a:pt x="25" y="2"/>
                  <a:pt x="25" y="2"/>
                  <a:pt x="25" y="2"/>
                </a:cubicBezTo>
                <a:cubicBezTo>
                  <a:pt x="22" y="0"/>
                  <a:pt x="18" y="0"/>
                  <a:pt x="14" y="0"/>
                </a:cubicBezTo>
                <a:cubicBezTo>
                  <a:pt x="5" y="0"/>
                  <a:pt x="1" y="4"/>
                  <a:pt x="1" y="9"/>
                </a:cubicBezTo>
                <a:cubicBezTo>
                  <a:pt x="1" y="20"/>
                  <a:pt x="18" y="17"/>
                  <a:pt x="18" y="21"/>
                </a:cubicBezTo>
                <a:cubicBezTo>
                  <a:pt x="18" y="23"/>
                  <a:pt x="16" y="24"/>
                  <a:pt x="13" y="24"/>
                </a:cubicBezTo>
                <a:cubicBezTo>
                  <a:pt x="9" y="24"/>
                  <a:pt x="6" y="23"/>
                  <a:pt x="3" y="21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9"/>
                  <a:pt x="8" y="30"/>
                  <a:pt x="13" y="30"/>
                </a:cubicBezTo>
                <a:cubicBezTo>
                  <a:pt x="22" y="30"/>
                  <a:pt x="26" y="26"/>
                  <a:pt x="26" y="21"/>
                </a:cubicBezTo>
                <a:cubicBezTo>
                  <a:pt x="26" y="10"/>
                  <a:pt x="9" y="13"/>
                  <a:pt x="9" y="9"/>
                </a:cubicBezTo>
                <a:close/>
                <a:moveTo>
                  <a:pt x="48" y="17"/>
                </a:moveTo>
                <a:cubicBezTo>
                  <a:pt x="37" y="0"/>
                  <a:pt x="37" y="0"/>
                  <a:pt x="37" y="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30"/>
                  <a:pt x="30" y="30"/>
                  <a:pt x="30" y="30"/>
                </a:cubicBezTo>
                <a:cubicBezTo>
                  <a:pt x="38" y="30"/>
                  <a:pt x="38" y="30"/>
                  <a:pt x="38" y="30"/>
                </a:cubicBezTo>
                <a:cubicBezTo>
                  <a:pt x="38" y="14"/>
                  <a:pt x="38" y="14"/>
                  <a:pt x="38" y="14"/>
                </a:cubicBezTo>
                <a:cubicBezTo>
                  <a:pt x="46" y="27"/>
                  <a:pt x="46" y="27"/>
                  <a:pt x="46" y="27"/>
                </a:cubicBezTo>
                <a:cubicBezTo>
                  <a:pt x="49" y="27"/>
                  <a:pt x="49" y="27"/>
                  <a:pt x="49" y="27"/>
                </a:cubicBezTo>
                <a:cubicBezTo>
                  <a:pt x="57" y="14"/>
                  <a:pt x="57" y="14"/>
                  <a:pt x="57" y="14"/>
                </a:cubicBezTo>
                <a:cubicBezTo>
                  <a:pt x="57" y="30"/>
                  <a:pt x="57" y="30"/>
                  <a:pt x="57" y="30"/>
                </a:cubicBezTo>
                <a:cubicBezTo>
                  <a:pt x="65" y="30"/>
                  <a:pt x="65" y="30"/>
                  <a:pt x="65" y="30"/>
                </a:cubicBezTo>
                <a:cubicBezTo>
                  <a:pt x="65" y="0"/>
                  <a:pt x="65" y="0"/>
                  <a:pt x="65" y="0"/>
                </a:cubicBezTo>
                <a:cubicBezTo>
                  <a:pt x="58" y="0"/>
                  <a:pt x="58" y="0"/>
                  <a:pt x="58" y="0"/>
                </a:cubicBezTo>
                <a:lnTo>
                  <a:pt x="48" y="17"/>
                </a:lnTo>
                <a:close/>
                <a:moveTo>
                  <a:pt x="86" y="0"/>
                </a:moveTo>
                <a:cubicBezTo>
                  <a:pt x="76" y="0"/>
                  <a:pt x="69" y="6"/>
                  <a:pt x="69" y="15"/>
                </a:cubicBezTo>
                <a:cubicBezTo>
                  <a:pt x="69" y="24"/>
                  <a:pt x="76" y="30"/>
                  <a:pt x="86" y="30"/>
                </a:cubicBezTo>
                <a:cubicBezTo>
                  <a:pt x="95" y="30"/>
                  <a:pt x="102" y="24"/>
                  <a:pt x="102" y="15"/>
                </a:cubicBezTo>
                <a:cubicBezTo>
                  <a:pt x="102" y="6"/>
                  <a:pt x="95" y="0"/>
                  <a:pt x="86" y="0"/>
                </a:cubicBezTo>
                <a:close/>
                <a:moveTo>
                  <a:pt x="86" y="23"/>
                </a:moveTo>
                <a:cubicBezTo>
                  <a:pt x="81" y="23"/>
                  <a:pt x="78" y="20"/>
                  <a:pt x="78" y="15"/>
                </a:cubicBezTo>
                <a:cubicBezTo>
                  <a:pt x="78" y="10"/>
                  <a:pt x="81" y="6"/>
                  <a:pt x="86" y="6"/>
                </a:cubicBezTo>
                <a:cubicBezTo>
                  <a:pt x="90" y="6"/>
                  <a:pt x="94" y="10"/>
                  <a:pt x="94" y="15"/>
                </a:cubicBezTo>
                <a:cubicBezTo>
                  <a:pt x="94" y="20"/>
                  <a:pt x="90" y="23"/>
                  <a:pt x="86" y="23"/>
                </a:cubicBezTo>
                <a:close/>
                <a:moveTo>
                  <a:pt x="115" y="0"/>
                </a:moveTo>
                <a:cubicBezTo>
                  <a:pt x="107" y="0"/>
                  <a:pt x="107" y="0"/>
                  <a:pt x="107" y="0"/>
                </a:cubicBezTo>
                <a:cubicBezTo>
                  <a:pt x="107" y="30"/>
                  <a:pt x="107" y="30"/>
                  <a:pt x="107" y="30"/>
                </a:cubicBezTo>
                <a:cubicBezTo>
                  <a:pt x="129" y="30"/>
                  <a:pt x="129" y="30"/>
                  <a:pt x="129" y="30"/>
                </a:cubicBezTo>
                <a:cubicBezTo>
                  <a:pt x="129" y="23"/>
                  <a:pt x="129" y="23"/>
                  <a:pt x="129" y="23"/>
                </a:cubicBezTo>
                <a:cubicBezTo>
                  <a:pt x="115" y="23"/>
                  <a:pt x="115" y="23"/>
                  <a:pt x="115" y="23"/>
                </a:cubicBezTo>
                <a:lnTo>
                  <a:pt x="115" y="0"/>
                </a:lnTo>
                <a:close/>
                <a:moveTo>
                  <a:pt x="142" y="0"/>
                </a:moveTo>
                <a:cubicBezTo>
                  <a:pt x="133" y="0"/>
                  <a:pt x="133" y="0"/>
                  <a:pt x="133" y="0"/>
                </a:cubicBezTo>
                <a:cubicBezTo>
                  <a:pt x="133" y="30"/>
                  <a:pt x="133" y="30"/>
                  <a:pt x="133" y="30"/>
                </a:cubicBezTo>
                <a:cubicBezTo>
                  <a:pt x="156" y="30"/>
                  <a:pt x="156" y="30"/>
                  <a:pt x="156" y="30"/>
                </a:cubicBezTo>
                <a:cubicBezTo>
                  <a:pt x="156" y="23"/>
                  <a:pt x="156" y="23"/>
                  <a:pt x="156" y="23"/>
                </a:cubicBezTo>
                <a:cubicBezTo>
                  <a:pt x="142" y="23"/>
                  <a:pt x="142" y="23"/>
                  <a:pt x="142" y="23"/>
                </a:cubicBezTo>
                <a:lnTo>
                  <a:pt x="142" y="0"/>
                </a:lnTo>
                <a:close/>
                <a:moveTo>
                  <a:pt x="173" y="0"/>
                </a:moveTo>
                <a:cubicBezTo>
                  <a:pt x="160" y="30"/>
                  <a:pt x="160" y="30"/>
                  <a:pt x="160" y="30"/>
                </a:cubicBezTo>
                <a:cubicBezTo>
                  <a:pt x="169" y="30"/>
                  <a:pt x="169" y="30"/>
                  <a:pt x="169" y="30"/>
                </a:cubicBezTo>
                <a:cubicBezTo>
                  <a:pt x="171" y="24"/>
                  <a:pt x="171" y="24"/>
                  <a:pt x="171" y="24"/>
                </a:cubicBezTo>
                <a:cubicBezTo>
                  <a:pt x="184" y="24"/>
                  <a:pt x="184" y="24"/>
                  <a:pt x="184" y="24"/>
                </a:cubicBezTo>
                <a:cubicBezTo>
                  <a:pt x="186" y="30"/>
                  <a:pt x="186" y="30"/>
                  <a:pt x="186" y="30"/>
                </a:cubicBezTo>
                <a:cubicBezTo>
                  <a:pt x="195" y="30"/>
                  <a:pt x="195" y="30"/>
                  <a:pt x="195" y="30"/>
                </a:cubicBezTo>
                <a:cubicBezTo>
                  <a:pt x="182" y="0"/>
                  <a:pt x="182" y="0"/>
                  <a:pt x="182" y="0"/>
                </a:cubicBezTo>
                <a:lnTo>
                  <a:pt x="173" y="0"/>
                </a:lnTo>
                <a:close/>
                <a:moveTo>
                  <a:pt x="174" y="18"/>
                </a:moveTo>
                <a:cubicBezTo>
                  <a:pt x="177" y="8"/>
                  <a:pt x="177" y="8"/>
                  <a:pt x="177" y="8"/>
                </a:cubicBezTo>
                <a:cubicBezTo>
                  <a:pt x="181" y="18"/>
                  <a:pt x="181" y="18"/>
                  <a:pt x="181" y="18"/>
                </a:cubicBezTo>
                <a:lnTo>
                  <a:pt x="174" y="18"/>
                </a:lnTo>
                <a:close/>
                <a:moveTo>
                  <a:pt x="219" y="0"/>
                </a:moveTo>
                <a:cubicBezTo>
                  <a:pt x="219" y="16"/>
                  <a:pt x="219" y="16"/>
                  <a:pt x="219" y="16"/>
                </a:cubicBezTo>
                <a:cubicBezTo>
                  <a:pt x="206" y="0"/>
                  <a:pt x="206" y="0"/>
                  <a:pt x="206" y="0"/>
                </a:cubicBezTo>
                <a:cubicBezTo>
                  <a:pt x="199" y="0"/>
                  <a:pt x="199" y="0"/>
                  <a:pt x="199" y="0"/>
                </a:cubicBezTo>
                <a:cubicBezTo>
                  <a:pt x="199" y="30"/>
                  <a:pt x="199" y="30"/>
                  <a:pt x="199" y="30"/>
                </a:cubicBezTo>
                <a:cubicBezTo>
                  <a:pt x="207" y="30"/>
                  <a:pt x="207" y="30"/>
                  <a:pt x="207" y="30"/>
                </a:cubicBezTo>
                <a:cubicBezTo>
                  <a:pt x="207" y="14"/>
                  <a:pt x="207" y="14"/>
                  <a:pt x="207" y="14"/>
                </a:cubicBezTo>
                <a:cubicBezTo>
                  <a:pt x="220" y="30"/>
                  <a:pt x="220" y="30"/>
                  <a:pt x="220" y="30"/>
                </a:cubicBezTo>
                <a:cubicBezTo>
                  <a:pt x="227" y="30"/>
                  <a:pt x="227" y="30"/>
                  <a:pt x="227" y="30"/>
                </a:cubicBezTo>
                <a:cubicBezTo>
                  <a:pt x="227" y="0"/>
                  <a:pt x="227" y="0"/>
                  <a:pt x="227" y="0"/>
                </a:cubicBezTo>
                <a:lnTo>
                  <a:pt x="219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defTabSz="1219170" latinLnBrk="1"/>
            <a:endParaRPr lang="en-ZA" sz="2400"/>
          </a:p>
        </p:txBody>
      </p:sp>
      <p:cxnSp>
        <p:nvCxnSpPr>
          <p:cNvPr id="18" name="Straight Connector 15">
            <a:extLst>
              <a:ext uri="{FF2B5EF4-FFF2-40B4-BE49-F238E27FC236}">
                <a16:creationId xmlns:a16="http://schemas.microsoft.com/office/drawing/2014/main" id="{2BBC4686-AE3D-7460-6E17-80A22B3E85AE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588166" y="1382123"/>
            <a:ext cx="1566364" cy="0"/>
          </a:xfrm>
          <a:prstGeom prst="line">
            <a:avLst/>
          </a:prstGeom>
          <a:ln w="508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CE98A85-0F23-B4F7-9263-8293DAE7015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88166" y="1007744"/>
            <a:ext cx="11051375" cy="20518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400" spc="3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Click to edit Sub-heading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0204D2D-B6A6-CCEA-B261-34FCD449EC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16333" y="2338982"/>
            <a:ext cx="360000" cy="360000"/>
          </a:xfrm>
          <a:prstGeom prst="ellipse">
            <a:avLst/>
          </a:prstGeom>
          <a:solidFill>
            <a:schemeClr val="accent2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36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ZA" sz="1050" b="1" dirty="0">
                <a:solidFill>
                  <a:schemeClr val="bg1"/>
                </a:solidFill>
                <a:latin typeface="+mj-lt"/>
              </a:rPr>
              <a:t>01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FBED8F70-6A83-6A79-C597-AC07FA07FA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16332" y="3257727"/>
            <a:ext cx="3161605" cy="9239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None/>
              <a:defRPr sz="660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56%</a:t>
            </a:r>
            <a:endParaRPr lang="en-GB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6E7C9454-95FA-D867-0096-73287630F84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371348" y="2420381"/>
            <a:ext cx="2606585" cy="18703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100" b="1" spc="30" baseline="0">
                <a:solidFill>
                  <a:schemeClr val="accent2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HEADING 1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22DFB2A7-19D8-201D-D1B6-2DF4C112A97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16332" y="5917916"/>
            <a:ext cx="316159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200"/>
              </a:lnSpc>
              <a:spcBef>
                <a:spcPts val="400"/>
              </a:spcBef>
              <a:buNone/>
              <a:defRPr sz="1000">
                <a:solidFill>
                  <a:srgbClr val="A1B3CA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your secondary text here. Click to edit your secondary text here. Click to edit your secondary text here. </a:t>
            </a:r>
            <a:endParaRPr lang="en-ZA" dirty="0"/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A22E1F3A-32B7-9F03-67D5-E7F0B5579946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4651369" y="4350069"/>
            <a:ext cx="3161606" cy="945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50" spc="4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descriptive text for this statistic here. No longer than 5 lines maximum. Insert text here. Insert descriptive text for this statistic here. No longer than 5 lines maximum. Insert text here.</a:t>
            </a:r>
            <a:endParaRPr lang="en-ZA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5B04BC2-8E30-FB0A-2B55-716001C15C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651370" y="2338982"/>
            <a:ext cx="360000" cy="360000"/>
          </a:xfrm>
          <a:prstGeom prst="ellipse">
            <a:avLst/>
          </a:prstGeom>
          <a:solidFill>
            <a:schemeClr val="accent4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36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ZA" sz="1050" b="1" dirty="0">
                <a:solidFill>
                  <a:schemeClr val="bg1"/>
                </a:solidFill>
                <a:latin typeface="+mj-lt"/>
              </a:rPr>
              <a:t>02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8C9EA728-E142-B105-E273-C4667DD07E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4651369" y="3257727"/>
            <a:ext cx="3161605" cy="9239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None/>
              <a:defRPr sz="6600">
                <a:solidFill>
                  <a:schemeClr val="accent4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83%</a:t>
            </a:r>
            <a:endParaRPr lang="en-GB" dirty="0"/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BC6C9632-335F-727B-C720-424EB3DB6F7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5206385" y="2420381"/>
            <a:ext cx="2606585" cy="18703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100" b="1" spc="30" baseline="0">
                <a:solidFill>
                  <a:schemeClr val="accent4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HEADING 2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9C0FAD13-61FF-D4D1-7F7C-E4D218467BE2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4651369" y="5917916"/>
            <a:ext cx="316159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200"/>
              </a:lnSpc>
              <a:spcBef>
                <a:spcPts val="400"/>
              </a:spcBef>
              <a:buNone/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your secondary text here. Click to edit your secondary text here. Click to edit your secondary text here. </a:t>
            </a:r>
            <a:endParaRPr lang="en-ZA" dirty="0"/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6A74D482-268B-0421-EF82-02F10893B3E9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491578" y="4350069"/>
            <a:ext cx="3161606" cy="945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500"/>
              </a:lnSpc>
              <a:spcBef>
                <a:spcPts val="0"/>
              </a:spcBef>
              <a:buNone/>
              <a:defRPr sz="1050" spc="40" baseline="0">
                <a:solidFill>
                  <a:schemeClr val="bg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Insert descriptive text for this statistic here. No longer than 5 lines maximum. Insert text here. Insert descriptive text for this statistic here. No longer than 5 lines maximum. Insert text here.</a:t>
            </a:r>
            <a:endParaRPr lang="en-ZA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CBB9384-A3D2-CE89-2B41-346AC99201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491579" y="2338982"/>
            <a:ext cx="360000" cy="360000"/>
          </a:xfrm>
          <a:prstGeom prst="ellipse">
            <a:avLst/>
          </a:prstGeom>
          <a:solidFill>
            <a:schemeClr val="accent6"/>
          </a:solidFill>
          <a:ln w="190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20361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 algn="ctr"/>
            <a:r>
              <a:rPr lang="en-ZA" sz="1050" b="1" dirty="0">
                <a:solidFill>
                  <a:schemeClr val="bg1"/>
                </a:solidFill>
                <a:latin typeface="+mj-lt"/>
              </a:rPr>
              <a:t>03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540D27BE-145C-400A-6BCC-91A80AF5623B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8491578" y="3257727"/>
            <a:ext cx="3161605" cy="923925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>
              <a:buNone/>
              <a:defRPr sz="6600">
                <a:solidFill>
                  <a:schemeClr val="accent6"/>
                </a:solidFill>
                <a:latin typeface="+mj-lt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US" dirty="0"/>
              <a:t>37%</a:t>
            </a:r>
            <a:endParaRPr lang="en-GB" dirty="0"/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E51841-6B17-DA05-9E77-599843A3D230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9046594" y="2420381"/>
            <a:ext cx="2606585" cy="187039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>
              <a:lnSpc>
                <a:spcPts val="1600"/>
              </a:lnSpc>
              <a:buFont typeface="Calibri" panose="020F0502020204030204" pitchFamily="34" charset="0"/>
              <a:buNone/>
              <a:defRPr sz="1100" b="1" spc="30" baseline="0">
                <a:solidFill>
                  <a:schemeClr val="accent6"/>
                </a:solidFill>
                <a:latin typeface="+mj-lt"/>
              </a:defRPr>
            </a:lvl1pPr>
            <a:lvl2pPr marL="457200" indent="0">
              <a:lnSpc>
                <a:spcPts val="1600"/>
              </a:lnSpc>
              <a:buNone/>
              <a:defRPr sz="1200">
                <a:solidFill>
                  <a:schemeClr val="tx2">
                    <a:lumMod val="50000"/>
                  </a:schemeClr>
                </a:solidFill>
                <a:latin typeface="+mj-lt"/>
              </a:defRPr>
            </a:lvl2pPr>
            <a:lvl3pPr>
              <a:defRPr sz="1050">
                <a:solidFill>
                  <a:schemeClr val="accent5"/>
                </a:solidFill>
              </a:defRPr>
            </a:lvl3pPr>
            <a:lvl4pPr>
              <a:defRPr sz="1050">
                <a:solidFill>
                  <a:schemeClr val="accent5"/>
                </a:solidFill>
              </a:defRPr>
            </a:lvl4pPr>
            <a:lvl5pPr>
              <a:defRPr sz="1050">
                <a:solidFill>
                  <a:schemeClr val="accent5"/>
                </a:solidFill>
              </a:defRPr>
            </a:lvl5pPr>
          </a:lstStyle>
          <a:p>
            <a:pPr lvl="0"/>
            <a:r>
              <a:rPr lang="en-GB" noProof="0" dirty="0"/>
              <a:t>HEADING 3</a:t>
            </a:r>
          </a:p>
        </p:txBody>
      </p:sp>
      <p:sp>
        <p:nvSpPr>
          <p:cNvPr id="43" name="Text Placeholder 22">
            <a:extLst>
              <a:ext uri="{FF2B5EF4-FFF2-40B4-BE49-F238E27FC236}">
                <a16:creationId xmlns:a16="http://schemas.microsoft.com/office/drawing/2014/main" id="{B4E776F3-C3C0-720A-33D9-099EFCE25BAB}"/>
              </a:ext>
            </a:extLst>
          </p:cNvPr>
          <p:cNvSpPr>
            <a:spLocks noGrp="1"/>
          </p:cNvSpPr>
          <p:nvPr>
            <p:ph type="body" sz="quarter" idx="80" hasCustomPrompt="1"/>
          </p:nvPr>
        </p:nvSpPr>
        <p:spPr>
          <a:xfrm>
            <a:off x="8491578" y="5917916"/>
            <a:ext cx="3161599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ts val="1200"/>
              </a:lnSpc>
              <a:spcBef>
                <a:spcPts val="400"/>
              </a:spcBef>
              <a:buNone/>
              <a:defRPr sz="1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1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marL="0" marR="0" lvl="0" indent="0" algn="l" defTabSz="914400" rtl="0" eaLnBrk="1" fontAlgn="auto" latinLnBrk="0" hangingPunct="1">
              <a:lnSpc>
                <a:spcPts val="12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to edit your secondary text here. Click to edit your secondary text here. Click to edit your secondary text here.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019516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9" Type="http://schemas.openxmlformats.org/officeDocument/2006/relationships/slideLayout" Target="../slideLayouts/slideLayout18.xml"/><Relationship Id="rId32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1.xml"/><Relationship Id="rId61" Type="http://schemas.openxmlformats.org/officeDocument/2006/relationships/slideLayout" Target="../slideLayouts/slideLayout60.xml"/><Relationship Id="rId101" Type="http://schemas.openxmlformats.org/officeDocument/2006/relationships/slideLayout" Target="../slideLayouts/slideLayout100.xml"/><Relationship Id="rId157" Type="http://schemas.openxmlformats.org/officeDocument/2006/relationships/slideLayout" Target="../slideLayouts/slideLayout156.xml"/><Relationship Id="rId163" Type="http://schemas.openxmlformats.org/officeDocument/2006/relationships/slideLayout" Target="../slideLayouts/slideLayout1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4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  <p:sldLayoutId id="2147483663" r:id="rId9"/>
    <p:sldLayoutId id="2147483676" r:id="rId19"/>
    <p:sldLayoutId id="2147483689" r:id="rId32"/>
    <p:sldLayoutId id="2147483709" r:id="rId52"/>
    <p:sldLayoutId id="2147483718" r:id="rId61"/>
    <p:sldLayoutId id="2147483758" r:id="rId101"/>
    <p:sldLayoutId id="2147483814" r:id="rId157"/>
    <p:sldLayoutId id="2147483820" r:id="rId16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2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4" Type="http://schemas.openxmlformats.org/officeDocument/2006/relationships/chart" Target="../charts/chart2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6.xml"/><Relationship Id="rId3" Type="http://schemas.openxmlformats.org/officeDocument/2006/relationships/image" Target="../media/image21.jp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0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.photo.merchandis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296B15-D10C-6735-CE77-31B8FC68D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Q3 BUSINESS REVIEW</a:t>
            </a:r>
            <a:br>
              <a:rPr lang="en-ZA"/>
            </a:br>
            <a:r>
              <a:rPr lang="en-ZA"/>
              <a:t>ACME FOODS</a:t>
            </a:r>
          </a:p>
        </p:txBody>
      </p:sp>
    </p:spTree>
    <p:extLst>
      <p:ext uri="{BB962C8B-B14F-4D97-AF65-F5344CB8AC3E}">
        <p14:creationId xmlns:p14="http://schemas.microsoft.com/office/powerpoint/2010/main" val="524695975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itle.one_line_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661415-0365-84FE-A2A4-CAA6F7C28454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ZA"/>
              <a:t>Q3 performance</a:t>
            </a:r>
          </a:p>
          <a:p>
            <a:r>
              <a:rPr lang="en-ZA"/>
              <a:t>How we delivered</a:t>
            </a:r>
          </a:p>
          <a:p>
            <a:r>
              <a:rPr lang="en-ZA"/>
              <a:t>Your team</a:t>
            </a:r>
          </a:p>
          <a:p>
            <a:r>
              <a:rPr lang="en-ZA"/>
              <a:t>Next steps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45CC8A-727F-356D-09F2-C6473776F0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988558-876A-EF97-9D54-36041E580D8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ZA" dirty="0"/>
              <a:t>What we will cover today</a:t>
            </a:r>
          </a:p>
        </p:txBody>
      </p:sp>
    </p:spTree>
    <p:extLst>
      <p:ext uri="{BB962C8B-B14F-4D97-AF65-F5344CB8AC3E}">
        <p14:creationId xmlns:p14="http://schemas.microsoft.com/office/powerpoint/2010/main" val="3678856424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vider.dark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57B43-46AA-EEE2-B61B-30A3B3A6A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Q3 PERFORMANCE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EAAA6-711E-3BCC-1395-583F61FEAF4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ZA"/>
              <a:t>SECTION 01</a:t>
            </a:r>
          </a:p>
        </p:txBody>
      </p:sp>
    </p:spTree>
    <p:extLst>
      <p:ext uri="{BB962C8B-B14F-4D97-AF65-F5344CB8AC3E}">
        <p14:creationId xmlns:p14="http://schemas.microsoft.com/office/powerpoint/2010/main" val="235672042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ts.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F5B511F-E6FD-004B-2C51-687DF188D25C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816332" y="4563713"/>
            <a:ext cx="3161606" cy="945323"/>
          </a:xfrm>
        </p:spPr>
        <p:txBody>
          <a:bodyPr/>
          <a:lstStyle/>
          <a:p>
            <a:r>
              <a:rPr lang="en-US" dirty="0"/>
              <a:t>On-shelf availability, up 4 points on Q2.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A6D17DF-AB6A-6234-59AB-85F17828F4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Q3 RESULTS AT A GLANCE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01685-8990-F532-0A7B-45888E15FF5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ZA" dirty="0"/>
              <a:t>Across 1,240 stores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7E99F9-B0F1-997F-3096-10F505390FC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816332" y="3471371"/>
            <a:ext cx="3161605" cy="923925"/>
          </a:xfrm>
        </p:spPr>
        <p:txBody>
          <a:bodyPr/>
          <a:lstStyle/>
          <a:p>
            <a:r>
              <a:rPr lang="en-ZA" sz="6600" dirty="0"/>
              <a:t>96%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A848F5-7999-D9E7-CEC2-DF242873BDFB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>
          <a:xfrm>
            <a:off x="1371348" y="2420381"/>
            <a:ext cx="2606585" cy="187039"/>
          </a:xfrm>
        </p:spPr>
        <p:txBody>
          <a:bodyPr/>
          <a:lstStyle/>
          <a:p>
            <a:r>
              <a:rPr lang="en-ZA" dirty="0"/>
              <a:t>AVAILABILITY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4F128D9-3074-27CD-DDDE-07669F6F399E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>
          <a:xfrm>
            <a:off x="4651369" y="4563713"/>
            <a:ext cx="3161606" cy="945323"/>
          </a:xfrm>
        </p:spPr>
        <p:txBody>
          <a:bodyPr/>
          <a:lstStyle/>
          <a:p>
            <a:r>
              <a:rPr lang="en-US" dirty="0"/>
              <a:t>Share of shelf in core categories.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7F9282C-168B-3460-BDAE-5303BA28E5AB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>
          <a:xfrm>
            <a:off x="4651369" y="3471371"/>
            <a:ext cx="3161605" cy="923925"/>
          </a:xfrm>
        </p:spPr>
        <p:txBody>
          <a:bodyPr/>
          <a:lstStyle/>
          <a:p>
            <a:r>
              <a:rPr lang="en-ZA" sz="6600" dirty="0"/>
              <a:t>31%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07091D-B7CE-DC9F-2C82-43497F92BAFA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>
          <a:xfrm>
            <a:off x="5206385" y="2420381"/>
            <a:ext cx="2606585" cy="187039"/>
          </a:xfrm>
        </p:spPr>
        <p:txBody>
          <a:bodyPr/>
          <a:lstStyle/>
          <a:p>
            <a:r>
              <a:rPr lang="en-ZA" dirty="0"/>
              <a:t>SHARE OF SHELF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AA0912-A90B-59E8-7548-0186CF81041D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>
          <a:xfrm>
            <a:off x="8491578" y="4563713"/>
            <a:ext cx="3161606" cy="945323"/>
          </a:xfrm>
        </p:spPr>
        <p:txBody>
          <a:bodyPr/>
          <a:lstStyle/>
          <a:p>
            <a:r>
              <a:rPr lang="en-US" dirty="0"/>
              <a:t>Planogram compliance across key accounts.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E4E6422-FC35-F168-0B46-B65C1B6B57DC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>
          <a:xfrm>
            <a:off x="8491578" y="3471371"/>
            <a:ext cx="3161605" cy="923925"/>
          </a:xfrm>
        </p:spPr>
        <p:txBody>
          <a:bodyPr/>
          <a:lstStyle/>
          <a:p>
            <a:r>
              <a:rPr lang="en-ZA" sz="6600" dirty="0"/>
              <a:t>92%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B9AF793-42B1-21AA-9E7B-38CBA257CBB2}"/>
              </a:ext>
            </a:extLst>
          </p:cNvPr>
          <p:cNvSpPr>
            <a:spLocks noGrp="1"/>
          </p:cNvSpPr>
          <p:nvPr>
            <p:ph type="body" sz="quarter" idx="79"/>
          </p:nvPr>
        </p:nvSpPr>
        <p:spPr>
          <a:xfrm>
            <a:off x="9046594" y="2420381"/>
            <a:ext cx="2606585" cy="187039"/>
          </a:xfrm>
        </p:spPr>
        <p:txBody>
          <a:bodyPr/>
          <a:lstStyle/>
          <a:p>
            <a:r>
              <a:rPr lang="en-ZA" dirty="0"/>
              <a:t>COMPLIANCE</a:t>
            </a:r>
          </a:p>
        </p:txBody>
      </p:sp>
    </p:spTree>
    <p:extLst>
      <p:ext uri="{BB962C8B-B14F-4D97-AF65-F5344CB8AC3E}">
        <p14:creationId xmlns:p14="http://schemas.microsoft.com/office/powerpoint/2010/main" val="1519206043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raphs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042B7A-F6F8-FEC5-ACC9-00627C39E5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HOW Q3 VALUE BUILT UP (R MILLION)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40" sz="quarter"/>
          </p:nvPr>
        </p:nvGraphicFramePr>
        <p:xfrm>
          <a:off x="585789" y="1111250"/>
          <a:ext cx="11051374" cy="533558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  <p:extLst>
      <p:ext uri="{BB962C8B-B14F-4D97-AF65-F5344CB8AC3E}">
        <p14:creationId xmlns:p14="http://schemas.microsoft.com/office/powerpoint/2010/main" val="2837092179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s.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Placeholder 4">
            <a:extLst>
              <a:ext uri="{FF2B5EF4-FFF2-40B4-BE49-F238E27FC236}">
                <a16:creationId xmlns:a16="http://schemas.microsoft.com/office/drawing/2014/main" id="{BCD67AE6-D533-5326-FC6F-FA3B7DEC2EFC}"/>
              </a:ext>
            </a:extLst>
          </p:cNvPr>
          <p:cNvGraphicFramePr>
            <a:graphicFrameLocks noGrp="1"/>
          </p:cNvGraphicFramePr>
          <p:nvPr>
            <p:ph type="tbl" sz="quarter" idx="39"/>
            <p:extLst>
              <p:ext uri="{D42A27DB-BD31-4B8C-83A1-F6EECF244321}">
                <p14:modId xmlns:p14="http://schemas.microsoft.com/office/powerpoint/2010/main" val="3738508674"/>
              </p:ext>
            </p:extLst>
          </p:nvPr>
        </p:nvGraphicFramePr>
        <p:xfrm>
          <a:off x="587375" y="1528763"/>
          <a:ext cx="11052174" cy="44714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63043">
                  <a:extLst>
                    <a:ext uri="{9D8B030D-6E8A-4147-A177-3AD203B41FA5}">
                      <a16:colId xmlns:a16="http://schemas.microsoft.com/office/drawing/2014/main" val="2070664791"/>
                    </a:ext>
                  </a:extLst>
                </a:gridCol>
                <a:gridCol w="2763043">
                  <a:extLst>
                    <a:ext uri="{9D8B030D-6E8A-4147-A177-3AD203B41FA5}">
                      <a16:colId xmlns:a16="http://schemas.microsoft.com/office/drawing/2014/main" val="2124677815"/>
                    </a:ext>
                  </a:extLst>
                </a:gridCol>
                <a:gridCol w="2763043">
                  <a:extLst>
                    <a:ext uri="{9D8B030D-6E8A-4147-A177-3AD203B41FA5}">
                      <a16:colId xmlns:a16="http://schemas.microsoft.com/office/drawing/2014/main" val="955265556"/>
                    </a:ext>
                  </a:extLst>
                </a:gridCol>
                <a:gridCol w="2763043">
                  <a:extLst>
                    <a:ext uri="{9D8B030D-6E8A-4147-A177-3AD203B41FA5}">
                      <a16:colId xmlns:a16="http://schemas.microsoft.com/office/drawing/2014/main" val="1599705045"/>
                    </a:ext>
                  </a:extLst>
                </a:gridCol>
              </a:tblGrid>
              <a:tr h="500334">
                <a:tc>
                  <a:txBody>
                    <a:bodyPr/>
                    <a:lstStyle/>
                    <a:p>
                      <a:pPr algn="ctr"/>
                      <a:r>
                        <a:rPr lang="en-US" sz="1050" b="1" spc="40" baseline="0" dirty="0">
                          <a:solidFill>
                            <a:schemeClr val="bg1"/>
                          </a:solidFill>
                          <a:latin typeface="+mj-lt"/>
                        </a:rPr>
                        <a:t>ACCOUNT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spc="40" baseline="0" dirty="0">
                          <a:solidFill>
                            <a:schemeClr val="bg1"/>
                          </a:solidFill>
                          <a:latin typeface="+mj-lt"/>
                        </a:rPr>
                        <a:t>OSA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spc="40" baseline="0" dirty="0">
                          <a:solidFill>
                            <a:schemeClr val="bg1"/>
                          </a:solidFill>
                          <a:latin typeface="+mj-lt"/>
                        </a:rPr>
                        <a:t>SHARE OF SHELF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spc="40" baseline="0" dirty="0">
                          <a:solidFill>
                            <a:schemeClr val="bg1"/>
                          </a:solidFill>
                          <a:latin typeface="+mj-lt"/>
                        </a:rPr>
                        <a:t>PROMO ON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92595"/>
                  </a:ext>
                </a:extLst>
              </a:tr>
              <a:tr h="397111">
                <a:tc>
                  <a:txBody>
                    <a:bodyPr/>
                    <a:lstStyle/>
                    <a:p>
                      <a:pPr algn="ctr"/>
                      <a:r>
                        <a:rPr lang="en-US" sz="1000" b="1" spc="40" baseline="0" dirty="0">
                          <a:solidFill>
                            <a:schemeClr val="accent1"/>
                          </a:solidFill>
                          <a:latin typeface="+mj-lt"/>
                        </a:rPr>
                        <a:t>Retailer 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3"/>
                          </a:solidFill>
                          <a:sym typeface="Wingdings 2" panose="05020102010507070707" pitchFamily="18" charset="2"/>
                        </a:rPr>
                        <a:t>97%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4"/>
                          </a:solidFill>
                        </a:rPr>
                        <a:t>33%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6"/>
                          </a:solidFill>
                          <a:sym typeface="Wingdings 2" panose="05020102010507070707" pitchFamily="18" charset="2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02739"/>
                  </a:ext>
                </a:extLst>
              </a:tr>
              <a:tr h="397111">
                <a:tc>
                  <a:txBody>
                    <a:bodyPr/>
                    <a:lstStyle/>
                    <a:p>
                      <a:pPr algn="ctr"/>
                      <a:r>
                        <a:rPr lang="en-US" sz="1000" b="1" spc="40" baseline="0" dirty="0">
                          <a:solidFill>
                            <a:schemeClr val="accent1"/>
                          </a:solidFill>
                          <a:latin typeface="+mj-lt"/>
                        </a:rPr>
                        <a:t>Retailer 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3"/>
                          </a:solidFill>
                        </a:rPr>
                        <a:t>95%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4"/>
                          </a:solidFill>
                          <a:sym typeface="Wingdings 2" panose="05020102010507070707" pitchFamily="18" charset="2"/>
                        </a:rPr>
                        <a:t>30%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dirty="0">
                          <a:solidFill>
                            <a:schemeClr val="accent6"/>
                          </a:solidFill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226257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65A5FEFE-504E-8C44-86A4-179D7637B0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/>
              <a:t>PERFORMANCE BY ACCOUNT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D06D96-4B50-6BF7-910E-1399799EEFD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r>
              <a:rPr lang="en-ZA"/>
              <a:t>Q3 actuals vs. target</a:t>
            </a:r>
          </a:p>
        </p:txBody>
      </p:sp>
    </p:spTree>
    <p:extLst>
      <p:ext uri="{BB962C8B-B14F-4D97-AF65-F5344CB8AC3E}">
        <p14:creationId xmlns:p14="http://schemas.microsoft.com/office/powerpoint/2010/main" val="1001717069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ts.1_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A167A14-07B5-07BF-110B-E40C04BC484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1149618" y="5006903"/>
            <a:ext cx="4268416" cy="560603"/>
          </a:xfrm>
        </p:spPr>
        <p:txBody>
          <a:bodyPr/>
          <a:lstStyle/>
          <a:p>
            <a:r>
              <a:rPr lang="en-US" dirty="0"/>
              <a:t>Out-of-stocks fixed within two days.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079D41-95BA-2FA7-E603-A7A2364DD8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ONE NUMBER THAT MATTERS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D53812-5659-9D2A-997E-CC679D1FD479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r>
              <a:rPr lang="en-US" dirty="0"/>
              <a:t>89%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FB071F-DE6F-C509-39F3-D089530B6C7E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r>
              <a:rPr lang="en-US" dirty="0"/>
              <a:t>RESOLVED IN 48H</a:t>
            </a:r>
          </a:p>
        </p:txBody>
      </p:sp>
      <p:pic>
        <p:nvPicPr>
          <p:cNvPr id="8" name="Picture Placeholder 7" descr="image.jpg"/>
          <p:cNvPicPr>
            <a:picLocks noGrp="1" noChangeAspect="1"/>
          </p:cNvPicPr>
          <p:nvPr>
            <p:ph type="pic" idx="31" sz="quarter"/>
          </p:nvPr>
        </p:nvPicPr>
        <p:blipFill>
          <a:blip r:embed="rId3"/>
          <a:srcRect l="16914" r="1691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89833554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rg.t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6B2E28-4E16-E88B-F9F5-CA70DEF02D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/>
              <a:t>YOUR TEAM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12669" y="294211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855369" y="3216432"/>
            <a:ext cx="2514600" cy="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855369" y="321643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855369" y="413083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855369" y="440515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66649" y="4679472"/>
            <a:ext cx="2377440" cy="640080"/>
          </a:xfrm>
          <a:prstGeom prst="rect">
            <a:avLst/>
          </a:prstGeom>
          <a:solidFill>
            <a:srgbClr val="0050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ANN LEE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Team Leader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66649" y="3490752"/>
            <a:ext cx="2377440" cy="640080"/>
          </a:xfrm>
          <a:prstGeom prst="rect">
            <a:avLst/>
          </a:prstGeom>
          <a:solidFill>
            <a:srgbClr val="16B7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SIPHO DLAMINI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Field Manager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69969" y="3216432"/>
            <a:ext cx="0" cy="274320"/>
          </a:xfrm>
          <a:prstGeom prst="line">
            <a:avLst/>
          </a:prstGeom>
          <a:ln w="12700">
            <a:solidFill>
              <a:srgbClr val="B4C3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181249" y="3490752"/>
            <a:ext cx="2377440" cy="640080"/>
          </a:xfrm>
          <a:prstGeom prst="rect">
            <a:avLst/>
          </a:prstGeom>
          <a:solidFill>
            <a:srgbClr val="16B7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MARIA SILVA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Insights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23949" y="2302032"/>
            <a:ext cx="2377440" cy="640080"/>
          </a:xfrm>
          <a:prstGeom prst="rect">
            <a:avLst/>
          </a:prstGeom>
          <a:solidFill>
            <a:srgbClr val="002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1">
                <a:solidFill>
                  <a:srgbClr val="FFFFFF"/>
                </a:solidFill>
                <a:latin typeface="Montserrat"/>
              </a:rPr>
              <a:t>JANE DOE</a:t>
            </a:r>
          </a:p>
          <a:p>
            <a:pPr algn="ctr"/>
            <a:r>
              <a:rPr sz="800">
                <a:solidFill>
                  <a:srgbClr val="FFFFFF"/>
                </a:solidFill>
                <a:latin typeface="Calibri"/>
              </a:rPr>
              <a:t>Client Lead</a:t>
            </a:r>
          </a:p>
        </p:txBody>
      </p:sp>
    </p:spTree>
    <p:extLst>
      <p:ext uri="{BB962C8B-B14F-4D97-AF65-F5344CB8AC3E}">
        <p14:creationId xmlns:p14="http://schemas.microsoft.com/office/powerpoint/2010/main" val="1653409154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ankyou.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EF12-F00F-0355-C84E-EE10A29F24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C28ACF-53E4-96A5-C001-D1915A05271A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ZA"/>
              <a:t>FOR THE OPPORTUNITY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309EB-430B-CC15-9547-D0077EBAD18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en-ZA"/>
              <a:t>Thank you for a strong quarter together.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A446A3-3D83-7FA3-134A-2C68B322C22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en-ZA"/>
              <a:t>Agree Q4 targets by 31 October</a:t>
            </a:r>
          </a:p>
          <a:p>
            <a:r>
              <a:rPr lang="en-ZA"/>
              <a:t>Monthly performance reviews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F876283-B62D-F1A2-9DDE-338D71276E7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ZA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2958416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MOLLAN 2021">
      <a:dk1>
        <a:srgbClr val="B4C3CE"/>
      </a:dk1>
      <a:lt1>
        <a:srgbClr val="FFFFFF"/>
      </a:lt1>
      <a:dk2>
        <a:srgbClr val="00284E"/>
      </a:dk2>
      <a:lt2>
        <a:srgbClr val="EFF2F6"/>
      </a:lt2>
      <a:accent1>
        <a:srgbClr val="005083"/>
      </a:accent1>
      <a:accent2>
        <a:srgbClr val="16B795"/>
      </a:accent2>
      <a:accent3>
        <a:srgbClr val="0079C0"/>
      </a:accent3>
      <a:accent4>
        <a:srgbClr val="00BBF0"/>
      </a:accent4>
      <a:accent5>
        <a:srgbClr val="37465B"/>
      </a:accent5>
      <a:accent6>
        <a:srgbClr val="8AC546"/>
      </a:accent6>
      <a:hlink>
        <a:srgbClr val="549AD3"/>
      </a:hlink>
      <a:folHlink>
        <a:srgbClr val="0E1D29"/>
      </a:folHlink>
    </a:clrScheme>
    <a:fontScheme name="SMOLLAN FONTS">
      <a:majorFont>
        <a:latin typeface="Montserra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25</Words>
  <Application>Microsoft Office PowerPoint</Application>
  <PresentationFormat>Widescreen</PresentationFormat>
  <Paragraphs>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TO USE THIS PACK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Smollan master template</dc:title>
  <dc:creator>Smollan Design System</dc:creator>
  <cp:lastModifiedBy>Smollan Design System</cp:lastModifiedBy>
  <cp:revision>28</cp:revision>
  <dcterms:created xsi:type="dcterms:W3CDTF">2024-02-06T14:31:56Z</dcterms:created>
  <dcterms:modified xsi:type="dcterms:W3CDTF">2024-02-25T11:22:04Z</dcterms:modified>
  <dc:description/>
  <cp:keywords/>
  <dc:subject/>
</cp:coreProperties>
</file>