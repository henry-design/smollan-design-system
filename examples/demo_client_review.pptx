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4.xml" ContentType="application/vnd.openxmlformats-officedocument.drawingml.chart+xml"/>
  <Override PartName="/ppt/charts/colors23.xml" ContentType="application/vnd.ms-office.chartcolorstyle+xml"/>
  <Override PartName="/ppt/charts/style23.xml" ContentType="application/vnd.ms-office.chartstyle+xml"/>
  <Override PartName="/ppt/media/image21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456" r:id="rId195"/>
    <p:sldId id="457" r:id="rId196"/>
    <p:sldId id="458" r:id="rId197"/>
    <p:sldId id="459" r:id="rId198"/>
    <p:sldId id="460" r:id="rId199"/>
    <p:sldId id="461" r:id="rId200"/>
    <p:sldId id="462" r:id="rId201"/>
    <p:sldId id="463" r:id="rId202"/>
    <p:sldId id="464" r:id="rId203"/>
    <p:sldId id="465" r:id="rId204"/>
    <p:sldId id="466" r:id="rId205"/>
    <p:sldId id="467" r:id="rId206"/>
    <p:sldId id="468" r:id="rId2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B895"/>
    <a:srgbClr val="E8E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Relationship Id="rId206" Type="http://schemas.openxmlformats.org/officeDocument/2006/relationships/slide" Target="slides/slide201.xml"/><Relationship Id="rId207" Type="http://schemas.openxmlformats.org/officeDocument/2006/relationships/slide" Target="slides/slide202.xml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6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0" i="0" u="none" strike="noStrike" kern="1200" spc="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pPr>
            <a:r>
              <a:rPr lang="en-ZA" sz="12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Chart Title</a:t>
            </a:r>
          </a:p>
        </c:rich>
      </c:tx>
      <c:layout>
        <c:manualLayout>
          <c:xMode val="edge"/>
          <c:yMode val="edge"/>
          <c:x val="8.3895995751178027E-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0" i="0" u="none" strike="noStrike" kern="1200" spc="0" baseline="0">
              <a:solidFill>
                <a:schemeClr val="accent5"/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41.2</c:v>
                </c:pt>
                <c:pt idx="1">
                  <c:v>43.0</c:v>
                </c:pt>
                <c:pt idx="2">
                  <c:v>44.1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F-44CC-94A3-F6631C6B78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45.8</c:v>
                </c:pt>
                <c:pt idx="1">
                  <c:v>48.3</c:v>
                </c:pt>
                <c:pt idx="2">
                  <c:v>50.6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CF-44CC-94A3-F6631C6B786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24906927"/>
        <c:axId val="1569471567"/>
      </c:barChart>
      <c:catAx>
        <c:axId val="224906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9471567"/>
        <c:crosses val="autoZero"/>
        <c:auto val="1"/>
        <c:lblAlgn val="ctr"/>
        <c:lblOffset val="100"/>
        <c:noMultiLvlLbl val="0"/>
      </c:catAx>
      <c:valAx>
        <c:axId val="1569471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4906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9.198606372675304E-4"/>
          <c:y val="0.93209216297627229"/>
          <c:w val="0.19367812768679166"/>
          <c:h val="5.18004544733921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1.sv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51.svg"/><Relationship Id="rId4" Type="http://schemas.openxmlformats.org/officeDocument/2006/relationships/image" Target="../media/image63.png"/><Relationship Id="rId5" Type="http://schemas.openxmlformats.org/officeDocument/2006/relationships/image" Target="../media/image53.svg"/><Relationship Id="rId6" Type="http://schemas.openxmlformats.org/officeDocument/2006/relationships/image" Target="../media/image62.png"/><Relationship Id="rId7" Type="http://schemas.openxmlformats.org/officeDocument/2006/relationships/image" Target="../media/image52.svg"/><Relationship Id="rId8" Type="http://schemas.openxmlformats.org/officeDocument/2006/relationships/image" Target="../media/image60.png"/><Relationship Id="rId9" Type="http://schemas.openxmlformats.org/officeDocument/2006/relationships/image" Target="../media/image5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| COVER - Shape Dark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4DF2-3D17-7669-C6B8-575E5409A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6068" y="3703304"/>
            <a:ext cx="6579864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spc="40" baseline="0">
                <a:solidFill>
                  <a:schemeClr val="bg1"/>
                </a:solidFill>
              </a:defRPr>
            </a:lvl1pPr>
          </a:lstStyle>
          <a:p>
            <a:r>
              <a:rPr lang="en-ZA" noProof="0"/>
              <a:t>Click to add Presentation Title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47D2B2-31BC-B1FA-3B7A-C6259F43C4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6068" y="3197583"/>
            <a:ext cx="1370149" cy="19831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B01BB6-8DD6-0720-7D79-A3E6118F53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06068" y="5119688"/>
            <a:ext cx="3289932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200" spc="50" baseline="0">
                <a:solidFill>
                  <a:schemeClr val="accent3">
                    <a:alpha val="3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ZA" noProof="0" dirty="0"/>
              <a:t>EDIT PRESENTER NAME &amp;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6B5DEAD-2966-20A8-A11D-4E8315A0C0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06068" y="5343998"/>
            <a:ext cx="3289932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200" spc="50" baseline="0">
                <a:solidFill>
                  <a:schemeClr val="accent3">
                    <a:alpha val="3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ZA" noProof="0" dirty="0"/>
              <a:t>EDIT DATE</a:t>
            </a:r>
          </a:p>
        </p:txBody>
      </p:sp>
    </p:spTree>
    <p:extLst>
      <p:ext uri="{BB962C8B-B14F-4D97-AF65-F5344CB8AC3E}">
        <p14:creationId xmlns:p14="http://schemas.microsoft.com/office/powerpoint/2010/main" val="385848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| DIVIDER - Shape Dark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6655-CA7A-6637-8AA8-A022517F3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5118" y="1366508"/>
            <a:ext cx="4659943" cy="8863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ZA" noProof="0"/>
              <a:t>Short Divider Title is Placed over Two Lines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2B7B9E-5495-F802-4DDC-A5E107F110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220171" y="1607710"/>
            <a:ext cx="0" cy="403994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732341-4AAD-77EF-8331-ADA41F0028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17619" y="6387351"/>
            <a:ext cx="1124672" cy="16278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784110-334E-2DE4-CCCE-522FC9177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9950" y="1374773"/>
            <a:ext cx="2672893" cy="914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ZA" noProof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94558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| 3_Title Slide - ONE + Sub-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1F541EA-1442-A627-D2BE-7C37818F793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8166" y="1750770"/>
            <a:ext cx="11051375" cy="4695279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600"/>
              </a:lnSpc>
              <a:buFont typeface="Calibri" panose="020F0502020204030204" pitchFamily="34" charset="0"/>
              <a:buChar char="+"/>
              <a:defRPr sz="1100"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ts val="1600"/>
              </a:lnSpc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</p:spTree>
    <p:extLst>
      <p:ext uri="{BB962C8B-B14F-4D97-AF65-F5344CB8AC3E}">
        <p14:creationId xmlns:p14="http://schemas.microsoft.com/office/powerpoint/2010/main" val="9019516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3 | 6_Thank you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88BABE-9D3D-438B-3367-C555A0A1ED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0212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0DB626-CB34-FD26-E9BF-E8F4E299CC36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auto">
          <a:xfrm>
            <a:off x="8574296" y="-1318"/>
            <a:ext cx="3617702" cy="2182543"/>
            <a:chOff x="4539" y="-4"/>
            <a:chExt cx="3156" cy="190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5B3AE9-06A4-96BD-89E1-2D3B563BA6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225"/>
              <a:ext cx="1187" cy="1446"/>
            </a:xfrm>
            <a:custGeom>
              <a:avLst/>
              <a:gdLst>
                <a:gd name="T0" fmla="*/ 909 w 1187"/>
                <a:gd name="T1" fmla="*/ 0 h 1446"/>
                <a:gd name="T2" fmla="*/ 0 w 1187"/>
                <a:gd name="T3" fmla="*/ 910 h 1446"/>
                <a:gd name="T4" fmla="*/ 534 w 1187"/>
                <a:gd name="T5" fmla="*/ 910 h 1446"/>
                <a:gd name="T6" fmla="*/ 534 w 1187"/>
                <a:gd name="T7" fmla="*/ 1446 h 1446"/>
                <a:gd name="T8" fmla="*/ 1187 w 1187"/>
                <a:gd name="T9" fmla="*/ 793 h 1446"/>
                <a:gd name="T10" fmla="*/ 1187 w 1187"/>
                <a:gd name="T11" fmla="*/ 534 h 1446"/>
                <a:gd name="T12" fmla="*/ 909 w 1187"/>
                <a:gd name="T13" fmla="*/ 534 h 1446"/>
                <a:gd name="T14" fmla="*/ 909 w 1187"/>
                <a:gd name="T15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7" h="1446">
                  <a:moveTo>
                    <a:pt x="909" y="0"/>
                  </a:moveTo>
                  <a:lnTo>
                    <a:pt x="0" y="910"/>
                  </a:lnTo>
                  <a:lnTo>
                    <a:pt x="534" y="910"/>
                  </a:lnTo>
                  <a:lnTo>
                    <a:pt x="534" y="1446"/>
                  </a:lnTo>
                  <a:lnTo>
                    <a:pt x="1187" y="793"/>
                  </a:lnTo>
                  <a:lnTo>
                    <a:pt x="1187" y="534"/>
                  </a:lnTo>
                  <a:lnTo>
                    <a:pt x="909" y="5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2581D95-8E88-FA7F-E8C0-2760FB722B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225"/>
              <a:ext cx="1187" cy="1446"/>
            </a:xfrm>
            <a:custGeom>
              <a:avLst/>
              <a:gdLst>
                <a:gd name="T0" fmla="*/ 909 w 1187"/>
                <a:gd name="T1" fmla="*/ 0 h 1446"/>
                <a:gd name="T2" fmla="*/ 0 w 1187"/>
                <a:gd name="T3" fmla="*/ 910 h 1446"/>
                <a:gd name="T4" fmla="*/ 534 w 1187"/>
                <a:gd name="T5" fmla="*/ 910 h 1446"/>
                <a:gd name="T6" fmla="*/ 534 w 1187"/>
                <a:gd name="T7" fmla="*/ 1446 h 1446"/>
                <a:gd name="T8" fmla="*/ 1187 w 1187"/>
                <a:gd name="T9" fmla="*/ 793 h 1446"/>
                <a:gd name="T10" fmla="*/ 1187 w 1187"/>
                <a:gd name="T11" fmla="*/ 534 h 1446"/>
                <a:gd name="T12" fmla="*/ 909 w 1187"/>
                <a:gd name="T13" fmla="*/ 534 h 1446"/>
                <a:gd name="T14" fmla="*/ 909 w 1187"/>
                <a:gd name="T15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7" h="1446">
                  <a:moveTo>
                    <a:pt x="909" y="0"/>
                  </a:moveTo>
                  <a:lnTo>
                    <a:pt x="0" y="910"/>
                  </a:lnTo>
                  <a:lnTo>
                    <a:pt x="534" y="910"/>
                  </a:lnTo>
                  <a:lnTo>
                    <a:pt x="534" y="1446"/>
                  </a:lnTo>
                  <a:lnTo>
                    <a:pt x="1187" y="793"/>
                  </a:lnTo>
                  <a:lnTo>
                    <a:pt x="1187" y="534"/>
                  </a:lnTo>
                  <a:lnTo>
                    <a:pt x="909" y="534"/>
                  </a:lnTo>
                  <a:lnTo>
                    <a:pt x="90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D0E5ED-2ACA-93F9-E295-9855B4213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1135"/>
              <a:ext cx="534" cy="536"/>
            </a:xfrm>
            <a:custGeom>
              <a:avLst/>
              <a:gdLst>
                <a:gd name="T0" fmla="*/ 147 w 534"/>
                <a:gd name="T1" fmla="*/ 389 h 536"/>
                <a:gd name="T2" fmla="*/ 147 w 534"/>
                <a:gd name="T3" fmla="*/ 147 h 536"/>
                <a:gd name="T4" fmla="*/ 387 w 534"/>
                <a:gd name="T5" fmla="*/ 147 h 536"/>
                <a:gd name="T6" fmla="*/ 387 w 534"/>
                <a:gd name="T7" fmla="*/ 389 h 536"/>
                <a:gd name="T8" fmla="*/ 147 w 534"/>
                <a:gd name="T9" fmla="*/ 389 h 536"/>
                <a:gd name="T10" fmla="*/ 534 w 534"/>
                <a:gd name="T11" fmla="*/ 536 h 536"/>
                <a:gd name="T12" fmla="*/ 534 w 534"/>
                <a:gd name="T13" fmla="*/ 0 h 536"/>
                <a:gd name="T14" fmla="*/ 0 w 534"/>
                <a:gd name="T15" fmla="*/ 0 h 536"/>
                <a:gd name="T16" fmla="*/ 0 w 534"/>
                <a:gd name="T17" fmla="*/ 536 h 536"/>
                <a:gd name="T18" fmla="*/ 534 w 534"/>
                <a:gd name="T19" fmla="*/ 53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4" h="536">
                  <a:moveTo>
                    <a:pt x="147" y="389"/>
                  </a:moveTo>
                  <a:lnTo>
                    <a:pt x="147" y="147"/>
                  </a:lnTo>
                  <a:lnTo>
                    <a:pt x="387" y="147"/>
                  </a:lnTo>
                  <a:lnTo>
                    <a:pt x="387" y="389"/>
                  </a:lnTo>
                  <a:lnTo>
                    <a:pt x="147" y="389"/>
                  </a:lnTo>
                  <a:close/>
                  <a:moveTo>
                    <a:pt x="534" y="536"/>
                  </a:moveTo>
                  <a:lnTo>
                    <a:pt x="534" y="0"/>
                  </a:lnTo>
                  <a:lnTo>
                    <a:pt x="0" y="0"/>
                  </a:lnTo>
                  <a:lnTo>
                    <a:pt x="0" y="536"/>
                  </a:lnTo>
                  <a:lnTo>
                    <a:pt x="534" y="536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FC95BD-3F5D-42F0-51FF-890F5313C3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7417" y="225"/>
              <a:ext cx="278" cy="534"/>
            </a:xfrm>
            <a:custGeom>
              <a:avLst/>
              <a:gdLst>
                <a:gd name="T0" fmla="*/ 0 w 278"/>
                <a:gd name="T1" fmla="*/ 534 h 534"/>
                <a:gd name="T2" fmla="*/ 278 w 278"/>
                <a:gd name="T3" fmla="*/ 534 h 534"/>
                <a:gd name="T4" fmla="*/ 278 w 278"/>
                <a:gd name="T5" fmla="*/ 387 h 534"/>
                <a:gd name="T6" fmla="*/ 147 w 278"/>
                <a:gd name="T7" fmla="*/ 387 h 534"/>
                <a:gd name="T8" fmla="*/ 147 w 278"/>
                <a:gd name="T9" fmla="*/ 147 h 534"/>
                <a:gd name="T10" fmla="*/ 278 w 278"/>
                <a:gd name="T11" fmla="*/ 147 h 534"/>
                <a:gd name="T12" fmla="*/ 278 w 278"/>
                <a:gd name="T13" fmla="*/ 0 h 534"/>
                <a:gd name="T14" fmla="*/ 0 w 278"/>
                <a:gd name="T15" fmla="*/ 0 h 534"/>
                <a:gd name="T16" fmla="*/ 0 w 278"/>
                <a:gd name="T17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" h="534">
                  <a:moveTo>
                    <a:pt x="0" y="534"/>
                  </a:moveTo>
                  <a:lnTo>
                    <a:pt x="278" y="534"/>
                  </a:lnTo>
                  <a:lnTo>
                    <a:pt x="278" y="387"/>
                  </a:lnTo>
                  <a:lnTo>
                    <a:pt x="147" y="387"/>
                  </a:lnTo>
                  <a:lnTo>
                    <a:pt x="147" y="147"/>
                  </a:lnTo>
                  <a:lnTo>
                    <a:pt x="278" y="147"/>
                  </a:lnTo>
                  <a:lnTo>
                    <a:pt x="278" y="0"/>
                  </a:lnTo>
                  <a:lnTo>
                    <a:pt x="0" y="0"/>
                  </a:lnTo>
                  <a:lnTo>
                    <a:pt x="0" y="534"/>
                  </a:lnTo>
                  <a:close/>
                </a:path>
              </a:pathLst>
            </a:custGeom>
            <a:solidFill>
              <a:srgbClr val="1DB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FD39D1-B771-DD02-62D2-ABAB9582AC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453"/>
              <a:ext cx="1445" cy="144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A06B4B2-A022-23CF-1D71-3DF65EDB4C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453"/>
              <a:ext cx="1445" cy="144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5D4B90A-CCEF-B554-C21E-0406514CD4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1363"/>
              <a:ext cx="536" cy="537"/>
            </a:xfrm>
            <a:custGeom>
              <a:avLst/>
              <a:gdLst>
                <a:gd name="T0" fmla="*/ 195 w 536"/>
                <a:gd name="T1" fmla="*/ 537 h 537"/>
                <a:gd name="T2" fmla="*/ 195 w 536"/>
                <a:gd name="T3" fmla="*/ 342 h 537"/>
                <a:gd name="T4" fmla="*/ 0 w 536"/>
                <a:gd name="T5" fmla="*/ 342 h 537"/>
                <a:gd name="T6" fmla="*/ 0 w 536"/>
                <a:gd name="T7" fmla="*/ 195 h 537"/>
                <a:gd name="T8" fmla="*/ 195 w 536"/>
                <a:gd name="T9" fmla="*/ 195 h 537"/>
                <a:gd name="T10" fmla="*/ 195 w 536"/>
                <a:gd name="T11" fmla="*/ 0 h 537"/>
                <a:gd name="T12" fmla="*/ 341 w 536"/>
                <a:gd name="T13" fmla="*/ 0 h 537"/>
                <a:gd name="T14" fmla="*/ 341 w 536"/>
                <a:gd name="T15" fmla="*/ 195 h 537"/>
                <a:gd name="T16" fmla="*/ 536 w 536"/>
                <a:gd name="T17" fmla="*/ 195 h 537"/>
                <a:gd name="T18" fmla="*/ 536 w 536"/>
                <a:gd name="T19" fmla="*/ 342 h 537"/>
                <a:gd name="T20" fmla="*/ 341 w 536"/>
                <a:gd name="T21" fmla="*/ 342 h 537"/>
                <a:gd name="T22" fmla="*/ 341 w 536"/>
                <a:gd name="T23" fmla="*/ 537 h 537"/>
                <a:gd name="T24" fmla="*/ 195 w 536"/>
                <a:gd name="T2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6" h="537">
                  <a:moveTo>
                    <a:pt x="195" y="537"/>
                  </a:moveTo>
                  <a:lnTo>
                    <a:pt x="195" y="342"/>
                  </a:lnTo>
                  <a:lnTo>
                    <a:pt x="0" y="342"/>
                  </a:lnTo>
                  <a:lnTo>
                    <a:pt x="0" y="195"/>
                  </a:lnTo>
                  <a:lnTo>
                    <a:pt x="195" y="195"/>
                  </a:lnTo>
                  <a:lnTo>
                    <a:pt x="195" y="0"/>
                  </a:lnTo>
                  <a:lnTo>
                    <a:pt x="341" y="0"/>
                  </a:lnTo>
                  <a:lnTo>
                    <a:pt x="341" y="195"/>
                  </a:lnTo>
                  <a:lnTo>
                    <a:pt x="536" y="195"/>
                  </a:lnTo>
                  <a:lnTo>
                    <a:pt x="536" y="342"/>
                  </a:lnTo>
                  <a:lnTo>
                    <a:pt x="341" y="342"/>
                  </a:lnTo>
                  <a:lnTo>
                    <a:pt x="341" y="537"/>
                  </a:lnTo>
                  <a:lnTo>
                    <a:pt x="195" y="537"/>
                  </a:lnTo>
                  <a:close/>
                </a:path>
              </a:pathLst>
            </a:custGeom>
            <a:solidFill>
              <a:srgbClr val="0D7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F270865-D600-F266-19C7-67630AFF75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5450" y="453"/>
              <a:ext cx="534" cy="535"/>
            </a:xfrm>
            <a:custGeom>
              <a:avLst/>
              <a:gdLst>
                <a:gd name="T0" fmla="*/ 195 w 534"/>
                <a:gd name="T1" fmla="*/ 535 h 535"/>
                <a:gd name="T2" fmla="*/ 195 w 534"/>
                <a:gd name="T3" fmla="*/ 340 h 535"/>
                <a:gd name="T4" fmla="*/ 0 w 534"/>
                <a:gd name="T5" fmla="*/ 340 h 535"/>
                <a:gd name="T6" fmla="*/ 0 w 534"/>
                <a:gd name="T7" fmla="*/ 193 h 535"/>
                <a:gd name="T8" fmla="*/ 195 w 534"/>
                <a:gd name="T9" fmla="*/ 193 h 535"/>
                <a:gd name="T10" fmla="*/ 195 w 534"/>
                <a:gd name="T11" fmla="*/ 0 h 535"/>
                <a:gd name="T12" fmla="*/ 342 w 534"/>
                <a:gd name="T13" fmla="*/ 0 h 535"/>
                <a:gd name="T14" fmla="*/ 342 w 534"/>
                <a:gd name="T15" fmla="*/ 193 h 535"/>
                <a:gd name="T16" fmla="*/ 534 w 534"/>
                <a:gd name="T17" fmla="*/ 193 h 535"/>
                <a:gd name="T18" fmla="*/ 534 w 534"/>
                <a:gd name="T19" fmla="*/ 340 h 535"/>
                <a:gd name="T20" fmla="*/ 342 w 534"/>
                <a:gd name="T21" fmla="*/ 340 h 535"/>
                <a:gd name="T22" fmla="*/ 342 w 534"/>
                <a:gd name="T23" fmla="*/ 535 h 535"/>
                <a:gd name="T24" fmla="*/ 195 w 534"/>
                <a:gd name="T2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4" h="535">
                  <a:moveTo>
                    <a:pt x="195" y="535"/>
                  </a:moveTo>
                  <a:lnTo>
                    <a:pt x="195" y="340"/>
                  </a:lnTo>
                  <a:lnTo>
                    <a:pt x="0" y="340"/>
                  </a:lnTo>
                  <a:lnTo>
                    <a:pt x="0" y="193"/>
                  </a:lnTo>
                  <a:lnTo>
                    <a:pt x="195" y="193"/>
                  </a:lnTo>
                  <a:lnTo>
                    <a:pt x="195" y="0"/>
                  </a:lnTo>
                  <a:lnTo>
                    <a:pt x="342" y="0"/>
                  </a:lnTo>
                  <a:lnTo>
                    <a:pt x="342" y="193"/>
                  </a:lnTo>
                  <a:lnTo>
                    <a:pt x="534" y="193"/>
                  </a:lnTo>
                  <a:lnTo>
                    <a:pt x="534" y="340"/>
                  </a:lnTo>
                  <a:lnTo>
                    <a:pt x="342" y="340"/>
                  </a:lnTo>
                  <a:lnTo>
                    <a:pt x="342" y="535"/>
                  </a:lnTo>
                  <a:lnTo>
                    <a:pt x="195" y="535"/>
                  </a:lnTo>
                  <a:close/>
                </a:path>
              </a:pathLst>
            </a:custGeom>
            <a:solidFill>
              <a:srgbClr val="087C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FC0F008-1A7D-9601-F848-F0008142AD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5905" y="-4"/>
              <a:ext cx="1151" cy="781"/>
            </a:xfrm>
            <a:custGeom>
              <a:avLst/>
              <a:gdLst>
                <a:gd name="T0" fmla="*/ 381 w 580"/>
                <a:gd name="T1" fmla="*/ 0 h 393"/>
                <a:gd name="T2" fmla="*/ 0 w 580"/>
                <a:gd name="T3" fmla="*/ 0 h 393"/>
                <a:gd name="T4" fmla="*/ 392 w 580"/>
                <a:gd name="T5" fmla="*/ 393 h 393"/>
                <a:gd name="T6" fmla="*/ 390 w 580"/>
                <a:gd name="T7" fmla="*/ 390 h 393"/>
                <a:gd name="T8" fmla="*/ 382 w 580"/>
                <a:gd name="T9" fmla="*/ 380 h 393"/>
                <a:gd name="T10" fmla="*/ 378 w 580"/>
                <a:gd name="T11" fmla="*/ 375 h 393"/>
                <a:gd name="T12" fmla="*/ 376 w 580"/>
                <a:gd name="T13" fmla="*/ 372 h 393"/>
                <a:gd name="T14" fmla="*/ 374 w 580"/>
                <a:gd name="T15" fmla="*/ 369 h 393"/>
                <a:gd name="T16" fmla="*/ 373 w 580"/>
                <a:gd name="T17" fmla="*/ 367 h 393"/>
                <a:gd name="T18" fmla="*/ 371 w 580"/>
                <a:gd name="T19" fmla="*/ 364 h 393"/>
                <a:gd name="T20" fmla="*/ 370 w 580"/>
                <a:gd name="T21" fmla="*/ 361 h 393"/>
                <a:gd name="T22" fmla="*/ 368 w 580"/>
                <a:gd name="T23" fmla="*/ 358 h 393"/>
                <a:gd name="T24" fmla="*/ 367 w 580"/>
                <a:gd name="T25" fmla="*/ 355 h 393"/>
                <a:gd name="T26" fmla="*/ 366 w 580"/>
                <a:gd name="T27" fmla="*/ 352 h 393"/>
                <a:gd name="T28" fmla="*/ 363 w 580"/>
                <a:gd name="T29" fmla="*/ 346 h 393"/>
                <a:gd name="T30" fmla="*/ 362 w 580"/>
                <a:gd name="T31" fmla="*/ 343 h 393"/>
                <a:gd name="T32" fmla="*/ 361 w 580"/>
                <a:gd name="T33" fmla="*/ 338 h 393"/>
                <a:gd name="T34" fmla="*/ 359 w 580"/>
                <a:gd name="T35" fmla="*/ 333 h 393"/>
                <a:gd name="T36" fmla="*/ 359 w 580"/>
                <a:gd name="T37" fmla="*/ 330 h 393"/>
                <a:gd name="T38" fmla="*/ 358 w 580"/>
                <a:gd name="T39" fmla="*/ 327 h 393"/>
                <a:gd name="T40" fmla="*/ 358 w 580"/>
                <a:gd name="T41" fmla="*/ 326 h 393"/>
                <a:gd name="T42" fmla="*/ 357 w 580"/>
                <a:gd name="T43" fmla="*/ 320 h 393"/>
                <a:gd name="T44" fmla="*/ 356 w 580"/>
                <a:gd name="T45" fmla="*/ 317 h 393"/>
                <a:gd name="T46" fmla="*/ 356 w 580"/>
                <a:gd name="T47" fmla="*/ 316 h 393"/>
                <a:gd name="T48" fmla="*/ 355 w 580"/>
                <a:gd name="T49" fmla="*/ 300 h 393"/>
                <a:gd name="T50" fmla="*/ 367 w 580"/>
                <a:gd name="T51" fmla="*/ 244 h 393"/>
                <a:gd name="T52" fmla="*/ 370 w 580"/>
                <a:gd name="T53" fmla="*/ 238 h 393"/>
                <a:gd name="T54" fmla="*/ 371 w 580"/>
                <a:gd name="T55" fmla="*/ 235 h 393"/>
                <a:gd name="T56" fmla="*/ 375 w 580"/>
                <a:gd name="T57" fmla="*/ 230 h 393"/>
                <a:gd name="T58" fmla="*/ 376 w 580"/>
                <a:gd name="T59" fmla="*/ 227 h 393"/>
                <a:gd name="T60" fmla="*/ 380 w 580"/>
                <a:gd name="T61" fmla="*/ 222 h 393"/>
                <a:gd name="T62" fmla="*/ 384 w 580"/>
                <a:gd name="T63" fmla="*/ 216 h 393"/>
                <a:gd name="T64" fmla="*/ 388 w 580"/>
                <a:gd name="T65" fmla="*/ 211 h 393"/>
                <a:gd name="T66" fmla="*/ 395 w 580"/>
                <a:gd name="T67" fmla="*/ 204 h 393"/>
                <a:gd name="T68" fmla="*/ 490 w 580"/>
                <a:gd name="T69" fmla="*/ 165 h 393"/>
                <a:gd name="T70" fmla="*/ 490 w 580"/>
                <a:gd name="T71" fmla="*/ 165 h 393"/>
                <a:gd name="T72" fmla="*/ 496 w 580"/>
                <a:gd name="T73" fmla="*/ 165 h 393"/>
                <a:gd name="T74" fmla="*/ 502 w 580"/>
                <a:gd name="T75" fmla="*/ 165 h 393"/>
                <a:gd name="T76" fmla="*/ 503 w 580"/>
                <a:gd name="T77" fmla="*/ 166 h 393"/>
                <a:gd name="T78" fmla="*/ 508 w 580"/>
                <a:gd name="T79" fmla="*/ 166 h 393"/>
                <a:gd name="T80" fmla="*/ 515 w 580"/>
                <a:gd name="T81" fmla="*/ 167 h 393"/>
                <a:gd name="T82" fmla="*/ 520 w 580"/>
                <a:gd name="T83" fmla="*/ 168 h 393"/>
                <a:gd name="T84" fmla="*/ 520 w 580"/>
                <a:gd name="T85" fmla="*/ 168 h 393"/>
                <a:gd name="T86" fmla="*/ 523 w 580"/>
                <a:gd name="T87" fmla="*/ 169 h 393"/>
                <a:gd name="T88" fmla="*/ 527 w 580"/>
                <a:gd name="T89" fmla="*/ 170 h 393"/>
                <a:gd name="T90" fmla="*/ 529 w 580"/>
                <a:gd name="T91" fmla="*/ 171 h 393"/>
                <a:gd name="T92" fmla="*/ 531 w 580"/>
                <a:gd name="T93" fmla="*/ 171 h 393"/>
                <a:gd name="T94" fmla="*/ 536 w 580"/>
                <a:gd name="T95" fmla="*/ 173 h 393"/>
                <a:gd name="T96" fmla="*/ 536 w 580"/>
                <a:gd name="T97" fmla="*/ 173 h 393"/>
                <a:gd name="T98" fmla="*/ 542 w 580"/>
                <a:gd name="T99" fmla="*/ 175 h 393"/>
                <a:gd name="T100" fmla="*/ 545 w 580"/>
                <a:gd name="T101" fmla="*/ 177 h 393"/>
                <a:gd name="T102" fmla="*/ 551 w 580"/>
                <a:gd name="T103" fmla="*/ 180 h 393"/>
                <a:gd name="T104" fmla="*/ 555 w 580"/>
                <a:gd name="T105" fmla="*/ 182 h 393"/>
                <a:gd name="T106" fmla="*/ 561 w 580"/>
                <a:gd name="T107" fmla="*/ 185 h 393"/>
                <a:gd name="T108" fmla="*/ 565 w 580"/>
                <a:gd name="T109" fmla="*/ 188 h 393"/>
                <a:gd name="T110" fmla="*/ 566 w 580"/>
                <a:gd name="T111" fmla="*/ 188 h 393"/>
                <a:gd name="T112" fmla="*/ 570 w 580"/>
                <a:gd name="T113" fmla="*/ 192 h 393"/>
                <a:gd name="T114" fmla="*/ 571 w 580"/>
                <a:gd name="T115" fmla="*/ 192 h 393"/>
                <a:gd name="T116" fmla="*/ 575 w 580"/>
                <a:gd name="T117" fmla="*/ 196 h 393"/>
                <a:gd name="T118" fmla="*/ 579 w 580"/>
                <a:gd name="T119" fmla="*/ 199 h 393"/>
                <a:gd name="T120" fmla="*/ 580 w 580"/>
                <a:gd name="T121" fmla="*/ 200 h 393"/>
                <a:gd name="T122" fmla="*/ 580 w 580"/>
                <a:gd name="T123" fmla="*/ 200 h 393"/>
                <a:gd name="T124" fmla="*/ 381 w 580"/>
                <a:gd name="T12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0" h="393">
                  <a:moveTo>
                    <a:pt x="38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92" y="393"/>
                    <a:pt x="392" y="393"/>
                    <a:pt x="392" y="393"/>
                  </a:cubicBezTo>
                  <a:cubicBezTo>
                    <a:pt x="391" y="392"/>
                    <a:pt x="391" y="391"/>
                    <a:pt x="390" y="390"/>
                  </a:cubicBezTo>
                  <a:cubicBezTo>
                    <a:pt x="387" y="387"/>
                    <a:pt x="384" y="383"/>
                    <a:pt x="382" y="380"/>
                  </a:cubicBezTo>
                  <a:cubicBezTo>
                    <a:pt x="380" y="378"/>
                    <a:pt x="379" y="377"/>
                    <a:pt x="378" y="375"/>
                  </a:cubicBezTo>
                  <a:cubicBezTo>
                    <a:pt x="377" y="374"/>
                    <a:pt x="377" y="373"/>
                    <a:pt x="376" y="372"/>
                  </a:cubicBezTo>
                  <a:cubicBezTo>
                    <a:pt x="376" y="371"/>
                    <a:pt x="375" y="370"/>
                    <a:pt x="374" y="369"/>
                  </a:cubicBezTo>
                  <a:cubicBezTo>
                    <a:pt x="374" y="368"/>
                    <a:pt x="373" y="367"/>
                    <a:pt x="373" y="367"/>
                  </a:cubicBezTo>
                  <a:cubicBezTo>
                    <a:pt x="372" y="366"/>
                    <a:pt x="372" y="365"/>
                    <a:pt x="371" y="364"/>
                  </a:cubicBezTo>
                  <a:cubicBezTo>
                    <a:pt x="371" y="363"/>
                    <a:pt x="370" y="362"/>
                    <a:pt x="370" y="361"/>
                  </a:cubicBezTo>
                  <a:cubicBezTo>
                    <a:pt x="369" y="360"/>
                    <a:pt x="369" y="359"/>
                    <a:pt x="368" y="358"/>
                  </a:cubicBezTo>
                  <a:cubicBezTo>
                    <a:pt x="368" y="357"/>
                    <a:pt x="367" y="356"/>
                    <a:pt x="367" y="355"/>
                  </a:cubicBezTo>
                  <a:cubicBezTo>
                    <a:pt x="367" y="354"/>
                    <a:pt x="366" y="353"/>
                    <a:pt x="366" y="352"/>
                  </a:cubicBezTo>
                  <a:cubicBezTo>
                    <a:pt x="365" y="350"/>
                    <a:pt x="364" y="348"/>
                    <a:pt x="363" y="346"/>
                  </a:cubicBezTo>
                  <a:cubicBezTo>
                    <a:pt x="363" y="345"/>
                    <a:pt x="362" y="344"/>
                    <a:pt x="362" y="343"/>
                  </a:cubicBezTo>
                  <a:cubicBezTo>
                    <a:pt x="362" y="341"/>
                    <a:pt x="361" y="340"/>
                    <a:pt x="361" y="338"/>
                  </a:cubicBezTo>
                  <a:cubicBezTo>
                    <a:pt x="360" y="337"/>
                    <a:pt x="360" y="335"/>
                    <a:pt x="359" y="333"/>
                  </a:cubicBezTo>
                  <a:cubicBezTo>
                    <a:pt x="359" y="332"/>
                    <a:pt x="359" y="331"/>
                    <a:pt x="359" y="330"/>
                  </a:cubicBezTo>
                  <a:cubicBezTo>
                    <a:pt x="358" y="329"/>
                    <a:pt x="358" y="328"/>
                    <a:pt x="358" y="327"/>
                  </a:cubicBezTo>
                  <a:cubicBezTo>
                    <a:pt x="358" y="327"/>
                    <a:pt x="358" y="326"/>
                    <a:pt x="358" y="326"/>
                  </a:cubicBezTo>
                  <a:cubicBezTo>
                    <a:pt x="357" y="324"/>
                    <a:pt x="357" y="322"/>
                    <a:pt x="357" y="320"/>
                  </a:cubicBezTo>
                  <a:cubicBezTo>
                    <a:pt x="356" y="319"/>
                    <a:pt x="356" y="318"/>
                    <a:pt x="356" y="317"/>
                  </a:cubicBezTo>
                  <a:cubicBezTo>
                    <a:pt x="356" y="316"/>
                    <a:pt x="356" y="316"/>
                    <a:pt x="356" y="316"/>
                  </a:cubicBezTo>
                  <a:cubicBezTo>
                    <a:pt x="355" y="311"/>
                    <a:pt x="355" y="305"/>
                    <a:pt x="355" y="300"/>
                  </a:cubicBezTo>
                  <a:cubicBezTo>
                    <a:pt x="355" y="280"/>
                    <a:pt x="359" y="261"/>
                    <a:pt x="367" y="244"/>
                  </a:cubicBezTo>
                  <a:cubicBezTo>
                    <a:pt x="368" y="242"/>
                    <a:pt x="369" y="240"/>
                    <a:pt x="370" y="238"/>
                  </a:cubicBezTo>
                  <a:cubicBezTo>
                    <a:pt x="370" y="237"/>
                    <a:pt x="371" y="236"/>
                    <a:pt x="371" y="235"/>
                  </a:cubicBezTo>
                  <a:cubicBezTo>
                    <a:pt x="372" y="233"/>
                    <a:pt x="373" y="232"/>
                    <a:pt x="375" y="230"/>
                  </a:cubicBezTo>
                  <a:cubicBezTo>
                    <a:pt x="375" y="229"/>
                    <a:pt x="376" y="228"/>
                    <a:pt x="376" y="227"/>
                  </a:cubicBezTo>
                  <a:cubicBezTo>
                    <a:pt x="377" y="225"/>
                    <a:pt x="379" y="223"/>
                    <a:pt x="380" y="222"/>
                  </a:cubicBezTo>
                  <a:cubicBezTo>
                    <a:pt x="381" y="220"/>
                    <a:pt x="382" y="218"/>
                    <a:pt x="384" y="216"/>
                  </a:cubicBezTo>
                  <a:cubicBezTo>
                    <a:pt x="385" y="215"/>
                    <a:pt x="386" y="213"/>
                    <a:pt x="388" y="211"/>
                  </a:cubicBezTo>
                  <a:cubicBezTo>
                    <a:pt x="390" y="209"/>
                    <a:pt x="392" y="207"/>
                    <a:pt x="395" y="204"/>
                  </a:cubicBezTo>
                  <a:cubicBezTo>
                    <a:pt x="419" y="180"/>
                    <a:pt x="453" y="165"/>
                    <a:pt x="490" y="165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92" y="165"/>
                    <a:pt x="494" y="165"/>
                    <a:pt x="496" y="165"/>
                  </a:cubicBezTo>
                  <a:cubicBezTo>
                    <a:pt x="498" y="165"/>
                    <a:pt x="500" y="165"/>
                    <a:pt x="502" y="165"/>
                  </a:cubicBezTo>
                  <a:cubicBezTo>
                    <a:pt x="502" y="165"/>
                    <a:pt x="503" y="166"/>
                    <a:pt x="503" y="166"/>
                  </a:cubicBezTo>
                  <a:cubicBezTo>
                    <a:pt x="505" y="166"/>
                    <a:pt x="507" y="166"/>
                    <a:pt x="508" y="166"/>
                  </a:cubicBezTo>
                  <a:cubicBezTo>
                    <a:pt x="511" y="166"/>
                    <a:pt x="513" y="167"/>
                    <a:pt x="515" y="167"/>
                  </a:cubicBezTo>
                  <a:cubicBezTo>
                    <a:pt x="517" y="168"/>
                    <a:pt x="519" y="168"/>
                    <a:pt x="520" y="168"/>
                  </a:cubicBezTo>
                  <a:cubicBezTo>
                    <a:pt x="520" y="168"/>
                    <a:pt x="520" y="168"/>
                    <a:pt x="520" y="168"/>
                  </a:cubicBezTo>
                  <a:cubicBezTo>
                    <a:pt x="521" y="169"/>
                    <a:pt x="522" y="169"/>
                    <a:pt x="523" y="169"/>
                  </a:cubicBezTo>
                  <a:cubicBezTo>
                    <a:pt x="524" y="169"/>
                    <a:pt x="525" y="170"/>
                    <a:pt x="527" y="170"/>
                  </a:cubicBezTo>
                  <a:cubicBezTo>
                    <a:pt x="527" y="170"/>
                    <a:pt x="528" y="170"/>
                    <a:pt x="529" y="171"/>
                  </a:cubicBezTo>
                  <a:cubicBezTo>
                    <a:pt x="530" y="171"/>
                    <a:pt x="530" y="171"/>
                    <a:pt x="531" y="171"/>
                  </a:cubicBezTo>
                  <a:cubicBezTo>
                    <a:pt x="533" y="172"/>
                    <a:pt x="534" y="172"/>
                    <a:pt x="536" y="173"/>
                  </a:cubicBezTo>
                  <a:cubicBezTo>
                    <a:pt x="536" y="173"/>
                    <a:pt x="536" y="173"/>
                    <a:pt x="536" y="173"/>
                  </a:cubicBezTo>
                  <a:cubicBezTo>
                    <a:pt x="538" y="174"/>
                    <a:pt x="540" y="175"/>
                    <a:pt x="542" y="175"/>
                  </a:cubicBezTo>
                  <a:cubicBezTo>
                    <a:pt x="543" y="176"/>
                    <a:pt x="544" y="176"/>
                    <a:pt x="545" y="177"/>
                  </a:cubicBezTo>
                  <a:cubicBezTo>
                    <a:pt x="547" y="178"/>
                    <a:pt x="549" y="179"/>
                    <a:pt x="551" y="180"/>
                  </a:cubicBezTo>
                  <a:cubicBezTo>
                    <a:pt x="552" y="180"/>
                    <a:pt x="554" y="181"/>
                    <a:pt x="555" y="182"/>
                  </a:cubicBezTo>
                  <a:cubicBezTo>
                    <a:pt x="557" y="183"/>
                    <a:pt x="559" y="184"/>
                    <a:pt x="561" y="185"/>
                  </a:cubicBezTo>
                  <a:cubicBezTo>
                    <a:pt x="563" y="186"/>
                    <a:pt x="564" y="187"/>
                    <a:pt x="565" y="188"/>
                  </a:cubicBezTo>
                  <a:cubicBezTo>
                    <a:pt x="566" y="188"/>
                    <a:pt x="566" y="188"/>
                    <a:pt x="566" y="188"/>
                  </a:cubicBezTo>
                  <a:cubicBezTo>
                    <a:pt x="567" y="189"/>
                    <a:pt x="569" y="191"/>
                    <a:pt x="570" y="192"/>
                  </a:cubicBezTo>
                  <a:cubicBezTo>
                    <a:pt x="571" y="192"/>
                    <a:pt x="571" y="192"/>
                    <a:pt x="571" y="192"/>
                  </a:cubicBezTo>
                  <a:cubicBezTo>
                    <a:pt x="572" y="193"/>
                    <a:pt x="574" y="194"/>
                    <a:pt x="575" y="196"/>
                  </a:cubicBezTo>
                  <a:cubicBezTo>
                    <a:pt x="577" y="197"/>
                    <a:pt x="578" y="198"/>
                    <a:pt x="579" y="199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381" y="0"/>
                    <a:pt x="381" y="0"/>
                    <a:pt x="381" y="0"/>
                  </a:cubicBezTo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6A82AF1-0EF3-FA8F-B7CD-475D35AF99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609" y="324"/>
              <a:ext cx="534" cy="535"/>
            </a:xfrm>
            <a:custGeom>
              <a:avLst/>
              <a:gdLst>
                <a:gd name="T0" fmla="*/ 33 w 269"/>
                <a:gd name="T1" fmla="*/ 46 h 269"/>
                <a:gd name="T2" fmla="*/ 25 w 269"/>
                <a:gd name="T3" fmla="*/ 57 h 269"/>
                <a:gd name="T4" fmla="*/ 20 w 269"/>
                <a:gd name="T5" fmla="*/ 65 h 269"/>
                <a:gd name="T6" fmla="*/ 15 w 269"/>
                <a:gd name="T7" fmla="*/ 73 h 269"/>
                <a:gd name="T8" fmla="*/ 11 w 269"/>
                <a:gd name="T9" fmla="*/ 82 h 269"/>
                <a:gd name="T10" fmla="*/ 8 w 269"/>
                <a:gd name="T11" fmla="*/ 90 h 269"/>
                <a:gd name="T12" fmla="*/ 5 w 269"/>
                <a:gd name="T13" fmla="*/ 97 h 269"/>
                <a:gd name="T14" fmla="*/ 3 w 269"/>
                <a:gd name="T15" fmla="*/ 106 h 269"/>
                <a:gd name="T16" fmla="*/ 1 w 269"/>
                <a:gd name="T17" fmla="*/ 120 h 269"/>
                <a:gd name="T18" fmla="*/ 0 w 269"/>
                <a:gd name="T19" fmla="*/ 143 h 269"/>
                <a:gd name="T20" fmla="*/ 1 w 269"/>
                <a:gd name="T21" fmla="*/ 152 h 269"/>
                <a:gd name="T22" fmla="*/ 3 w 269"/>
                <a:gd name="T23" fmla="*/ 161 h 269"/>
                <a:gd name="T24" fmla="*/ 4 w 269"/>
                <a:gd name="T25" fmla="*/ 165 h 269"/>
                <a:gd name="T26" fmla="*/ 6 w 269"/>
                <a:gd name="T27" fmla="*/ 173 h 269"/>
                <a:gd name="T28" fmla="*/ 8 w 269"/>
                <a:gd name="T29" fmla="*/ 181 h 269"/>
                <a:gd name="T30" fmla="*/ 12 w 269"/>
                <a:gd name="T31" fmla="*/ 190 h 269"/>
                <a:gd name="T32" fmla="*/ 15 w 269"/>
                <a:gd name="T33" fmla="*/ 196 h 269"/>
                <a:gd name="T34" fmla="*/ 18 w 269"/>
                <a:gd name="T35" fmla="*/ 202 h 269"/>
                <a:gd name="T36" fmla="*/ 21 w 269"/>
                <a:gd name="T37" fmla="*/ 207 h 269"/>
                <a:gd name="T38" fmla="*/ 27 w 269"/>
                <a:gd name="T39" fmla="*/ 215 h 269"/>
                <a:gd name="T40" fmla="*/ 135 w 269"/>
                <a:gd name="T41" fmla="*/ 269 h 269"/>
                <a:gd name="T42" fmla="*/ 225 w 269"/>
                <a:gd name="T43" fmla="*/ 35 h 269"/>
                <a:gd name="T44" fmla="*/ 224 w 269"/>
                <a:gd name="T45" fmla="*/ 34 h 269"/>
                <a:gd name="T46" fmla="*/ 216 w 269"/>
                <a:gd name="T47" fmla="*/ 27 h 269"/>
                <a:gd name="T48" fmla="*/ 211 w 269"/>
                <a:gd name="T49" fmla="*/ 23 h 269"/>
                <a:gd name="T50" fmla="*/ 206 w 269"/>
                <a:gd name="T51" fmla="*/ 20 h 269"/>
                <a:gd name="T52" fmla="*/ 196 w 269"/>
                <a:gd name="T53" fmla="*/ 15 h 269"/>
                <a:gd name="T54" fmla="*/ 187 w 269"/>
                <a:gd name="T55" fmla="*/ 10 h 269"/>
                <a:gd name="T56" fmla="*/ 181 w 269"/>
                <a:gd name="T57" fmla="*/ 8 h 269"/>
                <a:gd name="T58" fmla="*/ 174 w 269"/>
                <a:gd name="T59" fmla="*/ 6 h 269"/>
                <a:gd name="T60" fmla="*/ 168 w 269"/>
                <a:gd name="T61" fmla="*/ 4 h 269"/>
                <a:gd name="T62" fmla="*/ 165 w 269"/>
                <a:gd name="T63" fmla="*/ 3 h 269"/>
                <a:gd name="T64" fmla="*/ 153 w 269"/>
                <a:gd name="T65" fmla="*/ 1 h 269"/>
                <a:gd name="T66" fmla="*/ 147 w 269"/>
                <a:gd name="T67" fmla="*/ 0 h 269"/>
                <a:gd name="T68" fmla="*/ 135 w 269"/>
                <a:gd name="T69" fmla="*/ 0 h 269"/>
                <a:gd name="T70" fmla="*/ 40 w 269"/>
                <a:gd name="T71" fmla="*/ 39 h 269"/>
                <a:gd name="T72" fmla="*/ 135 w 269"/>
                <a:gd name="T73" fmla="*/ 195 h 269"/>
                <a:gd name="T74" fmla="*/ 135 w 269"/>
                <a:gd name="T75" fmla="*/ 7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9" h="269">
                  <a:moveTo>
                    <a:pt x="40" y="39"/>
                  </a:moveTo>
                  <a:cubicBezTo>
                    <a:pt x="37" y="42"/>
                    <a:pt x="35" y="44"/>
                    <a:pt x="33" y="46"/>
                  </a:cubicBezTo>
                  <a:cubicBezTo>
                    <a:pt x="32" y="48"/>
                    <a:pt x="30" y="50"/>
                    <a:pt x="29" y="51"/>
                  </a:cubicBezTo>
                  <a:cubicBezTo>
                    <a:pt x="27" y="53"/>
                    <a:pt x="26" y="55"/>
                    <a:pt x="25" y="57"/>
                  </a:cubicBezTo>
                  <a:cubicBezTo>
                    <a:pt x="24" y="58"/>
                    <a:pt x="22" y="60"/>
                    <a:pt x="21" y="62"/>
                  </a:cubicBezTo>
                  <a:cubicBezTo>
                    <a:pt x="21" y="63"/>
                    <a:pt x="20" y="64"/>
                    <a:pt x="20" y="65"/>
                  </a:cubicBezTo>
                  <a:cubicBezTo>
                    <a:pt x="18" y="67"/>
                    <a:pt x="17" y="68"/>
                    <a:pt x="16" y="70"/>
                  </a:cubicBezTo>
                  <a:cubicBezTo>
                    <a:pt x="16" y="71"/>
                    <a:pt x="15" y="72"/>
                    <a:pt x="15" y="73"/>
                  </a:cubicBezTo>
                  <a:cubicBezTo>
                    <a:pt x="14" y="75"/>
                    <a:pt x="13" y="77"/>
                    <a:pt x="12" y="79"/>
                  </a:cubicBezTo>
                  <a:cubicBezTo>
                    <a:pt x="11" y="80"/>
                    <a:pt x="11" y="81"/>
                    <a:pt x="11" y="82"/>
                  </a:cubicBezTo>
                  <a:cubicBezTo>
                    <a:pt x="10" y="84"/>
                    <a:pt x="10" y="85"/>
                    <a:pt x="9" y="86"/>
                  </a:cubicBezTo>
                  <a:cubicBezTo>
                    <a:pt x="9" y="87"/>
                    <a:pt x="8" y="88"/>
                    <a:pt x="8" y="90"/>
                  </a:cubicBezTo>
                  <a:cubicBezTo>
                    <a:pt x="7" y="91"/>
                    <a:pt x="7" y="92"/>
                    <a:pt x="6" y="93"/>
                  </a:cubicBezTo>
                  <a:cubicBezTo>
                    <a:pt x="6" y="95"/>
                    <a:pt x="6" y="96"/>
                    <a:pt x="5" y="97"/>
                  </a:cubicBezTo>
                  <a:cubicBezTo>
                    <a:pt x="5" y="100"/>
                    <a:pt x="4" y="102"/>
                    <a:pt x="3" y="105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3" y="108"/>
                    <a:pt x="2" y="110"/>
                    <a:pt x="2" y="113"/>
                  </a:cubicBezTo>
                  <a:cubicBezTo>
                    <a:pt x="1" y="115"/>
                    <a:pt x="1" y="118"/>
                    <a:pt x="1" y="120"/>
                  </a:cubicBezTo>
                  <a:cubicBezTo>
                    <a:pt x="0" y="125"/>
                    <a:pt x="0" y="130"/>
                    <a:pt x="0" y="135"/>
                  </a:cubicBezTo>
                  <a:cubicBezTo>
                    <a:pt x="0" y="137"/>
                    <a:pt x="0" y="140"/>
                    <a:pt x="0" y="143"/>
                  </a:cubicBezTo>
                  <a:cubicBezTo>
                    <a:pt x="1" y="146"/>
                    <a:pt x="1" y="148"/>
                    <a:pt x="1" y="15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1" y="153"/>
                    <a:pt x="1" y="154"/>
                    <a:pt x="2" y="155"/>
                  </a:cubicBezTo>
                  <a:cubicBezTo>
                    <a:pt x="2" y="157"/>
                    <a:pt x="2" y="159"/>
                    <a:pt x="3" y="161"/>
                  </a:cubicBezTo>
                  <a:cubicBezTo>
                    <a:pt x="3" y="161"/>
                    <a:pt x="3" y="162"/>
                    <a:pt x="3" y="162"/>
                  </a:cubicBezTo>
                  <a:cubicBezTo>
                    <a:pt x="3" y="163"/>
                    <a:pt x="3" y="164"/>
                    <a:pt x="4" y="165"/>
                  </a:cubicBezTo>
                  <a:cubicBezTo>
                    <a:pt x="4" y="166"/>
                    <a:pt x="4" y="167"/>
                    <a:pt x="4" y="168"/>
                  </a:cubicBezTo>
                  <a:cubicBezTo>
                    <a:pt x="5" y="170"/>
                    <a:pt x="5" y="172"/>
                    <a:pt x="6" y="173"/>
                  </a:cubicBezTo>
                  <a:cubicBezTo>
                    <a:pt x="6" y="175"/>
                    <a:pt x="7" y="176"/>
                    <a:pt x="7" y="178"/>
                  </a:cubicBezTo>
                  <a:cubicBezTo>
                    <a:pt x="8" y="179"/>
                    <a:pt x="8" y="180"/>
                    <a:pt x="8" y="181"/>
                  </a:cubicBezTo>
                  <a:cubicBezTo>
                    <a:pt x="9" y="183"/>
                    <a:pt x="10" y="185"/>
                    <a:pt x="11" y="187"/>
                  </a:cubicBezTo>
                  <a:cubicBezTo>
                    <a:pt x="11" y="188"/>
                    <a:pt x="12" y="189"/>
                    <a:pt x="12" y="190"/>
                  </a:cubicBezTo>
                  <a:cubicBezTo>
                    <a:pt x="12" y="191"/>
                    <a:pt x="13" y="192"/>
                    <a:pt x="13" y="193"/>
                  </a:cubicBezTo>
                  <a:cubicBezTo>
                    <a:pt x="14" y="194"/>
                    <a:pt x="14" y="195"/>
                    <a:pt x="15" y="196"/>
                  </a:cubicBezTo>
                  <a:cubicBezTo>
                    <a:pt x="15" y="197"/>
                    <a:pt x="16" y="198"/>
                    <a:pt x="16" y="199"/>
                  </a:cubicBezTo>
                  <a:cubicBezTo>
                    <a:pt x="17" y="200"/>
                    <a:pt x="17" y="201"/>
                    <a:pt x="18" y="202"/>
                  </a:cubicBezTo>
                  <a:cubicBezTo>
                    <a:pt x="18" y="202"/>
                    <a:pt x="19" y="203"/>
                    <a:pt x="19" y="204"/>
                  </a:cubicBezTo>
                  <a:cubicBezTo>
                    <a:pt x="20" y="205"/>
                    <a:pt x="21" y="206"/>
                    <a:pt x="21" y="207"/>
                  </a:cubicBezTo>
                  <a:cubicBezTo>
                    <a:pt x="22" y="208"/>
                    <a:pt x="22" y="209"/>
                    <a:pt x="23" y="210"/>
                  </a:cubicBezTo>
                  <a:cubicBezTo>
                    <a:pt x="24" y="212"/>
                    <a:pt x="25" y="213"/>
                    <a:pt x="27" y="215"/>
                  </a:cubicBezTo>
                  <a:cubicBezTo>
                    <a:pt x="29" y="218"/>
                    <a:pt x="32" y="222"/>
                    <a:pt x="35" y="225"/>
                  </a:cubicBezTo>
                  <a:cubicBezTo>
                    <a:pt x="60" y="252"/>
                    <a:pt x="95" y="269"/>
                    <a:pt x="135" y="269"/>
                  </a:cubicBezTo>
                  <a:cubicBezTo>
                    <a:pt x="209" y="269"/>
                    <a:pt x="269" y="209"/>
                    <a:pt x="269" y="135"/>
                  </a:cubicBezTo>
                  <a:cubicBezTo>
                    <a:pt x="269" y="95"/>
                    <a:pt x="252" y="59"/>
                    <a:pt x="225" y="35"/>
                  </a:cubicBezTo>
                  <a:cubicBezTo>
                    <a:pt x="225" y="35"/>
                    <a:pt x="225" y="35"/>
                    <a:pt x="225" y="35"/>
                  </a:cubicBezTo>
                  <a:cubicBezTo>
                    <a:pt x="224" y="34"/>
                    <a:pt x="224" y="34"/>
                    <a:pt x="224" y="34"/>
                  </a:cubicBezTo>
                  <a:cubicBezTo>
                    <a:pt x="223" y="33"/>
                    <a:pt x="222" y="32"/>
                    <a:pt x="220" y="31"/>
                  </a:cubicBezTo>
                  <a:cubicBezTo>
                    <a:pt x="219" y="29"/>
                    <a:pt x="217" y="28"/>
                    <a:pt x="216" y="27"/>
                  </a:cubicBezTo>
                  <a:cubicBezTo>
                    <a:pt x="215" y="27"/>
                    <a:pt x="215" y="27"/>
                    <a:pt x="215" y="27"/>
                  </a:cubicBezTo>
                  <a:cubicBezTo>
                    <a:pt x="214" y="26"/>
                    <a:pt x="212" y="24"/>
                    <a:pt x="2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09" y="22"/>
                    <a:pt x="208" y="21"/>
                    <a:pt x="206" y="20"/>
                  </a:cubicBezTo>
                  <a:cubicBezTo>
                    <a:pt x="204" y="19"/>
                    <a:pt x="202" y="18"/>
                    <a:pt x="200" y="17"/>
                  </a:cubicBezTo>
                  <a:cubicBezTo>
                    <a:pt x="199" y="16"/>
                    <a:pt x="197" y="15"/>
                    <a:pt x="196" y="15"/>
                  </a:cubicBezTo>
                  <a:cubicBezTo>
                    <a:pt x="194" y="14"/>
                    <a:pt x="192" y="13"/>
                    <a:pt x="190" y="12"/>
                  </a:cubicBezTo>
                  <a:cubicBezTo>
                    <a:pt x="189" y="11"/>
                    <a:pt x="188" y="11"/>
                    <a:pt x="187" y="10"/>
                  </a:cubicBezTo>
                  <a:cubicBezTo>
                    <a:pt x="185" y="10"/>
                    <a:pt x="183" y="9"/>
                    <a:pt x="181" y="8"/>
                  </a:cubicBezTo>
                  <a:cubicBezTo>
                    <a:pt x="181" y="8"/>
                    <a:pt x="181" y="8"/>
                    <a:pt x="181" y="8"/>
                  </a:cubicBezTo>
                  <a:cubicBezTo>
                    <a:pt x="179" y="7"/>
                    <a:pt x="178" y="7"/>
                    <a:pt x="176" y="6"/>
                  </a:cubicBezTo>
                  <a:cubicBezTo>
                    <a:pt x="175" y="6"/>
                    <a:pt x="175" y="6"/>
                    <a:pt x="174" y="6"/>
                  </a:cubicBezTo>
                  <a:cubicBezTo>
                    <a:pt x="173" y="5"/>
                    <a:pt x="172" y="5"/>
                    <a:pt x="172" y="5"/>
                  </a:cubicBezTo>
                  <a:cubicBezTo>
                    <a:pt x="170" y="5"/>
                    <a:pt x="169" y="4"/>
                    <a:pt x="168" y="4"/>
                  </a:cubicBezTo>
                  <a:cubicBezTo>
                    <a:pt x="167" y="4"/>
                    <a:pt x="166" y="4"/>
                    <a:pt x="165" y="3"/>
                  </a:cubicBezTo>
                  <a:cubicBezTo>
                    <a:pt x="165" y="3"/>
                    <a:pt x="165" y="3"/>
                    <a:pt x="165" y="3"/>
                  </a:cubicBezTo>
                  <a:cubicBezTo>
                    <a:pt x="164" y="3"/>
                    <a:pt x="162" y="3"/>
                    <a:pt x="160" y="2"/>
                  </a:cubicBezTo>
                  <a:cubicBezTo>
                    <a:pt x="158" y="2"/>
                    <a:pt x="156" y="1"/>
                    <a:pt x="153" y="1"/>
                  </a:cubicBezTo>
                  <a:cubicBezTo>
                    <a:pt x="152" y="1"/>
                    <a:pt x="150" y="1"/>
                    <a:pt x="148" y="1"/>
                  </a:cubicBezTo>
                  <a:cubicBezTo>
                    <a:pt x="148" y="1"/>
                    <a:pt x="147" y="0"/>
                    <a:pt x="147" y="0"/>
                  </a:cubicBezTo>
                  <a:cubicBezTo>
                    <a:pt x="145" y="0"/>
                    <a:pt x="143" y="0"/>
                    <a:pt x="141" y="0"/>
                  </a:cubicBezTo>
                  <a:cubicBezTo>
                    <a:pt x="139" y="0"/>
                    <a:pt x="137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98" y="0"/>
                    <a:pt x="64" y="15"/>
                    <a:pt x="40" y="39"/>
                  </a:cubicBezTo>
                  <a:close/>
                  <a:moveTo>
                    <a:pt x="196" y="135"/>
                  </a:moveTo>
                  <a:cubicBezTo>
                    <a:pt x="196" y="168"/>
                    <a:pt x="168" y="195"/>
                    <a:pt x="135" y="195"/>
                  </a:cubicBezTo>
                  <a:cubicBezTo>
                    <a:pt x="101" y="195"/>
                    <a:pt x="74" y="168"/>
                    <a:pt x="74" y="135"/>
                  </a:cubicBezTo>
                  <a:cubicBezTo>
                    <a:pt x="74" y="101"/>
                    <a:pt x="101" y="74"/>
                    <a:pt x="135" y="74"/>
                  </a:cubicBezTo>
                  <a:cubicBezTo>
                    <a:pt x="168" y="74"/>
                    <a:pt x="196" y="101"/>
                    <a:pt x="196" y="135"/>
                  </a:cubicBezTo>
                  <a:close/>
                </a:path>
              </a:pathLst>
            </a:custGeom>
            <a:solidFill>
              <a:srgbClr val="14B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9" y="847495"/>
            <a:ext cx="2975768" cy="44319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3200" b="1" spc="4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THANK YOU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9" y="1458113"/>
            <a:ext cx="1566364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6A6B99C-1F25-E80A-44F2-D2A703BF9B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169" y="1654733"/>
            <a:ext cx="5508919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 spc="40" baseline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ZA" noProof="0" dirty="0"/>
              <a:t>FOR THE OPPORTUNITY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745881-58B2-D97D-29A5-1CCB8F1CAC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70" y="2552700"/>
            <a:ext cx="3831430" cy="3831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Text Placeholder 34">
            <a:extLst>
              <a:ext uri="{FF2B5EF4-FFF2-40B4-BE49-F238E27FC236}">
                <a16:creationId xmlns:a16="http://schemas.microsoft.com/office/drawing/2014/main" id="{811EE65E-4DB1-5B63-A818-044858EE4DC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6800" y="3021282"/>
            <a:ext cx="2847975" cy="2912793"/>
          </a:xfrm>
          <a:prstGeom prst="rect">
            <a:avLst/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ctr">
              <a:lnSpc>
                <a:spcPts val="1800"/>
              </a:lnSpc>
              <a:buNone/>
              <a:defRPr sz="1200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ts val="1400"/>
              </a:lnSpc>
              <a:buNone/>
              <a:defRPr sz="1200" spc="40" baseline="0">
                <a:latin typeface="+mj-lt"/>
              </a:defRPr>
            </a:lvl2pPr>
            <a:lvl3pPr marL="914400" indent="0">
              <a:lnSpc>
                <a:spcPts val="1400"/>
              </a:lnSpc>
              <a:buNone/>
              <a:defRPr sz="1200" spc="40" baseline="0">
                <a:latin typeface="+mj-lt"/>
              </a:defRPr>
            </a:lvl3pPr>
            <a:lvl4pPr marL="1371600" indent="0">
              <a:lnSpc>
                <a:spcPts val="1400"/>
              </a:lnSpc>
              <a:buNone/>
              <a:defRPr sz="1200" spc="40" baseline="0">
                <a:latin typeface="+mj-lt"/>
              </a:defRPr>
            </a:lvl4pPr>
            <a:lvl5pPr marL="1828800" indent="0">
              <a:lnSpc>
                <a:spcPts val="1400"/>
              </a:lnSpc>
              <a:buNone/>
              <a:defRPr sz="1200" spc="40" baseline="0">
                <a:latin typeface="+mj-lt"/>
              </a:defRPr>
            </a:lvl5pPr>
          </a:lstStyle>
          <a:p>
            <a:pPr lvl="0"/>
            <a:r>
              <a:rPr lang="en-US" dirty="0"/>
              <a:t>Type your message here…</a:t>
            </a:r>
            <a:endParaRPr lang="en-ZA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335A2-A868-D93B-FC64-440A6FA1338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07770" y="3851668"/>
            <a:ext cx="6596056" cy="2531716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600"/>
              </a:lnSpc>
              <a:buFont typeface="Calibri" panose="020F0502020204030204" pitchFamily="34" charset="0"/>
              <a:buChar char="+"/>
              <a:defRPr sz="1100"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ts val="1600"/>
              </a:lnSpc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928C6E4-59CF-ADE3-56B5-6358F61A80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07725" y="3489825"/>
            <a:ext cx="6595311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</p:spTree>
    <p:extLst>
      <p:ext uri="{BB962C8B-B14F-4D97-AF65-F5344CB8AC3E}">
        <p14:creationId xmlns:p14="http://schemas.microsoft.com/office/powerpoint/2010/main" val="25671775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4 | 1_3. Single Head + Intro + 1 x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CADC196-1239-E73E-8FE0-96E724E69039}"/>
              </a:ext>
            </a:extLst>
          </p:cNvPr>
          <p:cNvSpPr>
            <a:spLocks noGrp="1"/>
          </p:cNvSpPr>
          <p:nvPr>
            <p:ph type="tbl" sz="quarter" idx="39" hasCustomPrompt="1"/>
          </p:nvPr>
        </p:nvSpPr>
        <p:spPr>
          <a:xfrm>
            <a:off x="587375" y="1528516"/>
            <a:ext cx="11052175" cy="49183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</a:lstStyle>
          <a:p>
            <a:r>
              <a:rPr lang="en-ZA" dirty="0"/>
              <a:t>Insert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0" y="532999"/>
            <a:ext cx="1105137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B344E32D-2457-EF2E-E316-6DB23431487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7375" y="1003472"/>
            <a:ext cx="11052175" cy="1855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buNone/>
              <a:defRPr sz="1050" spc="4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Insert introductory text here. No longer than 1 line maximum. Insert introductory text here.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74491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5 | 1_Double Heading + 1 x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4">
            <a:extLst>
              <a:ext uri="{FF2B5EF4-FFF2-40B4-BE49-F238E27FC236}">
                <a16:creationId xmlns:a16="http://schemas.microsoft.com/office/drawing/2014/main" id="{17D28105-26B9-43C7-BE7E-0F9EB017CDB9}"/>
              </a:ext>
            </a:extLst>
          </p:cNvPr>
          <p:cNvSpPr>
            <a:spLocks noGrp="1"/>
          </p:cNvSpPr>
          <p:nvPr>
            <p:ph type="chart" sz="quarter" idx="42" hasCustomPrompt="1"/>
          </p:nvPr>
        </p:nvSpPr>
        <p:spPr>
          <a:xfrm>
            <a:off x="585789" y="1715692"/>
            <a:ext cx="11051374" cy="47311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</a:lstStyle>
          <a:p>
            <a:r>
              <a:rPr lang="en-US" dirty="0"/>
              <a:t>Insert Graph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55997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966614"/>
            <a:ext cx="11051375" cy="22018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2000" b="1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ADD SUB-HEADING</a:t>
            </a:r>
          </a:p>
        </p:txBody>
      </p:sp>
    </p:spTree>
    <p:extLst>
      <p:ext uri="{BB962C8B-B14F-4D97-AF65-F5344CB8AC3E}">
        <p14:creationId xmlns:p14="http://schemas.microsoft.com/office/powerpoint/2010/main" val="414384274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7 | ONE HEAD + 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12617E2C-F4E2-E8B4-0305-E761EA908D23}"/>
              </a:ext>
            </a:extLst>
          </p:cNvPr>
          <p:cNvSpPr>
            <a:spLocks noGrp="1"/>
          </p:cNvSpPr>
          <p:nvPr>
            <p:ph type="dgm" sz="quarter" idx="40" hasCustomPrompt="1"/>
          </p:nvPr>
        </p:nvSpPr>
        <p:spPr>
          <a:xfrm>
            <a:off x="587375" y="1291430"/>
            <a:ext cx="11050588" cy="50387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‘Hierarchy’ SmartArt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0" y="532999"/>
            <a:ext cx="1105137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70" y="1033292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93874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9 | HEAD + Intro + 5 x 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DEC9FA84-4769-EE88-EF4D-4E54AB37D4D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607720" y="886367"/>
            <a:ext cx="7031828" cy="810660"/>
            <a:chOff x="4607720" y="886367"/>
            <a:chExt cx="7031828" cy="8106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ACD640-1C70-F98B-0FDD-545E4C6636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07720" y="886367"/>
              <a:ext cx="1720641" cy="8106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D4F6EFC-596F-2339-385B-2808BDA95D54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246490" y="886367"/>
              <a:ext cx="5393058" cy="810660"/>
              <a:chOff x="6246490" y="886367"/>
              <a:chExt cx="5393058" cy="8106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D1545AB-FE9F-9E3A-A272-D8CDCAE035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776036" y="886367"/>
                <a:ext cx="4863512" cy="810660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403452A-E68A-6E1A-4950-1185BB1A697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V="1">
                <a:off x="6327467" y="1291697"/>
                <a:ext cx="451952" cy="1"/>
              </a:xfrm>
              <a:prstGeom prst="lin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0CCE20C-FFF6-6B99-36CC-83DDBFF73A14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>
              <a:xfrm>
                <a:off x="6246490" y="1200256"/>
                <a:ext cx="182876" cy="182876"/>
                <a:chOff x="4773922" y="1600369"/>
                <a:chExt cx="192760" cy="19276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C0868EB-A855-0E36-A7C1-9F11206D3391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4773922" y="1600369"/>
                  <a:ext cx="192760" cy="1927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pic>
              <p:nvPicPr>
                <p:cNvPr id="30" name="Graphic 29">
                  <a:extLst>
                    <a:ext uri="{FF2B5EF4-FFF2-40B4-BE49-F238E27FC236}">
                      <a16:creationId xmlns:a16="http://schemas.microsoft.com/office/drawing/2014/main" id="{E181BBAC-7A9E-0722-BA0B-CF8180CC2BF2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 userDrawn="1"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6584" y="1643033"/>
                  <a:ext cx="107439" cy="107435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6A18316-8264-9E2E-DE61-706FB911B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4057650" cy="6858000"/>
          </a:xfrm>
          <a:prstGeom prst="rect">
            <a:avLst/>
          </a:prstGeom>
          <a:solidFill>
            <a:srgbClr val="EFF2F6"/>
          </a:solidFill>
          <a:ln w="1285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1" y="1973133"/>
            <a:ext cx="2831304" cy="33239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SUGGESTED KPIs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22" name="Straight Connector 15">
            <a:extLst>
              <a:ext uri="{FF2B5EF4-FFF2-40B4-BE49-F238E27FC236}">
                <a16:creationId xmlns:a16="http://schemas.microsoft.com/office/drawing/2014/main" id="{39610FE5-AEB0-13DA-3778-DECF2E63E16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70" y="246983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6C35935A-FFF9-FBFC-AF97-37C746C02DF1}"/>
              </a:ext>
            </a:extLst>
          </p:cNvPr>
          <p:cNvSpPr>
            <a:spLocks noGrp="1"/>
          </p:cNvSpPr>
          <p:nvPr userDrawn="1">
            <p:ph type="body" sz="quarter" idx="81" hasCustomPrompt="1"/>
          </p:nvPr>
        </p:nvSpPr>
        <p:spPr>
          <a:xfrm>
            <a:off x="4784948" y="1112161"/>
            <a:ext cx="1332000" cy="35907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100">
                <a:latin typeface="+mj-lt"/>
              </a:defRPr>
            </a:lvl2pPr>
            <a:lvl3pPr marL="914400" indent="0">
              <a:buNone/>
              <a:defRPr sz="1100">
                <a:latin typeface="+mj-lt"/>
              </a:defRPr>
            </a:lvl3pPr>
            <a:lvl4pPr marL="1371600" indent="0">
              <a:buNone/>
              <a:defRPr sz="1100">
                <a:latin typeface="+mj-lt"/>
              </a:defRPr>
            </a:lvl4pPr>
            <a:lvl5pPr marL="1828800" indent="0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TWO-LINE SPACE HERE</a:t>
            </a:r>
            <a:endParaRPr lang="en-ZA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E2FF3FD-35B5-5002-375E-C84FAD7E277F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077075" y="1196671"/>
            <a:ext cx="4383823" cy="1900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200" spc="40" baseline="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GB" noProof="0" dirty="0"/>
              <a:t>These KPIs can be co-created with [Client X]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DAFB36-6B9C-6273-ED11-BD029B0C24C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33051" y="5201606"/>
            <a:ext cx="1658688" cy="1656395"/>
            <a:chOff x="523857" y="5201606"/>
            <a:chExt cx="1658688" cy="165639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8333F74-A9A0-BAEA-52D6-37EE57A40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rot="5400000" flipH="1" flipV="1">
              <a:off x="525004" y="5200460"/>
              <a:ext cx="1656394" cy="165868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93BFAB7-6346-212C-3F75-BC1131182D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rot="5400000" flipH="1" flipV="1">
              <a:off x="1567558" y="6243014"/>
              <a:ext cx="614413" cy="615560"/>
            </a:xfrm>
            <a:custGeom>
              <a:avLst/>
              <a:gdLst>
                <a:gd name="T0" fmla="*/ 195 w 536"/>
                <a:gd name="T1" fmla="*/ 537 h 537"/>
                <a:gd name="T2" fmla="*/ 195 w 536"/>
                <a:gd name="T3" fmla="*/ 342 h 537"/>
                <a:gd name="T4" fmla="*/ 0 w 536"/>
                <a:gd name="T5" fmla="*/ 342 h 537"/>
                <a:gd name="T6" fmla="*/ 0 w 536"/>
                <a:gd name="T7" fmla="*/ 195 h 537"/>
                <a:gd name="T8" fmla="*/ 195 w 536"/>
                <a:gd name="T9" fmla="*/ 195 h 537"/>
                <a:gd name="T10" fmla="*/ 195 w 536"/>
                <a:gd name="T11" fmla="*/ 0 h 537"/>
                <a:gd name="T12" fmla="*/ 341 w 536"/>
                <a:gd name="T13" fmla="*/ 0 h 537"/>
                <a:gd name="T14" fmla="*/ 341 w 536"/>
                <a:gd name="T15" fmla="*/ 195 h 537"/>
                <a:gd name="T16" fmla="*/ 536 w 536"/>
                <a:gd name="T17" fmla="*/ 195 h 537"/>
                <a:gd name="T18" fmla="*/ 536 w 536"/>
                <a:gd name="T19" fmla="*/ 342 h 537"/>
                <a:gd name="T20" fmla="*/ 341 w 536"/>
                <a:gd name="T21" fmla="*/ 342 h 537"/>
                <a:gd name="T22" fmla="*/ 341 w 536"/>
                <a:gd name="T23" fmla="*/ 537 h 537"/>
                <a:gd name="T24" fmla="*/ 195 w 536"/>
                <a:gd name="T2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6" h="537">
                  <a:moveTo>
                    <a:pt x="195" y="537"/>
                  </a:moveTo>
                  <a:lnTo>
                    <a:pt x="195" y="342"/>
                  </a:lnTo>
                  <a:lnTo>
                    <a:pt x="0" y="342"/>
                  </a:lnTo>
                  <a:lnTo>
                    <a:pt x="0" y="195"/>
                  </a:lnTo>
                  <a:lnTo>
                    <a:pt x="195" y="195"/>
                  </a:lnTo>
                  <a:lnTo>
                    <a:pt x="195" y="0"/>
                  </a:lnTo>
                  <a:lnTo>
                    <a:pt x="341" y="0"/>
                  </a:lnTo>
                  <a:lnTo>
                    <a:pt x="341" y="195"/>
                  </a:lnTo>
                  <a:lnTo>
                    <a:pt x="536" y="195"/>
                  </a:lnTo>
                  <a:lnTo>
                    <a:pt x="536" y="342"/>
                  </a:lnTo>
                  <a:lnTo>
                    <a:pt x="341" y="342"/>
                  </a:lnTo>
                  <a:lnTo>
                    <a:pt x="341" y="537"/>
                  </a:lnTo>
                  <a:lnTo>
                    <a:pt x="195" y="537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D1E1DB2-E1B0-18A7-3DD2-E11903462C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rot="5400000" flipH="1" flipV="1">
              <a:off x="524431" y="5201033"/>
              <a:ext cx="612121" cy="613267"/>
            </a:xfrm>
            <a:custGeom>
              <a:avLst/>
              <a:gdLst>
                <a:gd name="T0" fmla="*/ 195 w 534"/>
                <a:gd name="T1" fmla="*/ 535 h 535"/>
                <a:gd name="T2" fmla="*/ 195 w 534"/>
                <a:gd name="T3" fmla="*/ 340 h 535"/>
                <a:gd name="T4" fmla="*/ 0 w 534"/>
                <a:gd name="T5" fmla="*/ 340 h 535"/>
                <a:gd name="T6" fmla="*/ 0 w 534"/>
                <a:gd name="T7" fmla="*/ 193 h 535"/>
                <a:gd name="T8" fmla="*/ 195 w 534"/>
                <a:gd name="T9" fmla="*/ 193 h 535"/>
                <a:gd name="T10" fmla="*/ 195 w 534"/>
                <a:gd name="T11" fmla="*/ 0 h 535"/>
                <a:gd name="T12" fmla="*/ 342 w 534"/>
                <a:gd name="T13" fmla="*/ 0 h 535"/>
                <a:gd name="T14" fmla="*/ 342 w 534"/>
                <a:gd name="T15" fmla="*/ 193 h 535"/>
                <a:gd name="T16" fmla="*/ 534 w 534"/>
                <a:gd name="T17" fmla="*/ 193 h 535"/>
                <a:gd name="T18" fmla="*/ 534 w 534"/>
                <a:gd name="T19" fmla="*/ 340 h 535"/>
                <a:gd name="T20" fmla="*/ 342 w 534"/>
                <a:gd name="T21" fmla="*/ 340 h 535"/>
                <a:gd name="T22" fmla="*/ 342 w 534"/>
                <a:gd name="T23" fmla="*/ 535 h 535"/>
                <a:gd name="T24" fmla="*/ 195 w 534"/>
                <a:gd name="T2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4" h="535">
                  <a:moveTo>
                    <a:pt x="195" y="535"/>
                  </a:moveTo>
                  <a:lnTo>
                    <a:pt x="195" y="340"/>
                  </a:lnTo>
                  <a:lnTo>
                    <a:pt x="0" y="340"/>
                  </a:lnTo>
                  <a:lnTo>
                    <a:pt x="0" y="193"/>
                  </a:lnTo>
                  <a:lnTo>
                    <a:pt x="195" y="193"/>
                  </a:lnTo>
                  <a:lnTo>
                    <a:pt x="195" y="0"/>
                  </a:lnTo>
                  <a:lnTo>
                    <a:pt x="342" y="0"/>
                  </a:lnTo>
                  <a:lnTo>
                    <a:pt x="342" y="193"/>
                  </a:lnTo>
                  <a:lnTo>
                    <a:pt x="534" y="193"/>
                  </a:lnTo>
                  <a:lnTo>
                    <a:pt x="534" y="340"/>
                  </a:lnTo>
                  <a:lnTo>
                    <a:pt x="342" y="340"/>
                  </a:lnTo>
                  <a:lnTo>
                    <a:pt x="342" y="535"/>
                  </a:lnTo>
                  <a:lnTo>
                    <a:pt x="195" y="535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F5598A-F4FC-9FDF-6E33-FAA56CD379C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flipH="1" flipV="1">
            <a:off x="3068399" y="4593101"/>
            <a:ext cx="989252" cy="1419112"/>
            <a:chOff x="2" y="4091994"/>
            <a:chExt cx="989252" cy="1419112"/>
          </a:xfrm>
        </p:grpSpPr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A664A150-986B-8F4F-4B75-F507416552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rot="5400000" flipH="1" flipV="1">
              <a:off x="-212062" y="4403786"/>
              <a:ext cx="1319384" cy="895255"/>
            </a:xfrm>
            <a:custGeom>
              <a:avLst/>
              <a:gdLst>
                <a:gd name="T0" fmla="*/ 381 w 580"/>
                <a:gd name="T1" fmla="*/ 0 h 393"/>
                <a:gd name="T2" fmla="*/ 0 w 580"/>
                <a:gd name="T3" fmla="*/ 0 h 393"/>
                <a:gd name="T4" fmla="*/ 392 w 580"/>
                <a:gd name="T5" fmla="*/ 393 h 393"/>
                <a:gd name="T6" fmla="*/ 390 w 580"/>
                <a:gd name="T7" fmla="*/ 390 h 393"/>
                <a:gd name="T8" fmla="*/ 382 w 580"/>
                <a:gd name="T9" fmla="*/ 380 h 393"/>
                <a:gd name="T10" fmla="*/ 378 w 580"/>
                <a:gd name="T11" fmla="*/ 375 h 393"/>
                <a:gd name="T12" fmla="*/ 376 w 580"/>
                <a:gd name="T13" fmla="*/ 372 h 393"/>
                <a:gd name="T14" fmla="*/ 374 w 580"/>
                <a:gd name="T15" fmla="*/ 369 h 393"/>
                <a:gd name="T16" fmla="*/ 373 w 580"/>
                <a:gd name="T17" fmla="*/ 367 h 393"/>
                <a:gd name="T18" fmla="*/ 371 w 580"/>
                <a:gd name="T19" fmla="*/ 364 h 393"/>
                <a:gd name="T20" fmla="*/ 370 w 580"/>
                <a:gd name="T21" fmla="*/ 361 h 393"/>
                <a:gd name="T22" fmla="*/ 368 w 580"/>
                <a:gd name="T23" fmla="*/ 358 h 393"/>
                <a:gd name="T24" fmla="*/ 367 w 580"/>
                <a:gd name="T25" fmla="*/ 355 h 393"/>
                <a:gd name="T26" fmla="*/ 366 w 580"/>
                <a:gd name="T27" fmla="*/ 352 h 393"/>
                <a:gd name="T28" fmla="*/ 363 w 580"/>
                <a:gd name="T29" fmla="*/ 346 h 393"/>
                <a:gd name="T30" fmla="*/ 362 w 580"/>
                <a:gd name="T31" fmla="*/ 343 h 393"/>
                <a:gd name="T32" fmla="*/ 361 w 580"/>
                <a:gd name="T33" fmla="*/ 338 h 393"/>
                <a:gd name="T34" fmla="*/ 359 w 580"/>
                <a:gd name="T35" fmla="*/ 333 h 393"/>
                <a:gd name="T36" fmla="*/ 359 w 580"/>
                <a:gd name="T37" fmla="*/ 330 h 393"/>
                <a:gd name="T38" fmla="*/ 358 w 580"/>
                <a:gd name="T39" fmla="*/ 327 h 393"/>
                <a:gd name="T40" fmla="*/ 358 w 580"/>
                <a:gd name="T41" fmla="*/ 326 h 393"/>
                <a:gd name="T42" fmla="*/ 357 w 580"/>
                <a:gd name="T43" fmla="*/ 320 h 393"/>
                <a:gd name="T44" fmla="*/ 356 w 580"/>
                <a:gd name="T45" fmla="*/ 317 h 393"/>
                <a:gd name="T46" fmla="*/ 356 w 580"/>
                <a:gd name="T47" fmla="*/ 316 h 393"/>
                <a:gd name="T48" fmla="*/ 355 w 580"/>
                <a:gd name="T49" fmla="*/ 300 h 393"/>
                <a:gd name="T50" fmla="*/ 367 w 580"/>
                <a:gd name="T51" fmla="*/ 244 h 393"/>
                <a:gd name="T52" fmla="*/ 370 w 580"/>
                <a:gd name="T53" fmla="*/ 238 h 393"/>
                <a:gd name="T54" fmla="*/ 371 w 580"/>
                <a:gd name="T55" fmla="*/ 235 h 393"/>
                <a:gd name="T56" fmla="*/ 375 w 580"/>
                <a:gd name="T57" fmla="*/ 230 h 393"/>
                <a:gd name="T58" fmla="*/ 376 w 580"/>
                <a:gd name="T59" fmla="*/ 227 h 393"/>
                <a:gd name="T60" fmla="*/ 380 w 580"/>
                <a:gd name="T61" fmla="*/ 222 h 393"/>
                <a:gd name="T62" fmla="*/ 384 w 580"/>
                <a:gd name="T63" fmla="*/ 216 h 393"/>
                <a:gd name="T64" fmla="*/ 388 w 580"/>
                <a:gd name="T65" fmla="*/ 211 h 393"/>
                <a:gd name="T66" fmla="*/ 395 w 580"/>
                <a:gd name="T67" fmla="*/ 204 h 393"/>
                <a:gd name="T68" fmla="*/ 490 w 580"/>
                <a:gd name="T69" fmla="*/ 165 h 393"/>
                <a:gd name="T70" fmla="*/ 490 w 580"/>
                <a:gd name="T71" fmla="*/ 165 h 393"/>
                <a:gd name="T72" fmla="*/ 496 w 580"/>
                <a:gd name="T73" fmla="*/ 165 h 393"/>
                <a:gd name="T74" fmla="*/ 502 w 580"/>
                <a:gd name="T75" fmla="*/ 165 h 393"/>
                <a:gd name="T76" fmla="*/ 503 w 580"/>
                <a:gd name="T77" fmla="*/ 166 h 393"/>
                <a:gd name="T78" fmla="*/ 508 w 580"/>
                <a:gd name="T79" fmla="*/ 166 h 393"/>
                <a:gd name="T80" fmla="*/ 515 w 580"/>
                <a:gd name="T81" fmla="*/ 167 h 393"/>
                <a:gd name="T82" fmla="*/ 520 w 580"/>
                <a:gd name="T83" fmla="*/ 168 h 393"/>
                <a:gd name="T84" fmla="*/ 520 w 580"/>
                <a:gd name="T85" fmla="*/ 168 h 393"/>
                <a:gd name="T86" fmla="*/ 523 w 580"/>
                <a:gd name="T87" fmla="*/ 169 h 393"/>
                <a:gd name="T88" fmla="*/ 527 w 580"/>
                <a:gd name="T89" fmla="*/ 170 h 393"/>
                <a:gd name="T90" fmla="*/ 529 w 580"/>
                <a:gd name="T91" fmla="*/ 171 h 393"/>
                <a:gd name="T92" fmla="*/ 531 w 580"/>
                <a:gd name="T93" fmla="*/ 171 h 393"/>
                <a:gd name="T94" fmla="*/ 536 w 580"/>
                <a:gd name="T95" fmla="*/ 173 h 393"/>
                <a:gd name="T96" fmla="*/ 536 w 580"/>
                <a:gd name="T97" fmla="*/ 173 h 393"/>
                <a:gd name="T98" fmla="*/ 542 w 580"/>
                <a:gd name="T99" fmla="*/ 175 h 393"/>
                <a:gd name="T100" fmla="*/ 545 w 580"/>
                <a:gd name="T101" fmla="*/ 177 h 393"/>
                <a:gd name="T102" fmla="*/ 551 w 580"/>
                <a:gd name="T103" fmla="*/ 180 h 393"/>
                <a:gd name="T104" fmla="*/ 555 w 580"/>
                <a:gd name="T105" fmla="*/ 182 h 393"/>
                <a:gd name="T106" fmla="*/ 561 w 580"/>
                <a:gd name="T107" fmla="*/ 185 h 393"/>
                <a:gd name="T108" fmla="*/ 565 w 580"/>
                <a:gd name="T109" fmla="*/ 188 h 393"/>
                <a:gd name="T110" fmla="*/ 566 w 580"/>
                <a:gd name="T111" fmla="*/ 188 h 393"/>
                <a:gd name="T112" fmla="*/ 570 w 580"/>
                <a:gd name="T113" fmla="*/ 192 h 393"/>
                <a:gd name="T114" fmla="*/ 571 w 580"/>
                <a:gd name="T115" fmla="*/ 192 h 393"/>
                <a:gd name="T116" fmla="*/ 575 w 580"/>
                <a:gd name="T117" fmla="*/ 196 h 393"/>
                <a:gd name="T118" fmla="*/ 579 w 580"/>
                <a:gd name="T119" fmla="*/ 199 h 393"/>
                <a:gd name="T120" fmla="*/ 580 w 580"/>
                <a:gd name="T121" fmla="*/ 200 h 393"/>
                <a:gd name="T122" fmla="*/ 580 w 580"/>
                <a:gd name="T123" fmla="*/ 200 h 393"/>
                <a:gd name="T124" fmla="*/ 381 w 580"/>
                <a:gd name="T12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0" h="393">
                  <a:moveTo>
                    <a:pt x="38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92" y="393"/>
                    <a:pt x="392" y="393"/>
                    <a:pt x="392" y="393"/>
                  </a:cubicBezTo>
                  <a:cubicBezTo>
                    <a:pt x="391" y="392"/>
                    <a:pt x="391" y="391"/>
                    <a:pt x="390" y="390"/>
                  </a:cubicBezTo>
                  <a:cubicBezTo>
                    <a:pt x="387" y="387"/>
                    <a:pt x="384" y="383"/>
                    <a:pt x="382" y="380"/>
                  </a:cubicBezTo>
                  <a:cubicBezTo>
                    <a:pt x="380" y="378"/>
                    <a:pt x="379" y="377"/>
                    <a:pt x="378" y="375"/>
                  </a:cubicBezTo>
                  <a:cubicBezTo>
                    <a:pt x="377" y="374"/>
                    <a:pt x="377" y="373"/>
                    <a:pt x="376" y="372"/>
                  </a:cubicBezTo>
                  <a:cubicBezTo>
                    <a:pt x="376" y="371"/>
                    <a:pt x="375" y="370"/>
                    <a:pt x="374" y="369"/>
                  </a:cubicBezTo>
                  <a:cubicBezTo>
                    <a:pt x="374" y="368"/>
                    <a:pt x="373" y="367"/>
                    <a:pt x="373" y="367"/>
                  </a:cubicBezTo>
                  <a:cubicBezTo>
                    <a:pt x="372" y="366"/>
                    <a:pt x="372" y="365"/>
                    <a:pt x="371" y="364"/>
                  </a:cubicBezTo>
                  <a:cubicBezTo>
                    <a:pt x="371" y="363"/>
                    <a:pt x="370" y="362"/>
                    <a:pt x="370" y="361"/>
                  </a:cubicBezTo>
                  <a:cubicBezTo>
                    <a:pt x="369" y="360"/>
                    <a:pt x="369" y="359"/>
                    <a:pt x="368" y="358"/>
                  </a:cubicBezTo>
                  <a:cubicBezTo>
                    <a:pt x="368" y="357"/>
                    <a:pt x="367" y="356"/>
                    <a:pt x="367" y="355"/>
                  </a:cubicBezTo>
                  <a:cubicBezTo>
                    <a:pt x="367" y="354"/>
                    <a:pt x="366" y="353"/>
                    <a:pt x="366" y="352"/>
                  </a:cubicBezTo>
                  <a:cubicBezTo>
                    <a:pt x="365" y="350"/>
                    <a:pt x="364" y="348"/>
                    <a:pt x="363" y="346"/>
                  </a:cubicBezTo>
                  <a:cubicBezTo>
                    <a:pt x="363" y="345"/>
                    <a:pt x="362" y="344"/>
                    <a:pt x="362" y="343"/>
                  </a:cubicBezTo>
                  <a:cubicBezTo>
                    <a:pt x="362" y="341"/>
                    <a:pt x="361" y="340"/>
                    <a:pt x="361" y="338"/>
                  </a:cubicBezTo>
                  <a:cubicBezTo>
                    <a:pt x="360" y="337"/>
                    <a:pt x="360" y="335"/>
                    <a:pt x="359" y="333"/>
                  </a:cubicBezTo>
                  <a:cubicBezTo>
                    <a:pt x="359" y="332"/>
                    <a:pt x="359" y="331"/>
                    <a:pt x="359" y="330"/>
                  </a:cubicBezTo>
                  <a:cubicBezTo>
                    <a:pt x="358" y="329"/>
                    <a:pt x="358" y="328"/>
                    <a:pt x="358" y="327"/>
                  </a:cubicBezTo>
                  <a:cubicBezTo>
                    <a:pt x="358" y="327"/>
                    <a:pt x="358" y="326"/>
                    <a:pt x="358" y="326"/>
                  </a:cubicBezTo>
                  <a:cubicBezTo>
                    <a:pt x="357" y="324"/>
                    <a:pt x="357" y="322"/>
                    <a:pt x="357" y="320"/>
                  </a:cubicBezTo>
                  <a:cubicBezTo>
                    <a:pt x="356" y="319"/>
                    <a:pt x="356" y="318"/>
                    <a:pt x="356" y="317"/>
                  </a:cubicBezTo>
                  <a:cubicBezTo>
                    <a:pt x="356" y="316"/>
                    <a:pt x="356" y="316"/>
                    <a:pt x="356" y="316"/>
                  </a:cubicBezTo>
                  <a:cubicBezTo>
                    <a:pt x="355" y="311"/>
                    <a:pt x="355" y="305"/>
                    <a:pt x="355" y="300"/>
                  </a:cubicBezTo>
                  <a:cubicBezTo>
                    <a:pt x="355" y="280"/>
                    <a:pt x="359" y="261"/>
                    <a:pt x="367" y="244"/>
                  </a:cubicBezTo>
                  <a:cubicBezTo>
                    <a:pt x="368" y="242"/>
                    <a:pt x="369" y="240"/>
                    <a:pt x="370" y="238"/>
                  </a:cubicBezTo>
                  <a:cubicBezTo>
                    <a:pt x="370" y="237"/>
                    <a:pt x="371" y="236"/>
                    <a:pt x="371" y="235"/>
                  </a:cubicBezTo>
                  <a:cubicBezTo>
                    <a:pt x="372" y="233"/>
                    <a:pt x="373" y="232"/>
                    <a:pt x="375" y="230"/>
                  </a:cubicBezTo>
                  <a:cubicBezTo>
                    <a:pt x="375" y="229"/>
                    <a:pt x="376" y="228"/>
                    <a:pt x="376" y="227"/>
                  </a:cubicBezTo>
                  <a:cubicBezTo>
                    <a:pt x="377" y="225"/>
                    <a:pt x="379" y="223"/>
                    <a:pt x="380" y="222"/>
                  </a:cubicBezTo>
                  <a:cubicBezTo>
                    <a:pt x="381" y="220"/>
                    <a:pt x="382" y="218"/>
                    <a:pt x="384" y="216"/>
                  </a:cubicBezTo>
                  <a:cubicBezTo>
                    <a:pt x="385" y="215"/>
                    <a:pt x="386" y="213"/>
                    <a:pt x="388" y="211"/>
                  </a:cubicBezTo>
                  <a:cubicBezTo>
                    <a:pt x="390" y="209"/>
                    <a:pt x="392" y="207"/>
                    <a:pt x="395" y="204"/>
                  </a:cubicBezTo>
                  <a:cubicBezTo>
                    <a:pt x="419" y="180"/>
                    <a:pt x="453" y="165"/>
                    <a:pt x="490" y="165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92" y="165"/>
                    <a:pt x="494" y="165"/>
                    <a:pt x="496" y="165"/>
                  </a:cubicBezTo>
                  <a:cubicBezTo>
                    <a:pt x="498" y="165"/>
                    <a:pt x="500" y="165"/>
                    <a:pt x="502" y="165"/>
                  </a:cubicBezTo>
                  <a:cubicBezTo>
                    <a:pt x="502" y="165"/>
                    <a:pt x="503" y="166"/>
                    <a:pt x="503" y="166"/>
                  </a:cubicBezTo>
                  <a:cubicBezTo>
                    <a:pt x="505" y="166"/>
                    <a:pt x="507" y="166"/>
                    <a:pt x="508" y="166"/>
                  </a:cubicBezTo>
                  <a:cubicBezTo>
                    <a:pt x="511" y="166"/>
                    <a:pt x="513" y="167"/>
                    <a:pt x="515" y="167"/>
                  </a:cubicBezTo>
                  <a:cubicBezTo>
                    <a:pt x="517" y="168"/>
                    <a:pt x="519" y="168"/>
                    <a:pt x="520" y="168"/>
                  </a:cubicBezTo>
                  <a:cubicBezTo>
                    <a:pt x="520" y="168"/>
                    <a:pt x="520" y="168"/>
                    <a:pt x="520" y="168"/>
                  </a:cubicBezTo>
                  <a:cubicBezTo>
                    <a:pt x="521" y="169"/>
                    <a:pt x="522" y="169"/>
                    <a:pt x="523" y="169"/>
                  </a:cubicBezTo>
                  <a:cubicBezTo>
                    <a:pt x="524" y="169"/>
                    <a:pt x="525" y="170"/>
                    <a:pt x="527" y="170"/>
                  </a:cubicBezTo>
                  <a:cubicBezTo>
                    <a:pt x="527" y="170"/>
                    <a:pt x="528" y="170"/>
                    <a:pt x="529" y="171"/>
                  </a:cubicBezTo>
                  <a:cubicBezTo>
                    <a:pt x="530" y="171"/>
                    <a:pt x="530" y="171"/>
                    <a:pt x="531" y="171"/>
                  </a:cubicBezTo>
                  <a:cubicBezTo>
                    <a:pt x="533" y="172"/>
                    <a:pt x="534" y="172"/>
                    <a:pt x="536" y="173"/>
                  </a:cubicBezTo>
                  <a:cubicBezTo>
                    <a:pt x="536" y="173"/>
                    <a:pt x="536" y="173"/>
                    <a:pt x="536" y="173"/>
                  </a:cubicBezTo>
                  <a:cubicBezTo>
                    <a:pt x="538" y="174"/>
                    <a:pt x="540" y="175"/>
                    <a:pt x="542" y="175"/>
                  </a:cubicBezTo>
                  <a:cubicBezTo>
                    <a:pt x="543" y="176"/>
                    <a:pt x="544" y="176"/>
                    <a:pt x="545" y="177"/>
                  </a:cubicBezTo>
                  <a:cubicBezTo>
                    <a:pt x="547" y="178"/>
                    <a:pt x="549" y="179"/>
                    <a:pt x="551" y="180"/>
                  </a:cubicBezTo>
                  <a:cubicBezTo>
                    <a:pt x="552" y="180"/>
                    <a:pt x="554" y="181"/>
                    <a:pt x="555" y="182"/>
                  </a:cubicBezTo>
                  <a:cubicBezTo>
                    <a:pt x="557" y="183"/>
                    <a:pt x="559" y="184"/>
                    <a:pt x="561" y="185"/>
                  </a:cubicBezTo>
                  <a:cubicBezTo>
                    <a:pt x="563" y="186"/>
                    <a:pt x="564" y="187"/>
                    <a:pt x="565" y="188"/>
                  </a:cubicBezTo>
                  <a:cubicBezTo>
                    <a:pt x="566" y="188"/>
                    <a:pt x="566" y="188"/>
                    <a:pt x="566" y="188"/>
                  </a:cubicBezTo>
                  <a:cubicBezTo>
                    <a:pt x="567" y="189"/>
                    <a:pt x="569" y="191"/>
                    <a:pt x="570" y="192"/>
                  </a:cubicBezTo>
                  <a:cubicBezTo>
                    <a:pt x="571" y="192"/>
                    <a:pt x="571" y="192"/>
                    <a:pt x="571" y="192"/>
                  </a:cubicBezTo>
                  <a:cubicBezTo>
                    <a:pt x="572" y="193"/>
                    <a:pt x="574" y="194"/>
                    <a:pt x="575" y="196"/>
                  </a:cubicBezTo>
                  <a:cubicBezTo>
                    <a:pt x="577" y="197"/>
                    <a:pt x="578" y="198"/>
                    <a:pt x="579" y="199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381" y="0"/>
                    <a:pt x="381" y="0"/>
                    <a:pt x="381" y="0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C6108278-2E69-F1E1-42D9-5231470DBB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 rot="5400000" flipH="1" flipV="1">
              <a:off x="376560" y="4091421"/>
              <a:ext cx="612121" cy="613267"/>
            </a:xfrm>
            <a:custGeom>
              <a:avLst/>
              <a:gdLst>
                <a:gd name="T0" fmla="*/ 33 w 269"/>
                <a:gd name="T1" fmla="*/ 46 h 269"/>
                <a:gd name="T2" fmla="*/ 25 w 269"/>
                <a:gd name="T3" fmla="*/ 57 h 269"/>
                <a:gd name="T4" fmla="*/ 20 w 269"/>
                <a:gd name="T5" fmla="*/ 65 h 269"/>
                <a:gd name="T6" fmla="*/ 15 w 269"/>
                <a:gd name="T7" fmla="*/ 73 h 269"/>
                <a:gd name="T8" fmla="*/ 11 w 269"/>
                <a:gd name="T9" fmla="*/ 82 h 269"/>
                <a:gd name="T10" fmla="*/ 8 w 269"/>
                <a:gd name="T11" fmla="*/ 90 h 269"/>
                <a:gd name="T12" fmla="*/ 5 w 269"/>
                <a:gd name="T13" fmla="*/ 97 h 269"/>
                <a:gd name="T14" fmla="*/ 3 w 269"/>
                <a:gd name="T15" fmla="*/ 106 h 269"/>
                <a:gd name="T16" fmla="*/ 1 w 269"/>
                <a:gd name="T17" fmla="*/ 120 h 269"/>
                <a:gd name="T18" fmla="*/ 0 w 269"/>
                <a:gd name="T19" fmla="*/ 143 h 269"/>
                <a:gd name="T20" fmla="*/ 1 w 269"/>
                <a:gd name="T21" fmla="*/ 152 h 269"/>
                <a:gd name="T22" fmla="*/ 3 w 269"/>
                <a:gd name="T23" fmla="*/ 161 h 269"/>
                <a:gd name="T24" fmla="*/ 4 w 269"/>
                <a:gd name="T25" fmla="*/ 165 h 269"/>
                <a:gd name="T26" fmla="*/ 6 w 269"/>
                <a:gd name="T27" fmla="*/ 173 h 269"/>
                <a:gd name="T28" fmla="*/ 8 w 269"/>
                <a:gd name="T29" fmla="*/ 181 h 269"/>
                <a:gd name="T30" fmla="*/ 12 w 269"/>
                <a:gd name="T31" fmla="*/ 190 h 269"/>
                <a:gd name="T32" fmla="*/ 15 w 269"/>
                <a:gd name="T33" fmla="*/ 196 h 269"/>
                <a:gd name="T34" fmla="*/ 18 w 269"/>
                <a:gd name="T35" fmla="*/ 202 h 269"/>
                <a:gd name="T36" fmla="*/ 21 w 269"/>
                <a:gd name="T37" fmla="*/ 207 h 269"/>
                <a:gd name="T38" fmla="*/ 27 w 269"/>
                <a:gd name="T39" fmla="*/ 215 h 269"/>
                <a:gd name="T40" fmla="*/ 135 w 269"/>
                <a:gd name="T41" fmla="*/ 269 h 269"/>
                <a:gd name="T42" fmla="*/ 225 w 269"/>
                <a:gd name="T43" fmla="*/ 35 h 269"/>
                <a:gd name="T44" fmla="*/ 224 w 269"/>
                <a:gd name="T45" fmla="*/ 34 h 269"/>
                <a:gd name="T46" fmla="*/ 216 w 269"/>
                <a:gd name="T47" fmla="*/ 27 h 269"/>
                <a:gd name="T48" fmla="*/ 211 w 269"/>
                <a:gd name="T49" fmla="*/ 23 h 269"/>
                <a:gd name="T50" fmla="*/ 206 w 269"/>
                <a:gd name="T51" fmla="*/ 20 h 269"/>
                <a:gd name="T52" fmla="*/ 196 w 269"/>
                <a:gd name="T53" fmla="*/ 15 h 269"/>
                <a:gd name="T54" fmla="*/ 187 w 269"/>
                <a:gd name="T55" fmla="*/ 10 h 269"/>
                <a:gd name="T56" fmla="*/ 181 w 269"/>
                <a:gd name="T57" fmla="*/ 8 h 269"/>
                <a:gd name="T58" fmla="*/ 174 w 269"/>
                <a:gd name="T59" fmla="*/ 6 h 269"/>
                <a:gd name="T60" fmla="*/ 168 w 269"/>
                <a:gd name="T61" fmla="*/ 4 h 269"/>
                <a:gd name="T62" fmla="*/ 165 w 269"/>
                <a:gd name="T63" fmla="*/ 3 h 269"/>
                <a:gd name="T64" fmla="*/ 153 w 269"/>
                <a:gd name="T65" fmla="*/ 1 h 269"/>
                <a:gd name="T66" fmla="*/ 147 w 269"/>
                <a:gd name="T67" fmla="*/ 0 h 269"/>
                <a:gd name="T68" fmla="*/ 135 w 269"/>
                <a:gd name="T69" fmla="*/ 0 h 269"/>
                <a:gd name="T70" fmla="*/ 40 w 269"/>
                <a:gd name="T71" fmla="*/ 39 h 269"/>
                <a:gd name="T72" fmla="*/ 135 w 269"/>
                <a:gd name="T73" fmla="*/ 195 h 269"/>
                <a:gd name="T74" fmla="*/ 135 w 269"/>
                <a:gd name="T75" fmla="*/ 7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9" h="269">
                  <a:moveTo>
                    <a:pt x="40" y="39"/>
                  </a:moveTo>
                  <a:cubicBezTo>
                    <a:pt x="37" y="42"/>
                    <a:pt x="35" y="44"/>
                    <a:pt x="33" y="46"/>
                  </a:cubicBezTo>
                  <a:cubicBezTo>
                    <a:pt x="32" y="48"/>
                    <a:pt x="30" y="50"/>
                    <a:pt x="29" y="51"/>
                  </a:cubicBezTo>
                  <a:cubicBezTo>
                    <a:pt x="27" y="53"/>
                    <a:pt x="26" y="55"/>
                    <a:pt x="25" y="57"/>
                  </a:cubicBezTo>
                  <a:cubicBezTo>
                    <a:pt x="24" y="58"/>
                    <a:pt x="22" y="60"/>
                    <a:pt x="21" y="62"/>
                  </a:cubicBezTo>
                  <a:cubicBezTo>
                    <a:pt x="21" y="63"/>
                    <a:pt x="20" y="64"/>
                    <a:pt x="20" y="65"/>
                  </a:cubicBezTo>
                  <a:cubicBezTo>
                    <a:pt x="18" y="67"/>
                    <a:pt x="17" y="68"/>
                    <a:pt x="16" y="70"/>
                  </a:cubicBezTo>
                  <a:cubicBezTo>
                    <a:pt x="16" y="71"/>
                    <a:pt x="15" y="72"/>
                    <a:pt x="15" y="73"/>
                  </a:cubicBezTo>
                  <a:cubicBezTo>
                    <a:pt x="14" y="75"/>
                    <a:pt x="13" y="77"/>
                    <a:pt x="12" y="79"/>
                  </a:cubicBezTo>
                  <a:cubicBezTo>
                    <a:pt x="11" y="80"/>
                    <a:pt x="11" y="81"/>
                    <a:pt x="11" y="82"/>
                  </a:cubicBezTo>
                  <a:cubicBezTo>
                    <a:pt x="10" y="84"/>
                    <a:pt x="10" y="85"/>
                    <a:pt x="9" y="86"/>
                  </a:cubicBezTo>
                  <a:cubicBezTo>
                    <a:pt x="9" y="87"/>
                    <a:pt x="8" y="88"/>
                    <a:pt x="8" y="90"/>
                  </a:cubicBezTo>
                  <a:cubicBezTo>
                    <a:pt x="7" y="91"/>
                    <a:pt x="7" y="92"/>
                    <a:pt x="6" y="93"/>
                  </a:cubicBezTo>
                  <a:cubicBezTo>
                    <a:pt x="6" y="95"/>
                    <a:pt x="6" y="96"/>
                    <a:pt x="5" y="97"/>
                  </a:cubicBezTo>
                  <a:cubicBezTo>
                    <a:pt x="5" y="100"/>
                    <a:pt x="4" y="102"/>
                    <a:pt x="3" y="105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3" y="108"/>
                    <a:pt x="2" y="110"/>
                    <a:pt x="2" y="113"/>
                  </a:cubicBezTo>
                  <a:cubicBezTo>
                    <a:pt x="1" y="115"/>
                    <a:pt x="1" y="118"/>
                    <a:pt x="1" y="120"/>
                  </a:cubicBezTo>
                  <a:cubicBezTo>
                    <a:pt x="0" y="125"/>
                    <a:pt x="0" y="130"/>
                    <a:pt x="0" y="135"/>
                  </a:cubicBezTo>
                  <a:cubicBezTo>
                    <a:pt x="0" y="137"/>
                    <a:pt x="0" y="140"/>
                    <a:pt x="0" y="143"/>
                  </a:cubicBezTo>
                  <a:cubicBezTo>
                    <a:pt x="1" y="146"/>
                    <a:pt x="1" y="148"/>
                    <a:pt x="1" y="15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1" y="153"/>
                    <a:pt x="1" y="154"/>
                    <a:pt x="2" y="155"/>
                  </a:cubicBezTo>
                  <a:cubicBezTo>
                    <a:pt x="2" y="157"/>
                    <a:pt x="2" y="159"/>
                    <a:pt x="3" y="161"/>
                  </a:cubicBezTo>
                  <a:cubicBezTo>
                    <a:pt x="3" y="161"/>
                    <a:pt x="3" y="162"/>
                    <a:pt x="3" y="162"/>
                  </a:cubicBezTo>
                  <a:cubicBezTo>
                    <a:pt x="3" y="163"/>
                    <a:pt x="3" y="164"/>
                    <a:pt x="4" y="165"/>
                  </a:cubicBezTo>
                  <a:cubicBezTo>
                    <a:pt x="4" y="166"/>
                    <a:pt x="4" y="167"/>
                    <a:pt x="4" y="168"/>
                  </a:cubicBezTo>
                  <a:cubicBezTo>
                    <a:pt x="5" y="170"/>
                    <a:pt x="5" y="172"/>
                    <a:pt x="6" y="173"/>
                  </a:cubicBezTo>
                  <a:cubicBezTo>
                    <a:pt x="6" y="175"/>
                    <a:pt x="7" y="176"/>
                    <a:pt x="7" y="178"/>
                  </a:cubicBezTo>
                  <a:cubicBezTo>
                    <a:pt x="8" y="179"/>
                    <a:pt x="8" y="180"/>
                    <a:pt x="8" y="181"/>
                  </a:cubicBezTo>
                  <a:cubicBezTo>
                    <a:pt x="9" y="183"/>
                    <a:pt x="10" y="185"/>
                    <a:pt x="11" y="187"/>
                  </a:cubicBezTo>
                  <a:cubicBezTo>
                    <a:pt x="11" y="188"/>
                    <a:pt x="12" y="189"/>
                    <a:pt x="12" y="190"/>
                  </a:cubicBezTo>
                  <a:cubicBezTo>
                    <a:pt x="12" y="191"/>
                    <a:pt x="13" y="192"/>
                    <a:pt x="13" y="193"/>
                  </a:cubicBezTo>
                  <a:cubicBezTo>
                    <a:pt x="14" y="194"/>
                    <a:pt x="14" y="195"/>
                    <a:pt x="15" y="196"/>
                  </a:cubicBezTo>
                  <a:cubicBezTo>
                    <a:pt x="15" y="197"/>
                    <a:pt x="16" y="198"/>
                    <a:pt x="16" y="199"/>
                  </a:cubicBezTo>
                  <a:cubicBezTo>
                    <a:pt x="17" y="200"/>
                    <a:pt x="17" y="201"/>
                    <a:pt x="18" y="202"/>
                  </a:cubicBezTo>
                  <a:cubicBezTo>
                    <a:pt x="18" y="202"/>
                    <a:pt x="19" y="203"/>
                    <a:pt x="19" y="204"/>
                  </a:cubicBezTo>
                  <a:cubicBezTo>
                    <a:pt x="20" y="205"/>
                    <a:pt x="21" y="206"/>
                    <a:pt x="21" y="207"/>
                  </a:cubicBezTo>
                  <a:cubicBezTo>
                    <a:pt x="22" y="208"/>
                    <a:pt x="22" y="209"/>
                    <a:pt x="23" y="210"/>
                  </a:cubicBezTo>
                  <a:cubicBezTo>
                    <a:pt x="24" y="212"/>
                    <a:pt x="25" y="213"/>
                    <a:pt x="27" y="215"/>
                  </a:cubicBezTo>
                  <a:cubicBezTo>
                    <a:pt x="29" y="218"/>
                    <a:pt x="32" y="222"/>
                    <a:pt x="35" y="225"/>
                  </a:cubicBezTo>
                  <a:cubicBezTo>
                    <a:pt x="60" y="252"/>
                    <a:pt x="95" y="269"/>
                    <a:pt x="135" y="269"/>
                  </a:cubicBezTo>
                  <a:cubicBezTo>
                    <a:pt x="209" y="269"/>
                    <a:pt x="269" y="209"/>
                    <a:pt x="269" y="135"/>
                  </a:cubicBezTo>
                  <a:cubicBezTo>
                    <a:pt x="269" y="95"/>
                    <a:pt x="252" y="59"/>
                    <a:pt x="225" y="35"/>
                  </a:cubicBezTo>
                  <a:cubicBezTo>
                    <a:pt x="225" y="35"/>
                    <a:pt x="225" y="35"/>
                    <a:pt x="225" y="35"/>
                  </a:cubicBezTo>
                  <a:cubicBezTo>
                    <a:pt x="224" y="34"/>
                    <a:pt x="224" y="34"/>
                    <a:pt x="224" y="34"/>
                  </a:cubicBezTo>
                  <a:cubicBezTo>
                    <a:pt x="223" y="33"/>
                    <a:pt x="222" y="32"/>
                    <a:pt x="220" y="31"/>
                  </a:cubicBezTo>
                  <a:cubicBezTo>
                    <a:pt x="219" y="29"/>
                    <a:pt x="217" y="28"/>
                    <a:pt x="216" y="27"/>
                  </a:cubicBezTo>
                  <a:cubicBezTo>
                    <a:pt x="215" y="27"/>
                    <a:pt x="215" y="27"/>
                    <a:pt x="215" y="27"/>
                  </a:cubicBezTo>
                  <a:cubicBezTo>
                    <a:pt x="214" y="26"/>
                    <a:pt x="212" y="24"/>
                    <a:pt x="2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09" y="22"/>
                    <a:pt x="208" y="21"/>
                    <a:pt x="206" y="20"/>
                  </a:cubicBezTo>
                  <a:cubicBezTo>
                    <a:pt x="204" y="19"/>
                    <a:pt x="202" y="18"/>
                    <a:pt x="200" y="17"/>
                  </a:cubicBezTo>
                  <a:cubicBezTo>
                    <a:pt x="199" y="16"/>
                    <a:pt x="197" y="15"/>
                    <a:pt x="196" y="15"/>
                  </a:cubicBezTo>
                  <a:cubicBezTo>
                    <a:pt x="194" y="14"/>
                    <a:pt x="192" y="13"/>
                    <a:pt x="190" y="12"/>
                  </a:cubicBezTo>
                  <a:cubicBezTo>
                    <a:pt x="189" y="11"/>
                    <a:pt x="188" y="11"/>
                    <a:pt x="187" y="10"/>
                  </a:cubicBezTo>
                  <a:cubicBezTo>
                    <a:pt x="185" y="10"/>
                    <a:pt x="183" y="9"/>
                    <a:pt x="181" y="8"/>
                  </a:cubicBezTo>
                  <a:cubicBezTo>
                    <a:pt x="181" y="8"/>
                    <a:pt x="181" y="8"/>
                    <a:pt x="181" y="8"/>
                  </a:cubicBezTo>
                  <a:cubicBezTo>
                    <a:pt x="179" y="7"/>
                    <a:pt x="178" y="7"/>
                    <a:pt x="176" y="6"/>
                  </a:cubicBezTo>
                  <a:cubicBezTo>
                    <a:pt x="175" y="6"/>
                    <a:pt x="175" y="6"/>
                    <a:pt x="174" y="6"/>
                  </a:cubicBezTo>
                  <a:cubicBezTo>
                    <a:pt x="173" y="5"/>
                    <a:pt x="172" y="5"/>
                    <a:pt x="172" y="5"/>
                  </a:cubicBezTo>
                  <a:cubicBezTo>
                    <a:pt x="170" y="5"/>
                    <a:pt x="169" y="4"/>
                    <a:pt x="168" y="4"/>
                  </a:cubicBezTo>
                  <a:cubicBezTo>
                    <a:pt x="167" y="4"/>
                    <a:pt x="166" y="4"/>
                    <a:pt x="165" y="3"/>
                  </a:cubicBezTo>
                  <a:cubicBezTo>
                    <a:pt x="165" y="3"/>
                    <a:pt x="165" y="3"/>
                    <a:pt x="165" y="3"/>
                  </a:cubicBezTo>
                  <a:cubicBezTo>
                    <a:pt x="164" y="3"/>
                    <a:pt x="162" y="3"/>
                    <a:pt x="160" y="2"/>
                  </a:cubicBezTo>
                  <a:cubicBezTo>
                    <a:pt x="158" y="2"/>
                    <a:pt x="156" y="1"/>
                    <a:pt x="153" y="1"/>
                  </a:cubicBezTo>
                  <a:cubicBezTo>
                    <a:pt x="152" y="1"/>
                    <a:pt x="150" y="1"/>
                    <a:pt x="148" y="1"/>
                  </a:cubicBezTo>
                  <a:cubicBezTo>
                    <a:pt x="148" y="1"/>
                    <a:pt x="147" y="0"/>
                    <a:pt x="147" y="0"/>
                  </a:cubicBezTo>
                  <a:cubicBezTo>
                    <a:pt x="145" y="0"/>
                    <a:pt x="143" y="0"/>
                    <a:pt x="141" y="0"/>
                  </a:cubicBezTo>
                  <a:cubicBezTo>
                    <a:pt x="139" y="0"/>
                    <a:pt x="137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98" y="0"/>
                    <a:pt x="64" y="15"/>
                    <a:pt x="40" y="39"/>
                  </a:cubicBezTo>
                  <a:close/>
                  <a:moveTo>
                    <a:pt x="196" y="135"/>
                  </a:moveTo>
                  <a:cubicBezTo>
                    <a:pt x="196" y="168"/>
                    <a:pt x="168" y="195"/>
                    <a:pt x="135" y="195"/>
                  </a:cubicBezTo>
                  <a:cubicBezTo>
                    <a:pt x="101" y="195"/>
                    <a:pt x="74" y="168"/>
                    <a:pt x="74" y="135"/>
                  </a:cubicBezTo>
                  <a:cubicBezTo>
                    <a:pt x="74" y="101"/>
                    <a:pt x="101" y="74"/>
                    <a:pt x="135" y="74"/>
                  </a:cubicBezTo>
                  <a:cubicBezTo>
                    <a:pt x="168" y="74"/>
                    <a:pt x="196" y="101"/>
                    <a:pt x="196" y="1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5DB76A-B4CD-7D89-EA7A-7680877EF9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1546630" y="6551147"/>
            <a:ext cx="614413" cy="306853"/>
          </a:xfrm>
          <a:custGeom>
            <a:avLst/>
            <a:gdLst>
              <a:gd name="connsiteX0" fmla="*/ 0 w 614413"/>
              <a:gd name="connsiteY0" fmla="*/ 0 h 306853"/>
              <a:gd name="connsiteX1" fmla="*/ 168505 w 614413"/>
              <a:gd name="connsiteY1" fmla="*/ 0 h 306853"/>
              <a:gd name="connsiteX2" fmla="*/ 168505 w 614413"/>
              <a:gd name="connsiteY2" fmla="*/ 138348 h 306853"/>
              <a:gd name="connsiteX3" fmla="*/ 445908 w 614413"/>
              <a:gd name="connsiteY3" fmla="*/ 138348 h 306853"/>
              <a:gd name="connsiteX4" fmla="*/ 445908 w 614413"/>
              <a:gd name="connsiteY4" fmla="*/ 0 h 306853"/>
              <a:gd name="connsiteX5" fmla="*/ 614413 w 614413"/>
              <a:gd name="connsiteY5" fmla="*/ 0 h 306853"/>
              <a:gd name="connsiteX6" fmla="*/ 614413 w 614413"/>
              <a:gd name="connsiteY6" fmla="*/ 306853 h 306853"/>
              <a:gd name="connsiteX7" fmla="*/ 0 w 614413"/>
              <a:gd name="connsiteY7" fmla="*/ 306853 h 306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13" h="306853">
                <a:moveTo>
                  <a:pt x="0" y="0"/>
                </a:moveTo>
                <a:lnTo>
                  <a:pt x="168505" y="0"/>
                </a:lnTo>
                <a:lnTo>
                  <a:pt x="168505" y="138348"/>
                </a:lnTo>
                <a:lnTo>
                  <a:pt x="445908" y="138348"/>
                </a:lnTo>
                <a:lnTo>
                  <a:pt x="445908" y="0"/>
                </a:lnTo>
                <a:lnTo>
                  <a:pt x="614413" y="0"/>
                </a:lnTo>
                <a:lnTo>
                  <a:pt x="614413" y="306853"/>
                </a:lnTo>
                <a:lnTo>
                  <a:pt x="0" y="3068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29909A6-5C0E-3C4C-80F0-73A25C024A27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88961" y="2952972"/>
            <a:ext cx="2830513" cy="487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900"/>
              </a:lnSpc>
              <a:spcBef>
                <a:spcPts val="600"/>
              </a:spcBef>
              <a:buNone/>
              <a:defRPr sz="1600" spc="3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800"/>
              </a:lnSpc>
              <a:spcBef>
                <a:spcPts val="600"/>
              </a:spcBef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2pPr>
            <a:lvl3pPr marL="914400" indent="0">
              <a:lnSpc>
                <a:spcPts val="1800"/>
              </a:lnSpc>
              <a:spcBef>
                <a:spcPts val="600"/>
              </a:spcBef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3pPr>
            <a:lvl4pPr marL="1371600" indent="0">
              <a:lnSpc>
                <a:spcPts val="1800"/>
              </a:lnSpc>
              <a:spcBef>
                <a:spcPts val="600"/>
              </a:spcBef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4pPr>
            <a:lvl5pPr marL="1828800" indent="0">
              <a:lnSpc>
                <a:spcPts val="1800"/>
              </a:lnSpc>
              <a:spcBef>
                <a:spcPts val="600"/>
              </a:spcBef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These KPIs can be co-created with [Client]</a:t>
            </a:r>
            <a:endParaRPr lang="en-GB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E0B8B3D-C22C-7D53-8B82-EEC39BC7D7A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606826" y="1998045"/>
            <a:ext cx="7032722" cy="810660"/>
            <a:chOff x="4606826" y="1998045"/>
            <a:chExt cx="7032722" cy="8106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678FA3E-CCBE-6A35-02FD-A9AF1ABBBA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06826" y="1998045"/>
              <a:ext cx="1720641" cy="8106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AE79B40-765F-ED81-630C-02287C8E0778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246490" y="1998045"/>
              <a:ext cx="5393058" cy="810660"/>
              <a:chOff x="6246490" y="886367"/>
              <a:chExt cx="5393058" cy="8106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16A1DA7-BCCF-D176-1CAC-775E1897D9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776036" y="886367"/>
                <a:ext cx="4863512" cy="810660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F40C73F1-63DD-E6A8-8947-DE7E3A933E1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V="1">
                <a:off x="6327467" y="1291697"/>
                <a:ext cx="451952" cy="1"/>
              </a:xfrm>
              <a:prstGeom prst="lin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1914F98-6028-18F1-0F9B-D381C3A64303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>
              <a:xfrm>
                <a:off x="6246490" y="1200256"/>
                <a:ext cx="182876" cy="182876"/>
                <a:chOff x="4773922" y="1600369"/>
                <a:chExt cx="192760" cy="192760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26585C2A-87DE-3026-63C9-C07FA1469AA6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4773922" y="1600369"/>
                  <a:ext cx="192760" cy="1927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pic>
              <p:nvPicPr>
                <p:cNvPr id="64" name="Graphic 63">
                  <a:extLst>
                    <a:ext uri="{FF2B5EF4-FFF2-40B4-BE49-F238E27FC236}">
                      <a16:creationId xmlns:a16="http://schemas.microsoft.com/office/drawing/2014/main" id="{CC13BA29-3064-B81F-BD69-5FA11B9F86CE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 userDrawn="1"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6584" y="1643033"/>
                  <a:ext cx="107439" cy="10743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8B95499-0EA3-BCF5-513C-479A2EEAC4F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606825" y="3109723"/>
            <a:ext cx="7032723" cy="810660"/>
            <a:chOff x="4606825" y="3109723"/>
            <a:chExt cx="7032723" cy="81066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84AD654-F911-5F2B-09CD-5F0CC93C9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06825" y="3109723"/>
              <a:ext cx="1720641" cy="81066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15EA624-6502-A8BE-6086-6AB735F5482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246490" y="3109723"/>
              <a:ext cx="5393058" cy="810660"/>
              <a:chOff x="6246490" y="886367"/>
              <a:chExt cx="5393058" cy="81066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9411A9F-A0A7-DFF2-375C-0108D336C79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776036" y="886367"/>
                <a:ext cx="4863512" cy="810660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D1EB0FA-ED60-3668-5717-BAE4548EAAC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V="1">
                <a:off x="6327467" y="1291697"/>
                <a:ext cx="451952" cy="1"/>
              </a:xfrm>
              <a:prstGeom prst="lin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3BED1EF-BD93-E1B6-EB6A-E8C71BA079D9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>
              <a:xfrm>
                <a:off x="6246490" y="1200256"/>
                <a:ext cx="182876" cy="182876"/>
                <a:chOff x="4773922" y="1600369"/>
                <a:chExt cx="192760" cy="192760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86C27BDB-928D-3712-9CD7-058A118A5DA2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4773922" y="1600369"/>
                  <a:ext cx="192760" cy="1927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pic>
              <p:nvPicPr>
                <p:cNvPr id="70" name="Graphic 69">
                  <a:extLst>
                    <a:ext uri="{FF2B5EF4-FFF2-40B4-BE49-F238E27FC236}">
                      <a16:creationId xmlns:a16="http://schemas.microsoft.com/office/drawing/2014/main" id="{085BC6DA-E5F7-E27E-167C-62B06C21A3A4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 userDrawn="1"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6584" y="1643033"/>
                  <a:ext cx="107439" cy="10743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3B9F022-B93C-2857-7A5D-DC4A290CFDE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606824" y="4221401"/>
            <a:ext cx="7032724" cy="810660"/>
            <a:chOff x="4606824" y="4221401"/>
            <a:chExt cx="7032724" cy="8106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0BCE24A-D9D5-3029-5294-624F2AB24A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06824" y="4221401"/>
              <a:ext cx="1720641" cy="81066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E804D23-7924-74FB-8248-DFE618A9BEF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246490" y="4221401"/>
              <a:ext cx="5393058" cy="810660"/>
              <a:chOff x="6246490" y="886367"/>
              <a:chExt cx="5393058" cy="81066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680FF70-713F-8006-0653-9A0C691FA0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776036" y="886367"/>
                <a:ext cx="4863512" cy="810660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490F3A6-55E0-90A6-00CA-37DF2B5C947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V="1">
                <a:off x="6327467" y="1291697"/>
                <a:ext cx="451952" cy="1"/>
              </a:xfrm>
              <a:prstGeom prst="lin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5A9BBE3-F2E3-1C7A-949E-CE5B624B0F0A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>
              <a:xfrm>
                <a:off x="6246490" y="1200256"/>
                <a:ext cx="182876" cy="182876"/>
                <a:chOff x="4773922" y="1600369"/>
                <a:chExt cx="192760" cy="192760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CC00024E-EEFC-A0AF-CE05-2265BCAB5E2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4773922" y="1600369"/>
                  <a:ext cx="192760" cy="1927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pic>
              <p:nvPicPr>
                <p:cNvPr id="76" name="Graphic 75">
                  <a:extLst>
                    <a:ext uri="{FF2B5EF4-FFF2-40B4-BE49-F238E27FC236}">
                      <a16:creationId xmlns:a16="http://schemas.microsoft.com/office/drawing/2014/main" id="{E8AF89DD-A076-DC1B-AB9C-4B679485BAF9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 userDrawn="1"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6584" y="1643033"/>
                  <a:ext cx="107439" cy="107435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78B2FE1-5095-F562-3BCE-4A35C1EA89F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606823" y="5333079"/>
            <a:ext cx="7032725" cy="810660"/>
            <a:chOff x="4606823" y="5333079"/>
            <a:chExt cx="7032725" cy="8106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91D00B-FD2B-F4DC-DDEC-1ECC3F03F4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606823" y="5333079"/>
              <a:ext cx="1720641" cy="81066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75184F4-7D01-0B44-A3D1-4CA6DDA2C353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246490" y="5333079"/>
              <a:ext cx="5393058" cy="810660"/>
              <a:chOff x="6246490" y="886367"/>
              <a:chExt cx="5393058" cy="81066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18712EF-F6C3-DA71-ED39-482D4952FA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6776036" y="886367"/>
                <a:ext cx="4863512" cy="810660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15897C0-3AF5-B93D-B4B8-5672A51F35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flipV="1">
                <a:off x="6327467" y="1291697"/>
                <a:ext cx="451952" cy="1"/>
              </a:xfrm>
              <a:prstGeom prst="lin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6BFCD364-49D4-D27D-AFCF-893FECA01E98}"/>
                  </a:ext>
                </a:extLst>
              </p:cNvPr>
              <p:cNvGrpSpPr>
                <a:grpSpLocks noGrp="1" noUngrp="1" noRot="1" noChangeAspect="1" noMove="1" noResize="1"/>
              </p:cNvGrpSpPr>
              <p:nvPr userDrawn="1"/>
            </p:nvGrpSpPr>
            <p:grpSpPr>
              <a:xfrm>
                <a:off x="6246490" y="1200256"/>
                <a:ext cx="182876" cy="182876"/>
                <a:chOff x="4773922" y="1600369"/>
                <a:chExt cx="192760" cy="192760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278F160-A8A3-F31B-7F09-92E012E533D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4773922" y="1600369"/>
                  <a:ext cx="192760" cy="19276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pic>
              <p:nvPicPr>
                <p:cNvPr id="82" name="Graphic 81">
                  <a:extLst>
                    <a:ext uri="{FF2B5EF4-FFF2-40B4-BE49-F238E27FC236}">
                      <a16:creationId xmlns:a16="http://schemas.microsoft.com/office/drawing/2014/main" id="{302CC53D-1D24-C1BE-6A24-459E47696269}"/>
                    </a:ext>
                  </a:extLst>
                </p:cNvPr>
                <p:cNvPicPr>
                  <a:picLocks noGrp="1" noRot="1" noMove="1" noResize="1" noEditPoints="1" noAdjustHandles="1" noChangeArrowheads="1" noChangeShapeType="1" noCrop="1"/>
                </p:cNvPicPr>
                <p:nvPr userDrawn="1"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16584" y="1643033"/>
                  <a:ext cx="107439" cy="107435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F4E4B27E-2FB9-8988-81FF-33780808575B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84948" y="2223839"/>
            <a:ext cx="1332000" cy="35907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100">
                <a:latin typeface="+mj-lt"/>
              </a:defRPr>
            </a:lvl2pPr>
            <a:lvl3pPr marL="914400" indent="0">
              <a:buNone/>
              <a:defRPr sz="1100">
                <a:latin typeface="+mj-lt"/>
              </a:defRPr>
            </a:lvl3pPr>
            <a:lvl4pPr marL="1371600" indent="0">
              <a:buNone/>
              <a:defRPr sz="1100">
                <a:latin typeface="+mj-lt"/>
              </a:defRPr>
            </a:lvl4pPr>
            <a:lvl5pPr marL="1828800" indent="0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TWO-LINE SPACE HERE</a:t>
            </a:r>
            <a:endParaRPr lang="en-ZA" dirty="0"/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3866DB5E-1D2F-71CF-C721-340115ED4667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077075" y="2308349"/>
            <a:ext cx="4383823" cy="1900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200" spc="40" baseline="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GB" noProof="0" dirty="0"/>
              <a:t>These KPIs can be co-created with [Client X]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721A8526-6505-C7FE-B209-D3BF9469B63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784948" y="3335517"/>
            <a:ext cx="1332000" cy="35907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100">
                <a:latin typeface="+mj-lt"/>
              </a:defRPr>
            </a:lvl2pPr>
            <a:lvl3pPr marL="914400" indent="0">
              <a:buNone/>
              <a:defRPr sz="1100">
                <a:latin typeface="+mj-lt"/>
              </a:defRPr>
            </a:lvl3pPr>
            <a:lvl4pPr marL="1371600" indent="0">
              <a:buNone/>
              <a:defRPr sz="1100">
                <a:latin typeface="+mj-lt"/>
              </a:defRPr>
            </a:lvl4pPr>
            <a:lvl5pPr marL="1828800" indent="0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TWO-LINE SPACE HERE</a:t>
            </a:r>
            <a:endParaRPr lang="en-ZA" dirty="0"/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33ACEAA1-2280-FF40-BD86-CC6D0A93A40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077075" y="3420027"/>
            <a:ext cx="4383823" cy="1900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200" spc="40" baseline="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GB" noProof="0" dirty="0"/>
              <a:t>These KPIs can be co-created with [Client X]</a:t>
            </a:r>
          </a:p>
        </p:txBody>
      </p:sp>
      <p:sp>
        <p:nvSpPr>
          <p:cNvPr id="92" name="Text Placeholder 26">
            <a:extLst>
              <a:ext uri="{FF2B5EF4-FFF2-40B4-BE49-F238E27FC236}">
                <a16:creationId xmlns:a16="http://schemas.microsoft.com/office/drawing/2014/main" id="{07AA2A91-4695-36F5-D2F8-AFEDC152B72C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784948" y="4447195"/>
            <a:ext cx="1332000" cy="35907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100">
                <a:latin typeface="+mj-lt"/>
              </a:defRPr>
            </a:lvl2pPr>
            <a:lvl3pPr marL="914400" indent="0">
              <a:buNone/>
              <a:defRPr sz="1100">
                <a:latin typeface="+mj-lt"/>
              </a:defRPr>
            </a:lvl3pPr>
            <a:lvl4pPr marL="1371600" indent="0">
              <a:buNone/>
              <a:defRPr sz="1100">
                <a:latin typeface="+mj-lt"/>
              </a:defRPr>
            </a:lvl4pPr>
            <a:lvl5pPr marL="1828800" indent="0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TWO-LINE SPACE HERE</a:t>
            </a:r>
            <a:endParaRPr lang="en-ZA" dirty="0"/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99512403-3113-2587-9A88-30E61FFBD348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077075" y="4531705"/>
            <a:ext cx="4383823" cy="1900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200" spc="40" baseline="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GB" noProof="0" dirty="0"/>
              <a:t>These KPIs can be co-created with [Client X]</a:t>
            </a:r>
          </a:p>
        </p:txBody>
      </p:sp>
      <p:sp>
        <p:nvSpPr>
          <p:cNvPr id="94" name="Text Placeholder 26">
            <a:extLst>
              <a:ext uri="{FF2B5EF4-FFF2-40B4-BE49-F238E27FC236}">
                <a16:creationId xmlns:a16="http://schemas.microsoft.com/office/drawing/2014/main" id="{E17E6681-9065-80C3-B24D-94886ABBD16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784948" y="5558873"/>
            <a:ext cx="1332000" cy="359073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100">
                <a:latin typeface="+mj-lt"/>
              </a:defRPr>
            </a:lvl2pPr>
            <a:lvl3pPr marL="914400" indent="0">
              <a:buNone/>
              <a:defRPr sz="1100">
                <a:latin typeface="+mj-lt"/>
              </a:defRPr>
            </a:lvl3pPr>
            <a:lvl4pPr marL="1371600" indent="0">
              <a:buNone/>
              <a:defRPr sz="1100">
                <a:latin typeface="+mj-lt"/>
              </a:defRPr>
            </a:lvl4pPr>
            <a:lvl5pPr marL="1828800" indent="0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TWO-LINE SPACE HERE</a:t>
            </a:r>
            <a:endParaRPr lang="en-ZA" dirty="0"/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BD5D7A6E-1DE3-8CE1-A59A-3532DD0066CD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077075" y="5643383"/>
            <a:ext cx="4383823" cy="190052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200" spc="40" baseline="0"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en-GB" noProof="0" dirty="0"/>
              <a:t>These KPIs can be co-created with [Client X]</a:t>
            </a:r>
          </a:p>
        </p:txBody>
      </p:sp>
    </p:spTree>
    <p:extLst>
      <p:ext uri="{BB962C8B-B14F-4D97-AF65-F5344CB8AC3E}">
        <p14:creationId xmlns:p14="http://schemas.microsoft.com/office/powerpoint/2010/main" val="418487690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0 | 3_Double HEAD + Intro + 5 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5B784137-2FAB-3F49-410E-A9B86F79F6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2192000" cy="3631964"/>
          </a:xfrm>
          <a:prstGeom prst="rect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 latinLnBrk="1"/>
            <a:endParaRPr lang="en-US" sz="2400" dirty="0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B75FF137-9B57-4543-48C1-72B1620700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66" y="2615014"/>
            <a:ext cx="11051375" cy="410198"/>
          </a:xfrm>
          <a:prstGeom prst="rightArrow">
            <a:avLst>
              <a:gd name="adj1" fmla="val 52263"/>
              <a:gd name="adj2" fmla="val 70882"/>
            </a:avLst>
          </a:prstGeom>
          <a:gradFill flip="none" rotWithShape="1">
            <a:gsLst>
              <a:gs pos="0">
                <a:schemeClr val="accent3"/>
              </a:gs>
              <a:gs pos="66000">
                <a:schemeClr val="accent2"/>
              </a:gs>
              <a:gs pos="33000">
                <a:schemeClr val="accent4"/>
              </a:gs>
              <a:gs pos="100000">
                <a:schemeClr val="accent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FE6060-B379-E703-C080-A4E4115482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88202" y="2521010"/>
            <a:ext cx="598206" cy="598206"/>
          </a:xfrm>
          <a:prstGeom prst="ellipse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5C78DD-431E-01E6-3B2C-04E9D3EC7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14755" y="2521010"/>
            <a:ext cx="598206" cy="598206"/>
          </a:xfrm>
          <a:prstGeom prst="ellipse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A54AC4-30FD-FA12-8476-3AD19722D7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039994" y="2521010"/>
            <a:ext cx="598206" cy="598206"/>
          </a:xfrm>
          <a:prstGeom prst="ellipse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E1F331-0ECA-0D09-F3DC-55A1234395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52635" y="2521010"/>
            <a:ext cx="598206" cy="598206"/>
          </a:xfrm>
          <a:prstGeom prst="ellipse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A816EA-8A67-BDF1-1BFB-4EF8CB6BC8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68271" y="2521010"/>
            <a:ext cx="598206" cy="598206"/>
          </a:xfrm>
          <a:prstGeom prst="ellipse">
            <a:avLst/>
          </a:prstGeom>
          <a:solidFill>
            <a:srgbClr val="EF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57CA14D9-0951-0E94-E6D3-A4130E61AC0F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87375" y="1747932"/>
            <a:ext cx="11052175" cy="39632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600"/>
              </a:lnSpc>
              <a:spcBef>
                <a:spcPts val="0"/>
              </a:spcBef>
              <a:buNone/>
              <a:defRPr sz="1050" spc="4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Insert introductory text here. No longer than 2 lines maximum. Insert introductory text here. No longer than 2 lines of copy maximum. </a:t>
            </a:r>
            <a:br>
              <a:rPr lang="en-US" dirty="0"/>
            </a:br>
            <a:r>
              <a:rPr lang="en-US" dirty="0"/>
              <a:t>Insert introductory text here. No longer than 2 lines of copy maximum. Insert introductory text here. No longer than 2 lines please.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312818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CB0F16A-553B-262E-6522-800F45FFE3C0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588166" y="972641"/>
            <a:ext cx="11051375" cy="214161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 marL="0" indent="0" algn="ctr">
              <a:lnSpc>
                <a:spcPts val="1600"/>
              </a:lnSpc>
              <a:buFont typeface="Calibri" panose="020F0502020204030204" pitchFamily="34" charset="0"/>
              <a:buNone/>
              <a:defRPr lang="en-GB" sz="2000" b="1" kern="1200" spc="30" baseline="0" noProof="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  <p:sp>
        <p:nvSpPr>
          <p:cNvPr id="90" name="Freeform 9">
            <a:extLst>
              <a:ext uri="{FF2B5EF4-FFF2-40B4-BE49-F238E27FC236}">
                <a16:creationId xmlns:a16="http://schemas.microsoft.com/office/drawing/2014/main" id="{42762781-06FD-3E65-CDA8-12728377E4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FE18C-2E14-0D66-9327-F4463C2AF3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80341" y="3151898"/>
            <a:ext cx="2160000" cy="257745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14374F-2F90-D3C4-27CB-22AA7E74F6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7374" y="3151898"/>
            <a:ext cx="2160000" cy="25774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52C06-7924-5874-C175-32D5BC6AEA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10616" y="3151898"/>
            <a:ext cx="2160000" cy="25774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10DF3-96B1-8F39-8903-A2461F54EF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33854" y="3151898"/>
            <a:ext cx="2160000" cy="25774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B971CB-106C-DA8E-E7BE-E11B5AA83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57100" y="3151898"/>
            <a:ext cx="2160000" cy="2577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0B3B73-52C4-6D2C-9F71-EFDD93AC12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87374" y="26401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accent1"/>
                </a:solidFill>
                <a:latin typeface="+mj-lt"/>
              </a:rPr>
              <a:t>01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FC4747-AA87-A3E1-8E15-497451B6B70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587374" y="6426371"/>
            <a:ext cx="2160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F8E63C-27BA-418B-8F4B-C17334162B7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2810616" y="6426371"/>
            <a:ext cx="2160000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732D15-5810-A232-DCA1-145090F6CE3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5033858" y="6426371"/>
            <a:ext cx="2160000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C2291C-54EB-9C6C-E7FC-53CE1B0A212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7257100" y="6426371"/>
            <a:ext cx="2160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1FF67E-260C-E53D-1AEA-0FA3263A780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9480341" y="6426371"/>
            <a:ext cx="2160000" cy="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CEE2AD2-7AE2-776B-9ACD-DFE5FBD5A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10616" y="26401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accent1"/>
                </a:solidFill>
                <a:latin typeface="+mj-lt"/>
              </a:rPr>
              <a:t>02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BBE897-3CD3-3640-09C9-BE27B21ED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31707" y="26401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accent1"/>
                </a:solidFill>
                <a:latin typeface="+mj-lt"/>
              </a:rPr>
              <a:t>03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7C7F23C-6D66-627B-57CE-B28E46DCC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52798" y="26401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accent1"/>
                </a:solidFill>
                <a:latin typeface="+mj-lt"/>
              </a:rPr>
              <a:t>04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C9D642-71C3-32D4-4E31-14E31BF1A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80342" y="2640113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accent1"/>
                </a:solidFill>
                <a:latin typeface="+mj-lt"/>
              </a:rPr>
              <a:t>05</a:t>
            </a:r>
          </a:p>
        </p:txBody>
      </p:sp>
      <p:sp>
        <p:nvSpPr>
          <p:cNvPr id="30" name="Text Placeholder 36">
            <a:extLst>
              <a:ext uri="{FF2B5EF4-FFF2-40B4-BE49-F238E27FC236}">
                <a16:creationId xmlns:a16="http://schemas.microsoft.com/office/drawing/2014/main" id="{B7E91E85-4ADB-5E57-7B5B-24E3E3CDAF0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87374" y="3476300"/>
            <a:ext cx="2160000" cy="304699"/>
          </a:xfrm>
          <a:prstGeom prst="rect">
            <a:avLst/>
          </a:prstGeo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buNone/>
              <a:defRPr sz="11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100">
                <a:latin typeface="+mj-lt"/>
              </a:defRPr>
            </a:lvl2pPr>
            <a:lvl3pPr marL="914400" indent="0" algn="ctr">
              <a:buNone/>
              <a:defRPr sz="1100">
                <a:latin typeface="+mj-lt"/>
              </a:defRPr>
            </a:lvl3pPr>
            <a:lvl4pPr marL="1371600" indent="0" algn="ctr">
              <a:buNone/>
              <a:defRPr sz="1100">
                <a:latin typeface="+mj-lt"/>
              </a:defRPr>
            </a:lvl4pPr>
            <a:lvl5pPr marL="1828800" indent="0" algn="ctr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Click to edit heading over two lines only</a:t>
            </a:r>
            <a:endParaRPr lang="en-ZA" dirty="0"/>
          </a:p>
        </p:txBody>
      </p:sp>
      <p:sp>
        <p:nvSpPr>
          <p:cNvPr id="31" name="Text Placeholder 36">
            <a:extLst>
              <a:ext uri="{FF2B5EF4-FFF2-40B4-BE49-F238E27FC236}">
                <a16:creationId xmlns:a16="http://schemas.microsoft.com/office/drawing/2014/main" id="{9D6DFC5E-8351-E118-9DFC-A3A159FE9E2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810615" y="3476300"/>
            <a:ext cx="2159999" cy="304699"/>
          </a:xfrm>
          <a:prstGeom prst="rect">
            <a:avLst/>
          </a:prstGeo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buNone/>
              <a:defRPr sz="11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100">
                <a:latin typeface="+mj-lt"/>
              </a:defRPr>
            </a:lvl2pPr>
            <a:lvl3pPr marL="914400" indent="0" algn="ctr">
              <a:buNone/>
              <a:defRPr sz="1100">
                <a:latin typeface="+mj-lt"/>
              </a:defRPr>
            </a:lvl3pPr>
            <a:lvl4pPr marL="1371600" indent="0" algn="ctr">
              <a:buNone/>
              <a:defRPr sz="1100">
                <a:latin typeface="+mj-lt"/>
              </a:defRPr>
            </a:lvl4pPr>
            <a:lvl5pPr marL="1828800" indent="0" algn="ctr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Click to edit heading over two lines only</a:t>
            </a:r>
            <a:endParaRPr lang="en-ZA" dirty="0"/>
          </a:p>
        </p:txBody>
      </p:sp>
      <p:sp>
        <p:nvSpPr>
          <p:cNvPr id="32" name="Text Placeholder 36">
            <a:extLst>
              <a:ext uri="{FF2B5EF4-FFF2-40B4-BE49-F238E27FC236}">
                <a16:creationId xmlns:a16="http://schemas.microsoft.com/office/drawing/2014/main" id="{1070A40A-EC38-283D-B5AB-B97EA8E3555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033854" y="3476300"/>
            <a:ext cx="2159999" cy="304699"/>
          </a:xfrm>
          <a:prstGeom prst="rect">
            <a:avLst/>
          </a:prstGeo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buNone/>
              <a:defRPr sz="11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100">
                <a:latin typeface="+mj-lt"/>
              </a:defRPr>
            </a:lvl2pPr>
            <a:lvl3pPr marL="914400" indent="0" algn="ctr">
              <a:buNone/>
              <a:defRPr sz="1100">
                <a:latin typeface="+mj-lt"/>
              </a:defRPr>
            </a:lvl3pPr>
            <a:lvl4pPr marL="1371600" indent="0" algn="ctr">
              <a:buNone/>
              <a:defRPr sz="1100">
                <a:latin typeface="+mj-lt"/>
              </a:defRPr>
            </a:lvl4pPr>
            <a:lvl5pPr marL="1828800" indent="0" algn="ctr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Click to edit heading over two lines only</a:t>
            </a:r>
            <a:endParaRPr lang="en-ZA" dirty="0"/>
          </a:p>
        </p:txBody>
      </p:sp>
      <p:sp>
        <p:nvSpPr>
          <p:cNvPr id="33" name="Text Placeholder 36">
            <a:extLst>
              <a:ext uri="{FF2B5EF4-FFF2-40B4-BE49-F238E27FC236}">
                <a16:creationId xmlns:a16="http://schemas.microsoft.com/office/drawing/2014/main" id="{A393C89C-B05F-3457-FA8A-162255840C7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57094" y="3476300"/>
            <a:ext cx="2159998" cy="304699"/>
          </a:xfrm>
          <a:prstGeom prst="rect">
            <a:avLst/>
          </a:prstGeo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buNone/>
              <a:defRPr sz="11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100">
                <a:latin typeface="+mj-lt"/>
              </a:defRPr>
            </a:lvl2pPr>
            <a:lvl3pPr marL="914400" indent="0" algn="ctr">
              <a:buNone/>
              <a:defRPr sz="1100">
                <a:latin typeface="+mj-lt"/>
              </a:defRPr>
            </a:lvl3pPr>
            <a:lvl4pPr marL="1371600" indent="0" algn="ctr">
              <a:buNone/>
              <a:defRPr sz="1100">
                <a:latin typeface="+mj-lt"/>
              </a:defRPr>
            </a:lvl4pPr>
            <a:lvl5pPr marL="1828800" indent="0" algn="ctr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Click to edit heading over two lines only</a:t>
            </a:r>
            <a:endParaRPr lang="en-ZA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638AA6AB-9E01-EF06-3CF3-7EEFC704E3C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87375" y="5935191"/>
            <a:ext cx="2159999" cy="290849"/>
          </a:xfrm>
          <a:prstGeom prst="rect">
            <a:avLst/>
          </a:prstGeom>
        </p:spPr>
        <p:txBody>
          <a:bodyPr wrap="square" lIns="108000" tIns="0" rIns="108000" bIns="0">
            <a:spAutoFit/>
          </a:bodyPr>
          <a:lstStyle>
            <a:lvl1pPr marL="0" indent="0" algn="ctr">
              <a:spcBef>
                <a:spcPts val="400"/>
              </a:spcBef>
              <a:buNone/>
              <a:defRPr sz="1050">
                <a:solidFill>
                  <a:schemeClr val="accent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 of your description here</a:t>
            </a:r>
            <a:endParaRPr lang="en-ZA" dirty="0"/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52349D1E-4C35-D323-8665-9BB5B05C85D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810683" y="5935191"/>
            <a:ext cx="2153245" cy="290849"/>
          </a:xfrm>
          <a:prstGeom prst="rect">
            <a:avLst/>
          </a:prstGeom>
        </p:spPr>
        <p:txBody>
          <a:bodyPr wrap="square" lIns="108000" tIns="0" rIns="108000" bIns="0">
            <a:spAutoFit/>
          </a:bodyPr>
          <a:lstStyle>
            <a:lvl1pPr marL="0" indent="0" algn="ctr">
              <a:spcBef>
                <a:spcPts val="400"/>
              </a:spcBef>
              <a:buNone/>
              <a:defRPr sz="1050">
                <a:solidFill>
                  <a:schemeClr val="accent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 of your description here</a:t>
            </a:r>
            <a:endParaRPr lang="en-ZA" dirty="0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5244589B-EB7B-1708-C28D-A04A72D9F8C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033854" y="5935191"/>
            <a:ext cx="2159999" cy="290849"/>
          </a:xfrm>
          <a:prstGeom prst="rect">
            <a:avLst/>
          </a:prstGeom>
        </p:spPr>
        <p:txBody>
          <a:bodyPr wrap="square" lIns="108000" tIns="0" rIns="108000" bIns="0">
            <a:spAutoFit/>
          </a:bodyPr>
          <a:lstStyle>
            <a:lvl1pPr marL="0" indent="0" algn="ctr">
              <a:spcBef>
                <a:spcPts val="400"/>
              </a:spcBef>
              <a:buNone/>
              <a:defRPr sz="1050">
                <a:solidFill>
                  <a:schemeClr val="accent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 of your description here</a:t>
            </a:r>
            <a:endParaRPr lang="en-ZA" dirty="0"/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591F8372-F571-8754-63FC-36147ECAB35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57094" y="5935191"/>
            <a:ext cx="2159998" cy="290849"/>
          </a:xfrm>
          <a:prstGeom prst="rect">
            <a:avLst/>
          </a:prstGeom>
        </p:spPr>
        <p:txBody>
          <a:bodyPr wrap="square" lIns="108000" tIns="0" rIns="108000" bIns="0">
            <a:spAutoFit/>
          </a:bodyPr>
          <a:lstStyle>
            <a:lvl1pPr marL="0" indent="0" algn="ctr">
              <a:spcBef>
                <a:spcPts val="400"/>
              </a:spcBef>
              <a:buNone/>
              <a:defRPr sz="1050">
                <a:solidFill>
                  <a:schemeClr val="accent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 of your description here</a:t>
            </a:r>
            <a:endParaRPr lang="en-ZA" dirty="0"/>
          </a:p>
        </p:txBody>
      </p:sp>
      <p:sp>
        <p:nvSpPr>
          <p:cNvPr id="40" name="Text Placeholder 36">
            <a:extLst>
              <a:ext uri="{FF2B5EF4-FFF2-40B4-BE49-F238E27FC236}">
                <a16:creationId xmlns:a16="http://schemas.microsoft.com/office/drawing/2014/main" id="{D7F47975-0A93-0FB2-2B05-9C3404EDA4F7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476040" y="3476300"/>
            <a:ext cx="2159999" cy="304699"/>
          </a:xfrm>
          <a:prstGeom prst="rect">
            <a:avLst/>
          </a:prstGeom>
        </p:spPr>
        <p:txBody>
          <a:bodyPr wrap="square" lIns="72000" tIns="0" rIns="72000" bIns="0" anchor="ctr" anchorCtr="0">
            <a:spAutoFit/>
          </a:bodyPr>
          <a:lstStyle>
            <a:lvl1pPr marL="0" indent="0" algn="ctr">
              <a:buNone/>
              <a:defRPr sz="1100" b="1" spc="4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1100">
                <a:latin typeface="+mj-lt"/>
              </a:defRPr>
            </a:lvl2pPr>
            <a:lvl3pPr marL="914400" indent="0" algn="ctr">
              <a:buNone/>
              <a:defRPr sz="1100">
                <a:latin typeface="+mj-lt"/>
              </a:defRPr>
            </a:lvl3pPr>
            <a:lvl4pPr marL="1371600" indent="0" algn="ctr">
              <a:buNone/>
              <a:defRPr sz="1100">
                <a:latin typeface="+mj-lt"/>
              </a:defRPr>
            </a:lvl4pPr>
            <a:lvl5pPr marL="1828800" indent="0" algn="ctr">
              <a:buNone/>
              <a:defRPr sz="1100">
                <a:latin typeface="+mj-lt"/>
              </a:defRPr>
            </a:lvl5pPr>
          </a:lstStyle>
          <a:p>
            <a:pPr lvl="0"/>
            <a:r>
              <a:rPr lang="en-US" dirty="0"/>
              <a:t>Click to edit heading over two lines only</a:t>
            </a:r>
            <a:endParaRPr lang="en-ZA" dirty="0"/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535107F5-266B-C53E-4BE6-0899C5A00D2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476040" y="5935191"/>
            <a:ext cx="2159999" cy="290849"/>
          </a:xfrm>
          <a:prstGeom prst="rect">
            <a:avLst/>
          </a:prstGeom>
        </p:spPr>
        <p:txBody>
          <a:bodyPr wrap="square" lIns="108000" tIns="0" rIns="108000" bIns="0">
            <a:spAutoFit/>
          </a:bodyPr>
          <a:lstStyle>
            <a:lvl1pPr marL="0" indent="0" algn="ctr">
              <a:spcBef>
                <a:spcPts val="400"/>
              </a:spcBef>
              <a:buNone/>
              <a:defRPr sz="1050">
                <a:solidFill>
                  <a:schemeClr val="accent5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edit Master text styles of your description here</a:t>
            </a:r>
            <a:endParaRPr lang="en-ZA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A2258E-078B-5934-EF37-E6DAE7912AA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7374" y="4029546"/>
            <a:ext cx="216000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29F6C2E-5784-8597-D3BC-829696A70E3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810616" y="4029546"/>
            <a:ext cx="216000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E33A2F-B418-FFEF-4082-DAE836E96B5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033854" y="4029546"/>
            <a:ext cx="216000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69D413-9D94-5896-3AB1-F255095B054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257100" y="4029546"/>
            <a:ext cx="216000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731C4AB-0FFC-167F-9926-918606E723D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480341" y="4029546"/>
            <a:ext cx="2160000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7C459272-EA49-BD4B-4204-C4034740734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98705" y="4229488"/>
            <a:ext cx="1737338" cy="1282549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lnSpc>
                <a:spcPts val="1100"/>
              </a:lnSpc>
              <a:spcBef>
                <a:spcPts val="400"/>
              </a:spcBef>
              <a:buFont typeface="Calibri" panose="020F0502020204030204" pitchFamily="34" charset="0"/>
              <a:buChar char="+"/>
              <a:defRPr sz="1100">
                <a:solidFill>
                  <a:schemeClr val="bg1"/>
                </a:solidFill>
              </a:defRPr>
            </a:lvl1pPr>
            <a:lvl2pPr marL="357188" indent="-174625">
              <a:lnSpc>
                <a:spcPts val="1100"/>
              </a:lnSpc>
              <a:spcBef>
                <a:spcPts val="400"/>
              </a:spcBef>
              <a:defRPr sz="11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4C3C092A-F617-0967-4B76-93285488EEA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018636" y="4229488"/>
            <a:ext cx="1737338" cy="1282549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lnSpc>
                <a:spcPts val="1100"/>
              </a:lnSpc>
              <a:spcBef>
                <a:spcPts val="400"/>
              </a:spcBef>
              <a:buFont typeface="Calibri" panose="020F0502020204030204" pitchFamily="34" charset="0"/>
              <a:buChar char="+"/>
              <a:defRPr sz="1100">
                <a:solidFill>
                  <a:schemeClr val="bg1"/>
                </a:solidFill>
              </a:defRPr>
            </a:lvl1pPr>
            <a:lvl2pPr marL="357188" indent="-174625">
              <a:lnSpc>
                <a:spcPts val="1100"/>
              </a:lnSpc>
              <a:spcBef>
                <a:spcPts val="400"/>
              </a:spcBef>
              <a:defRPr sz="11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DFA2A960-4493-8326-644D-4775B7C34534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5243038" y="4229488"/>
            <a:ext cx="1737338" cy="1282549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lnSpc>
                <a:spcPts val="1100"/>
              </a:lnSpc>
              <a:spcBef>
                <a:spcPts val="400"/>
              </a:spcBef>
              <a:buFont typeface="Calibri" panose="020F0502020204030204" pitchFamily="34" charset="0"/>
              <a:buChar char="+"/>
              <a:defRPr sz="1100">
                <a:solidFill>
                  <a:schemeClr val="bg1"/>
                </a:solidFill>
              </a:defRPr>
            </a:lvl1pPr>
            <a:lvl2pPr marL="357188" indent="-174625">
              <a:lnSpc>
                <a:spcPts val="1100"/>
              </a:lnSpc>
              <a:spcBef>
                <a:spcPts val="400"/>
              </a:spcBef>
              <a:defRPr sz="11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7A1F12F-2DF6-FAD4-74FE-DD262E316E7B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7464129" y="4229488"/>
            <a:ext cx="1737338" cy="1282549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lnSpc>
                <a:spcPts val="1100"/>
              </a:lnSpc>
              <a:spcBef>
                <a:spcPts val="400"/>
              </a:spcBef>
              <a:buFont typeface="Calibri" panose="020F0502020204030204" pitchFamily="34" charset="0"/>
              <a:buChar char="+"/>
              <a:defRPr sz="1100">
                <a:solidFill>
                  <a:schemeClr val="bg1"/>
                </a:solidFill>
              </a:defRPr>
            </a:lvl1pPr>
            <a:lvl2pPr marL="357188" indent="-174625">
              <a:lnSpc>
                <a:spcPts val="1100"/>
              </a:lnSpc>
              <a:spcBef>
                <a:spcPts val="400"/>
              </a:spcBef>
              <a:defRPr sz="11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0F92C769-9175-9EBA-EA20-C21A134F85B8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9687370" y="4229488"/>
            <a:ext cx="1737338" cy="1282549"/>
          </a:xfrm>
          <a:prstGeom prst="rect">
            <a:avLst/>
          </a:prstGeom>
        </p:spPr>
        <p:txBody>
          <a:bodyPr lIns="0" tIns="0" rIns="0" bIns="0"/>
          <a:lstStyle>
            <a:lvl1pPr marL="182563" indent="-182563">
              <a:lnSpc>
                <a:spcPts val="1100"/>
              </a:lnSpc>
              <a:spcBef>
                <a:spcPts val="400"/>
              </a:spcBef>
              <a:buFont typeface="Calibri" panose="020F0502020204030204" pitchFamily="34" charset="0"/>
              <a:buChar char="+"/>
              <a:defRPr sz="1100">
                <a:solidFill>
                  <a:schemeClr val="bg1"/>
                </a:solidFill>
              </a:defRPr>
            </a:lvl1pPr>
            <a:lvl2pPr marL="357188" indent="-174625">
              <a:lnSpc>
                <a:spcPts val="1100"/>
              </a:lnSpc>
              <a:spcBef>
                <a:spcPts val="400"/>
              </a:spcBef>
              <a:defRPr sz="11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1172744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 | HEAD + Photo + 1 x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ACE5DE-848D-7004-8FE9-23A07F5438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64" y="1733678"/>
            <a:ext cx="11051371" cy="4712369"/>
          </a:xfrm>
          <a:prstGeom prst="rect">
            <a:avLst/>
          </a:prstGeom>
          <a:solidFill>
            <a:srgbClr val="EFF2F6"/>
          </a:solidFill>
          <a:ln w="1285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2D48D9C-369A-6276-061E-718E5CFC2F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149618" y="5006903"/>
            <a:ext cx="4268416" cy="5606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3 lines maximum. Insert text here. Insert descriptive text for this statistic here. No longer than 3 lines maximum.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  <a:alpha val="25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BED8F70-6A83-6A79-C597-AC07FA07FA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44238" y="3249181"/>
            <a:ext cx="397378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56%</a:t>
            </a:r>
            <a:endParaRPr lang="en-GB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E7C9454-95FA-D867-0096-73287630F8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517925" y="4290849"/>
            <a:ext cx="394613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Statistic title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22DFB2A7-19D8-201D-D1B6-2DF4C112A97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49614" y="5790773"/>
            <a:ext cx="426841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334864FC-E0D6-C55B-7548-DA14D310D98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6000" y="1733678"/>
            <a:ext cx="5543535" cy="4712369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89" indent="-457189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170" rtl="0" eaLnBrk="1" latinLnBrk="1" hangingPunct="1">
              <a:spcBef>
                <a:spcPct val="20000"/>
              </a:spcBef>
            </a:pPr>
            <a:r>
              <a:rPr lang="en-US" altLang="ko-KR" dirty="0"/>
              <a:t>Insert Image</a:t>
            </a:r>
            <a:endParaRPr lang="ko-KR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3CA409-38E1-D327-4A22-235BB6D1A63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153295" y="2879931"/>
            <a:ext cx="0" cy="166643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46790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 | HEAD + 3 x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F9DA8B-E2F0-68B7-0AAD-67AF7C6DB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733678"/>
            <a:ext cx="12192000" cy="5124322"/>
          </a:xfrm>
          <a:prstGeom prst="rect">
            <a:avLst/>
          </a:prstGeom>
          <a:solidFill>
            <a:schemeClr val="tx2"/>
          </a:solidFill>
          <a:ln w="1285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2D48D9C-369A-6276-061E-718E5CFC2F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6332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  <a:alpha val="25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204D2D-B6A6-CCEA-B261-34FCD449EC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6333" y="2338982"/>
            <a:ext cx="360000" cy="360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BED8F70-6A83-6A79-C597-AC07FA07FA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6332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56%</a:t>
            </a:r>
            <a:endParaRPr lang="en-GB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E7C9454-95FA-D867-0096-73287630F8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371348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1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22DFB2A7-19D8-201D-D1B6-2DF4C112A97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6332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rgbClr val="A1B3C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A22E1F3A-32B7-9F03-67D5-E7F0B557994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51369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B04BC2-8E30-FB0A-2B55-716001C15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51370" y="2338982"/>
            <a:ext cx="360000" cy="3600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8C9EA728-E142-B105-E273-C4667DD07E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651369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83%</a:t>
            </a:r>
            <a:endParaRPr lang="en-GB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BC6C9632-335F-727B-C720-424EB3DB6F7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206385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2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9C0FAD13-61FF-D4D1-7F7C-E4D218467BE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651369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6A74D482-268B-0421-EF82-02F10893B3E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491578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BB9384-A3D2-CE89-2B41-346AC9920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91579" y="2338982"/>
            <a:ext cx="360000" cy="3600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40D27BE-145C-400A-6BCC-91A80AF5623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491578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6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37%</a:t>
            </a:r>
            <a:endParaRPr lang="en-GB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E51841-6B17-DA05-9E77-599843A3D230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046594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3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B4E776F3-C3C0-720A-33D9-099EFCE25BA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491578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0195169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4 | HEAD + SUB-HEAD + 4 x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74D5AF-B9A5-646A-1F92-48B85063DE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295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 latinLnBrk="1"/>
            <a:endParaRPr lang="en-US" sz="2400" dirty="0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8DCC2924-7A4D-407D-8D57-17EC46DDE22C}"/>
              </a:ext>
            </a:extLst>
          </p:cNvPr>
          <p:cNvSpPr/>
          <p:nvPr userDrawn="1"/>
        </p:nvSpPr>
        <p:spPr bwMode="auto">
          <a:xfrm>
            <a:off x="10831348" y="261183"/>
            <a:ext cx="1360650" cy="1657541"/>
          </a:xfrm>
          <a:custGeom>
            <a:avLst/>
            <a:gdLst>
              <a:gd name="T0" fmla="*/ 909 w 1187"/>
              <a:gd name="T1" fmla="*/ 0 h 1446"/>
              <a:gd name="T2" fmla="*/ 0 w 1187"/>
              <a:gd name="T3" fmla="*/ 910 h 1446"/>
              <a:gd name="T4" fmla="*/ 534 w 1187"/>
              <a:gd name="T5" fmla="*/ 910 h 1446"/>
              <a:gd name="T6" fmla="*/ 534 w 1187"/>
              <a:gd name="T7" fmla="*/ 1446 h 1446"/>
              <a:gd name="T8" fmla="*/ 1187 w 1187"/>
              <a:gd name="T9" fmla="*/ 793 h 1446"/>
              <a:gd name="T10" fmla="*/ 1187 w 1187"/>
              <a:gd name="T11" fmla="*/ 534 h 1446"/>
              <a:gd name="T12" fmla="*/ 909 w 1187"/>
              <a:gd name="T13" fmla="*/ 534 h 1446"/>
              <a:gd name="T14" fmla="*/ 909 w 1187"/>
              <a:gd name="T15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87" h="1446">
                <a:moveTo>
                  <a:pt x="909" y="0"/>
                </a:moveTo>
                <a:lnTo>
                  <a:pt x="0" y="910"/>
                </a:lnTo>
                <a:lnTo>
                  <a:pt x="534" y="910"/>
                </a:lnTo>
                <a:lnTo>
                  <a:pt x="534" y="1446"/>
                </a:lnTo>
                <a:lnTo>
                  <a:pt x="1187" y="793"/>
                </a:lnTo>
                <a:lnTo>
                  <a:pt x="1187" y="534"/>
                </a:lnTo>
                <a:lnTo>
                  <a:pt x="909" y="534"/>
                </a:lnTo>
                <a:lnTo>
                  <a:pt x="90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D338690-856C-EF01-DC0C-2D9C7278CCAD}"/>
              </a:ext>
            </a:extLst>
          </p:cNvPr>
          <p:cNvSpPr/>
          <p:nvPr userDrawn="1"/>
        </p:nvSpPr>
        <p:spPr bwMode="auto">
          <a:xfrm>
            <a:off x="8574296" y="522538"/>
            <a:ext cx="1656394" cy="1658687"/>
          </a:xfrm>
          <a:custGeom>
            <a:avLst/>
            <a:gdLst>
              <a:gd name="T0" fmla="*/ 1253 w 1445"/>
              <a:gd name="T1" fmla="*/ 0 h 1447"/>
              <a:gd name="T2" fmla="*/ 1106 w 1445"/>
              <a:gd name="T3" fmla="*/ 0 h 1447"/>
              <a:gd name="T4" fmla="*/ 0 w 1445"/>
              <a:gd name="T5" fmla="*/ 1105 h 1447"/>
              <a:gd name="T6" fmla="*/ 0 w 1445"/>
              <a:gd name="T7" fmla="*/ 1252 h 1447"/>
              <a:gd name="T8" fmla="*/ 195 w 1445"/>
              <a:gd name="T9" fmla="*/ 1252 h 1447"/>
              <a:gd name="T10" fmla="*/ 195 w 1445"/>
              <a:gd name="T11" fmla="*/ 1447 h 1447"/>
              <a:gd name="T12" fmla="*/ 341 w 1445"/>
              <a:gd name="T13" fmla="*/ 1447 h 1447"/>
              <a:gd name="T14" fmla="*/ 1445 w 1445"/>
              <a:gd name="T15" fmla="*/ 340 h 1447"/>
              <a:gd name="T16" fmla="*/ 1445 w 1445"/>
              <a:gd name="T17" fmla="*/ 193 h 1447"/>
              <a:gd name="T18" fmla="*/ 1253 w 1445"/>
              <a:gd name="T19" fmla="*/ 193 h 1447"/>
              <a:gd name="T20" fmla="*/ 1253 w 1445"/>
              <a:gd name="T21" fmla="*/ 0 h 1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45" h="1447">
                <a:moveTo>
                  <a:pt x="1253" y="0"/>
                </a:moveTo>
                <a:lnTo>
                  <a:pt x="1106" y="0"/>
                </a:lnTo>
                <a:lnTo>
                  <a:pt x="0" y="1105"/>
                </a:lnTo>
                <a:lnTo>
                  <a:pt x="0" y="1252"/>
                </a:lnTo>
                <a:lnTo>
                  <a:pt x="195" y="1252"/>
                </a:lnTo>
                <a:lnTo>
                  <a:pt x="195" y="1447"/>
                </a:lnTo>
                <a:lnTo>
                  <a:pt x="341" y="1447"/>
                </a:lnTo>
                <a:lnTo>
                  <a:pt x="1445" y="340"/>
                </a:lnTo>
                <a:lnTo>
                  <a:pt x="1445" y="193"/>
                </a:lnTo>
                <a:lnTo>
                  <a:pt x="1253" y="193"/>
                </a:lnTo>
                <a:lnTo>
                  <a:pt x="125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F3F8BC5-3175-4F6A-B1AC-30BDA4DF3E5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flipV="1">
            <a:off x="0" y="570163"/>
            <a:ext cx="1656394" cy="1658687"/>
            <a:chOff x="8574296" y="522538"/>
            <a:chExt cx="1656394" cy="1658687"/>
          </a:xfrm>
        </p:grpSpPr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6FC92B54-A194-E1C9-B260-D727E85B04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8574296" y="522538"/>
              <a:ext cx="1656394" cy="165868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2FD8DA64-142B-51E5-6F50-1032A1AE85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8574296" y="1565665"/>
              <a:ext cx="614413" cy="615560"/>
            </a:xfrm>
            <a:custGeom>
              <a:avLst/>
              <a:gdLst>
                <a:gd name="T0" fmla="*/ 195 w 536"/>
                <a:gd name="T1" fmla="*/ 537 h 537"/>
                <a:gd name="T2" fmla="*/ 195 w 536"/>
                <a:gd name="T3" fmla="*/ 342 h 537"/>
                <a:gd name="T4" fmla="*/ 0 w 536"/>
                <a:gd name="T5" fmla="*/ 342 h 537"/>
                <a:gd name="T6" fmla="*/ 0 w 536"/>
                <a:gd name="T7" fmla="*/ 195 h 537"/>
                <a:gd name="T8" fmla="*/ 195 w 536"/>
                <a:gd name="T9" fmla="*/ 195 h 537"/>
                <a:gd name="T10" fmla="*/ 195 w 536"/>
                <a:gd name="T11" fmla="*/ 0 h 537"/>
                <a:gd name="T12" fmla="*/ 341 w 536"/>
                <a:gd name="T13" fmla="*/ 0 h 537"/>
                <a:gd name="T14" fmla="*/ 341 w 536"/>
                <a:gd name="T15" fmla="*/ 195 h 537"/>
                <a:gd name="T16" fmla="*/ 536 w 536"/>
                <a:gd name="T17" fmla="*/ 195 h 537"/>
                <a:gd name="T18" fmla="*/ 536 w 536"/>
                <a:gd name="T19" fmla="*/ 342 h 537"/>
                <a:gd name="T20" fmla="*/ 341 w 536"/>
                <a:gd name="T21" fmla="*/ 342 h 537"/>
                <a:gd name="T22" fmla="*/ 341 w 536"/>
                <a:gd name="T23" fmla="*/ 537 h 537"/>
                <a:gd name="T24" fmla="*/ 195 w 536"/>
                <a:gd name="T2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6" h="537">
                  <a:moveTo>
                    <a:pt x="195" y="537"/>
                  </a:moveTo>
                  <a:lnTo>
                    <a:pt x="195" y="342"/>
                  </a:lnTo>
                  <a:lnTo>
                    <a:pt x="0" y="342"/>
                  </a:lnTo>
                  <a:lnTo>
                    <a:pt x="0" y="195"/>
                  </a:lnTo>
                  <a:lnTo>
                    <a:pt x="195" y="195"/>
                  </a:lnTo>
                  <a:lnTo>
                    <a:pt x="195" y="0"/>
                  </a:lnTo>
                  <a:lnTo>
                    <a:pt x="341" y="0"/>
                  </a:lnTo>
                  <a:lnTo>
                    <a:pt x="341" y="195"/>
                  </a:lnTo>
                  <a:lnTo>
                    <a:pt x="536" y="195"/>
                  </a:lnTo>
                  <a:lnTo>
                    <a:pt x="536" y="342"/>
                  </a:lnTo>
                  <a:lnTo>
                    <a:pt x="341" y="342"/>
                  </a:lnTo>
                  <a:lnTo>
                    <a:pt x="341" y="537"/>
                  </a:lnTo>
                  <a:lnTo>
                    <a:pt x="195" y="5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D8971B4-FCD9-E913-55A3-36ED40D9D5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9618569" y="522538"/>
              <a:ext cx="612121" cy="613267"/>
            </a:xfrm>
            <a:custGeom>
              <a:avLst/>
              <a:gdLst>
                <a:gd name="T0" fmla="*/ 195 w 534"/>
                <a:gd name="T1" fmla="*/ 535 h 535"/>
                <a:gd name="T2" fmla="*/ 195 w 534"/>
                <a:gd name="T3" fmla="*/ 340 h 535"/>
                <a:gd name="T4" fmla="*/ 0 w 534"/>
                <a:gd name="T5" fmla="*/ 340 h 535"/>
                <a:gd name="T6" fmla="*/ 0 w 534"/>
                <a:gd name="T7" fmla="*/ 193 h 535"/>
                <a:gd name="T8" fmla="*/ 195 w 534"/>
                <a:gd name="T9" fmla="*/ 193 h 535"/>
                <a:gd name="T10" fmla="*/ 195 w 534"/>
                <a:gd name="T11" fmla="*/ 0 h 535"/>
                <a:gd name="T12" fmla="*/ 342 w 534"/>
                <a:gd name="T13" fmla="*/ 0 h 535"/>
                <a:gd name="T14" fmla="*/ 342 w 534"/>
                <a:gd name="T15" fmla="*/ 193 h 535"/>
                <a:gd name="T16" fmla="*/ 534 w 534"/>
                <a:gd name="T17" fmla="*/ 193 h 535"/>
                <a:gd name="T18" fmla="*/ 534 w 534"/>
                <a:gd name="T19" fmla="*/ 340 h 535"/>
                <a:gd name="T20" fmla="*/ 342 w 534"/>
                <a:gd name="T21" fmla="*/ 340 h 535"/>
                <a:gd name="T22" fmla="*/ 342 w 534"/>
                <a:gd name="T23" fmla="*/ 535 h 535"/>
                <a:gd name="T24" fmla="*/ 195 w 534"/>
                <a:gd name="T2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4" h="535">
                  <a:moveTo>
                    <a:pt x="195" y="535"/>
                  </a:moveTo>
                  <a:lnTo>
                    <a:pt x="195" y="340"/>
                  </a:lnTo>
                  <a:lnTo>
                    <a:pt x="0" y="340"/>
                  </a:lnTo>
                  <a:lnTo>
                    <a:pt x="0" y="193"/>
                  </a:lnTo>
                  <a:lnTo>
                    <a:pt x="195" y="193"/>
                  </a:lnTo>
                  <a:lnTo>
                    <a:pt x="195" y="0"/>
                  </a:lnTo>
                  <a:lnTo>
                    <a:pt x="342" y="0"/>
                  </a:lnTo>
                  <a:lnTo>
                    <a:pt x="342" y="193"/>
                  </a:lnTo>
                  <a:lnTo>
                    <a:pt x="534" y="193"/>
                  </a:lnTo>
                  <a:lnTo>
                    <a:pt x="534" y="340"/>
                  </a:lnTo>
                  <a:lnTo>
                    <a:pt x="342" y="340"/>
                  </a:lnTo>
                  <a:lnTo>
                    <a:pt x="342" y="535"/>
                  </a:lnTo>
                  <a:lnTo>
                    <a:pt x="195" y="5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C769369-CD09-C5C1-43C0-133EA96C536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140135" y="0"/>
            <a:ext cx="2051865" cy="1920042"/>
            <a:chOff x="10140133" y="-1318"/>
            <a:chExt cx="2051865" cy="192004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9359D47-240B-AC22-115F-C2C7BA51A6F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831348" y="261183"/>
              <a:ext cx="1360650" cy="1657541"/>
              <a:chOff x="10831348" y="261183"/>
              <a:chExt cx="1360650" cy="1657541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9D8888A8-3159-1DD5-0A83-F033C351C0C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 bwMode="auto">
              <a:xfrm>
                <a:off x="10831348" y="261183"/>
                <a:ext cx="1360650" cy="1657541"/>
              </a:xfrm>
              <a:custGeom>
                <a:avLst/>
                <a:gdLst>
                  <a:gd name="T0" fmla="*/ 909 w 1187"/>
                  <a:gd name="T1" fmla="*/ 0 h 1446"/>
                  <a:gd name="T2" fmla="*/ 0 w 1187"/>
                  <a:gd name="T3" fmla="*/ 910 h 1446"/>
                  <a:gd name="T4" fmla="*/ 534 w 1187"/>
                  <a:gd name="T5" fmla="*/ 910 h 1446"/>
                  <a:gd name="T6" fmla="*/ 534 w 1187"/>
                  <a:gd name="T7" fmla="*/ 1446 h 1446"/>
                  <a:gd name="T8" fmla="*/ 1187 w 1187"/>
                  <a:gd name="T9" fmla="*/ 793 h 1446"/>
                  <a:gd name="T10" fmla="*/ 1187 w 1187"/>
                  <a:gd name="T11" fmla="*/ 534 h 1446"/>
                  <a:gd name="T12" fmla="*/ 909 w 1187"/>
                  <a:gd name="T13" fmla="*/ 534 h 1446"/>
                  <a:gd name="T14" fmla="*/ 909 w 1187"/>
                  <a:gd name="T15" fmla="*/ 0 h 1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87" h="1446">
                    <a:moveTo>
                      <a:pt x="909" y="0"/>
                    </a:moveTo>
                    <a:lnTo>
                      <a:pt x="0" y="910"/>
                    </a:lnTo>
                    <a:lnTo>
                      <a:pt x="534" y="910"/>
                    </a:lnTo>
                    <a:lnTo>
                      <a:pt x="534" y="1446"/>
                    </a:lnTo>
                    <a:lnTo>
                      <a:pt x="1187" y="793"/>
                    </a:lnTo>
                    <a:lnTo>
                      <a:pt x="1187" y="534"/>
                    </a:lnTo>
                    <a:lnTo>
                      <a:pt x="909" y="534"/>
                    </a:lnTo>
                    <a:lnTo>
                      <a:pt x="909" y="0"/>
                    </a:lnTo>
                    <a:close/>
                  </a:path>
                </a:pathLst>
              </a:custGeom>
              <a:solidFill>
                <a:schemeClr val="accent1">
                  <a:alpha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ZA" dirty="0"/>
              </a:p>
            </p:txBody>
          </p:sp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B1782245-084F-3DCF-6524-242741C17C7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 bwMode="auto">
              <a:xfrm>
                <a:off x="10831348" y="1304310"/>
                <a:ext cx="612121" cy="614413"/>
              </a:xfrm>
              <a:custGeom>
                <a:avLst/>
                <a:gdLst>
                  <a:gd name="T0" fmla="*/ 147 w 534"/>
                  <a:gd name="T1" fmla="*/ 389 h 536"/>
                  <a:gd name="T2" fmla="*/ 147 w 534"/>
                  <a:gd name="T3" fmla="*/ 147 h 536"/>
                  <a:gd name="T4" fmla="*/ 387 w 534"/>
                  <a:gd name="T5" fmla="*/ 147 h 536"/>
                  <a:gd name="T6" fmla="*/ 387 w 534"/>
                  <a:gd name="T7" fmla="*/ 389 h 536"/>
                  <a:gd name="T8" fmla="*/ 147 w 534"/>
                  <a:gd name="T9" fmla="*/ 389 h 536"/>
                  <a:gd name="T10" fmla="*/ 534 w 534"/>
                  <a:gd name="T11" fmla="*/ 536 h 536"/>
                  <a:gd name="T12" fmla="*/ 534 w 534"/>
                  <a:gd name="T13" fmla="*/ 0 h 536"/>
                  <a:gd name="T14" fmla="*/ 0 w 534"/>
                  <a:gd name="T15" fmla="*/ 0 h 536"/>
                  <a:gd name="T16" fmla="*/ 0 w 534"/>
                  <a:gd name="T17" fmla="*/ 536 h 536"/>
                  <a:gd name="T18" fmla="*/ 534 w 534"/>
                  <a:gd name="T19" fmla="*/ 536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4" h="536">
                    <a:moveTo>
                      <a:pt x="147" y="389"/>
                    </a:moveTo>
                    <a:lnTo>
                      <a:pt x="147" y="147"/>
                    </a:lnTo>
                    <a:lnTo>
                      <a:pt x="387" y="147"/>
                    </a:lnTo>
                    <a:lnTo>
                      <a:pt x="387" y="389"/>
                    </a:lnTo>
                    <a:lnTo>
                      <a:pt x="147" y="389"/>
                    </a:lnTo>
                    <a:close/>
                    <a:moveTo>
                      <a:pt x="534" y="536"/>
                    </a:moveTo>
                    <a:lnTo>
                      <a:pt x="534" y="0"/>
                    </a:lnTo>
                    <a:lnTo>
                      <a:pt x="0" y="0"/>
                    </a:lnTo>
                    <a:lnTo>
                      <a:pt x="0" y="536"/>
                    </a:lnTo>
                    <a:lnTo>
                      <a:pt x="534" y="5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ZA"/>
              </a:p>
            </p:txBody>
          </p:sp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04457479-9510-2E81-7D8A-D6298FA8356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 bwMode="auto">
              <a:xfrm>
                <a:off x="11873328" y="261183"/>
                <a:ext cx="318670" cy="612121"/>
              </a:xfrm>
              <a:custGeom>
                <a:avLst/>
                <a:gdLst>
                  <a:gd name="T0" fmla="*/ 0 w 278"/>
                  <a:gd name="T1" fmla="*/ 534 h 534"/>
                  <a:gd name="T2" fmla="*/ 278 w 278"/>
                  <a:gd name="T3" fmla="*/ 534 h 534"/>
                  <a:gd name="T4" fmla="*/ 278 w 278"/>
                  <a:gd name="T5" fmla="*/ 387 h 534"/>
                  <a:gd name="T6" fmla="*/ 147 w 278"/>
                  <a:gd name="T7" fmla="*/ 387 h 534"/>
                  <a:gd name="T8" fmla="*/ 147 w 278"/>
                  <a:gd name="T9" fmla="*/ 147 h 534"/>
                  <a:gd name="T10" fmla="*/ 278 w 278"/>
                  <a:gd name="T11" fmla="*/ 147 h 534"/>
                  <a:gd name="T12" fmla="*/ 278 w 278"/>
                  <a:gd name="T13" fmla="*/ 0 h 534"/>
                  <a:gd name="T14" fmla="*/ 0 w 278"/>
                  <a:gd name="T15" fmla="*/ 0 h 534"/>
                  <a:gd name="T16" fmla="*/ 0 w 278"/>
                  <a:gd name="T17" fmla="*/ 534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8" h="534">
                    <a:moveTo>
                      <a:pt x="0" y="534"/>
                    </a:moveTo>
                    <a:lnTo>
                      <a:pt x="278" y="534"/>
                    </a:lnTo>
                    <a:lnTo>
                      <a:pt x="278" y="387"/>
                    </a:lnTo>
                    <a:lnTo>
                      <a:pt x="147" y="387"/>
                    </a:lnTo>
                    <a:lnTo>
                      <a:pt x="147" y="147"/>
                    </a:lnTo>
                    <a:lnTo>
                      <a:pt x="278" y="147"/>
                    </a:lnTo>
                    <a:lnTo>
                      <a:pt x="278" y="0"/>
                    </a:lnTo>
                    <a:lnTo>
                      <a:pt x="0" y="0"/>
                    </a:lnTo>
                    <a:lnTo>
                      <a:pt x="0" y="53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ZA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A27586B-4F84-84DE-FAC1-B477C5DC6F98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140133" y="-1318"/>
              <a:ext cx="1419111" cy="989251"/>
              <a:chOff x="10140133" y="-1318"/>
              <a:chExt cx="1419111" cy="989251"/>
            </a:xfrm>
          </p:grpSpPr>
          <p:sp>
            <p:nvSpPr>
              <p:cNvPr id="38" name="Freeform 13">
                <a:extLst>
                  <a:ext uri="{FF2B5EF4-FFF2-40B4-BE49-F238E27FC236}">
                    <a16:creationId xmlns:a16="http://schemas.microsoft.com/office/drawing/2014/main" id="{92A82CE4-7E1D-7149-19A8-46BD67C3F1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 bwMode="auto">
              <a:xfrm>
                <a:off x="10140133" y="-1318"/>
                <a:ext cx="1319384" cy="895255"/>
              </a:xfrm>
              <a:custGeom>
                <a:avLst/>
                <a:gdLst>
                  <a:gd name="T0" fmla="*/ 381 w 580"/>
                  <a:gd name="T1" fmla="*/ 0 h 393"/>
                  <a:gd name="T2" fmla="*/ 0 w 580"/>
                  <a:gd name="T3" fmla="*/ 0 h 393"/>
                  <a:gd name="T4" fmla="*/ 392 w 580"/>
                  <a:gd name="T5" fmla="*/ 393 h 393"/>
                  <a:gd name="T6" fmla="*/ 390 w 580"/>
                  <a:gd name="T7" fmla="*/ 390 h 393"/>
                  <a:gd name="T8" fmla="*/ 382 w 580"/>
                  <a:gd name="T9" fmla="*/ 380 h 393"/>
                  <a:gd name="T10" fmla="*/ 378 w 580"/>
                  <a:gd name="T11" fmla="*/ 375 h 393"/>
                  <a:gd name="T12" fmla="*/ 376 w 580"/>
                  <a:gd name="T13" fmla="*/ 372 h 393"/>
                  <a:gd name="T14" fmla="*/ 374 w 580"/>
                  <a:gd name="T15" fmla="*/ 369 h 393"/>
                  <a:gd name="T16" fmla="*/ 373 w 580"/>
                  <a:gd name="T17" fmla="*/ 367 h 393"/>
                  <a:gd name="T18" fmla="*/ 371 w 580"/>
                  <a:gd name="T19" fmla="*/ 364 h 393"/>
                  <a:gd name="T20" fmla="*/ 370 w 580"/>
                  <a:gd name="T21" fmla="*/ 361 h 393"/>
                  <a:gd name="T22" fmla="*/ 368 w 580"/>
                  <a:gd name="T23" fmla="*/ 358 h 393"/>
                  <a:gd name="T24" fmla="*/ 367 w 580"/>
                  <a:gd name="T25" fmla="*/ 355 h 393"/>
                  <a:gd name="T26" fmla="*/ 366 w 580"/>
                  <a:gd name="T27" fmla="*/ 352 h 393"/>
                  <a:gd name="T28" fmla="*/ 363 w 580"/>
                  <a:gd name="T29" fmla="*/ 346 h 393"/>
                  <a:gd name="T30" fmla="*/ 362 w 580"/>
                  <a:gd name="T31" fmla="*/ 343 h 393"/>
                  <a:gd name="T32" fmla="*/ 361 w 580"/>
                  <a:gd name="T33" fmla="*/ 338 h 393"/>
                  <a:gd name="T34" fmla="*/ 359 w 580"/>
                  <a:gd name="T35" fmla="*/ 333 h 393"/>
                  <a:gd name="T36" fmla="*/ 359 w 580"/>
                  <a:gd name="T37" fmla="*/ 330 h 393"/>
                  <a:gd name="T38" fmla="*/ 358 w 580"/>
                  <a:gd name="T39" fmla="*/ 327 h 393"/>
                  <a:gd name="T40" fmla="*/ 358 w 580"/>
                  <a:gd name="T41" fmla="*/ 326 h 393"/>
                  <a:gd name="T42" fmla="*/ 357 w 580"/>
                  <a:gd name="T43" fmla="*/ 320 h 393"/>
                  <a:gd name="T44" fmla="*/ 356 w 580"/>
                  <a:gd name="T45" fmla="*/ 317 h 393"/>
                  <a:gd name="T46" fmla="*/ 356 w 580"/>
                  <a:gd name="T47" fmla="*/ 316 h 393"/>
                  <a:gd name="T48" fmla="*/ 355 w 580"/>
                  <a:gd name="T49" fmla="*/ 300 h 393"/>
                  <a:gd name="T50" fmla="*/ 367 w 580"/>
                  <a:gd name="T51" fmla="*/ 244 h 393"/>
                  <a:gd name="T52" fmla="*/ 370 w 580"/>
                  <a:gd name="T53" fmla="*/ 238 h 393"/>
                  <a:gd name="T54" fmla="*/ 371 w 580"/>
                  <a:gd name="T55" fmla="*/ 235 h 393"/>
                  <a:gd name="T56" fmla="*/ 375 w 580"/>
                  <a:gd name="T57" fmla="*/ 230 h 393"/>
                  <a:gd name="T58" fmla="*/ 376 w 580"/>
                  <a:gd name="T59" fmla="*/ 227 h 393"/>
                  <a:gd name="T60" fmla="*/ 380 w 580"/>
                  <a:gd name="T61" fmla="*/ 222 h 393"/>
                  <a:gd name="T62" fmla="*/ 384 w 580"/>
                  <a:gd name="T63" fmla="*/ 216 h 393"/>
                  <a:gd name="T64" fmla="*/ 388 w 580"/>
                  <a:gd name="T65" fmla="*/ 211 h 393"/>
                  <a:gd name="T66" fmla="*/ 395 w 580"/>
                  <a:gd name="T67" fmla="*/ 204 h 393"/>
                  <a:gd name="T68" fmla="*/ 490 w 580"/>
                  <a:gd name="T69" fmla="*/ 165 h 393"/>
                  <a:gd name="T70" fmla="*/ 490 w 580"/>
                  <a:gd name="T71" fmla="*/ 165 h 393"/>
                  <a:gd name="T72" fmla="*/ 496 w 580"/>
                  <a:gd name="T73" fmla="*/ 165 h 393"/>
                  <a:gd name="T74" fmla="*/ 502 w 580"/>
                  <a:gd name="T75" fmla="*/ 165 h 393"/>
                  <a:gd name="T76" fmla="*/ 503 w 580"/>
                  <a:gd name="T77" fmla="*/ 166 h 393"/>
                  <a:gd name="T78" fmla="*/ 508 w 580"/>
                  <a:gd name="T79" fmla="*/ 166 h 393"/>
                  <a:gd name="T80" fmla="*/ 515 w 580"/>
                  <a:gd name="T81" fmla="*/ 167 h 393"/>
                  <a:gd name="T82" fmla="*/ 520 w 580"/>
                  <a:gd name="T83" fmla="*/ 168 h 393"/>
                  <a:gd name="T84" fmla="*/ 520 w 580"/>
                  <a:gd name="T85" fmla="*/ 168 h 393"/>
                  <a:gd name="T86" fmla="*/ 523 w 580"/>
                  <a:gd name="T87" fmla="*/ 169 h 393"/>
                  <a:gd name="T88" fmla="*/ 527 w 580"/>
                  <a:gd name="T89" fmla="*/ 170 h 393"/>
                  <a:gd name="T90" fmla="*/ 529 w 580"/>
                  <a:gd name="T91" fmla="*/ 171 h 393"/>
                  <a:gd name="T92" fmla="*/ 531 w 580"/>
                  <a:gd name="T93" fmla="*/ 171 h 393"/>
                  <a:gd name="T94" fmla="*/ 536 w 580"/>
                  <a:gd name="T95" fmla="*/ 173 h 393"/>
                  <a:gd name="T96" fmla="*/ 536 w 580"/>
                  <a:gd name="T97" fmla="*/ 173 h 393"/>
                  <a:gd name="T98" fmla="*/ 542 w 580"/>
                  <a:gd name="T99" fmla="*/ 175 h 393"/>
                  <a:gd name="T100" fmla="*/ 545 w 580"/>
                  <a:gd name="T101" fmla="*/ 177 h 393"/>
                  <a:gd name="T102" fmla="*/ 551 w 580"/>
                  <a:gd name="T103" fmla="*/ 180 h 393"/>
                  <a:gd name="T104" fmla="*/ 555 w 580"/>
                  <a:gd name="T105" fmla="*/ 182 h 393"/>
                  <a:gd name="T106" fmla="*/ 561 w 580"/>
                  <a:gd name="T107" fmla="*/ 185 h 393"/>
                  <a:gd name="T108" fmla="*/ 565 w 580"/>
                  <a:gd name="T109" fmla="*/ 188 h 393"/>
                  <a:gd name="T110" fmla="*/ 566 w 580"/>
                  <a:gd name="T111" fmla="*/ 188 h 393"/>
                  <a:gd name="T112" fmla="*/ 570 w 580"/>
                  <a:gd name="T113" fmla="*/ 192 h 393"/>
                  <a:gd name="T114" fmla="*/ 571 w 580"/>
                  <a:gd name="T115" fmla="*/ 192 h 393"/>
                  <a:gd name="T116" fmla="*/ 575 w 580"/>
                  <a:gd name="T117" fmla="*/ 196 h 393"/>
                  <a:gd name="T118" fmla="*/ 579 w 580"/>
                  <a:gd name="T119" fmla="*/ 199 h 393"/>
                  <a:gd name="T120" fmla="*/ 580 w 580"/>
                  <a:gd name="T121" fmla="*/ 200 h 393"/>
                  <a:gd name="T122" fmla="*/ 580 w 580"/>
                  <a:gd name="T123" fmla="*/ 200 h 393"/>
                  <a:gd name="T124" fmla="*/ 381 w 580"/>
                  <a:gd name="T125" fmla="*/ 0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80" h="393">
                    <a:moveTo>
                      <a:pt x="38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92" y="393"/>
                      <a:pt x="392" y="393"/>
                      <a:pt x="392" y="393"/>
                    </a:cubicBezTo>
                    <a:cubicBezTo>
                      <a:pt x="391" y="392"/>
                      <a:pt x="391" y="391"/>
                      <a:pt x="390" y="390"/>
                    </a:cubicBezTo>
                    <a:cubicBezTo>
                      <a:pt x="387" y="387"/>
                      <a:pt x="384" y="383"/>
                      <a:pt x="382" y="380"/>
                    </a:cubicBezTo>
                    <a:cubicBezTo>
                      <a:pt x="380" y="378"/>
                      <a:pt x="379" y="377"/>
                      <a:pt x="378" y="375"/>
                    </a:cubicBezTo>
                    <a:cubicBezTo>
                      <a:pt x="377" y="374"/>
                      <a:pt x="377" y="373"/>
                      <a:pt x="376" y="372"/>
                    </a:cubicBezTo>
                    <a:cubicBezTo>
                      <a:pt x="376" y="371"/>
                      <a:pt x="375" y="370"/>
                      <a:pt x="374" y="369"/>
                    </a:cubicBezTo>
                    <a:cubicBezTo>
                      <a:pt x="374" y="368"/>
                      <a:pt x="373" y="367"/>
                      <a:pt x="373" y="367"/>
                    </a:cubicBezTo>
                    <a:cubicBezTo>
                      <a:pt x="372" y="366"/>
                      <a:pt x="372" y="365"/>
                      <a:pt x="371" y="364"/>
                    </a:cubicBezTo>
                    <a:cubicBezTo>
                      <a:pt x="371" y="363"/>
                      <a:pt x="370" y="362"/>
                      <a:pt x="370" y="361"/>
                    </a:cubicBezTo>
                    <a:cubicBezTo>
                      <a:pt x="369" y="360"/>
                      <a:pt x="369" y="359"/>
                      <a:pt x="368" y="358"/>
                    </a:cubicBezTo>
                    <a:cubicBezTo>
                      <a:pt x="368" y="357"/>
                      <a:pt x="367" y="356"/>
                      <a:pt x="367" y="355"/>
                    </a:cubicBezTo>
                    <a:cubicBezTo>
                      <a:pt x="367" y="354"/>
                      <a:pt x="366" y="353"/>
                      <a:pt x="366" y="352"/>
                    </a:cubicBezTo>
                    <a:cubicBezTo>
                      <a:pt x="365" y="350"/>
                      <a:pt x="364" y="348"/>
                      <a:pt x="363" y="346"/>
                    </a:cubicBezTo>
                    <a:cubicBezTo>
                      <a:pt x="363" y="345"/>
                      <a:pt x="362" y="344"/>
                      <a:pt x="362" y="343"/>
                    </a:cubicBezTo>
                    <a:cubicBezTo>
                      <a:pt x="362" y="341"/>
                      <a:pt x="361" y="340"/>
                      <a:pt x="361" y="338"/>
                    </a:cubicBezTo>
                    <a:cubicBezTo>
                      <a:pt x="360" y="337"/>
                      <a:pt x="360" y="335"/>
                      <a:pt x="359" y="333"/>
                    </a:cubicBezTo>
                    <a:cubicBezTo>
                      <a:pt x="359" y="332"/>
                      <a:pt x="359" y="331"/>
                      <a:pt x="359" y="330"/>
                    </a:cubicBezTo>
                    <a:cubicBezTo>
                      <a:pt x="358" y="329"/>
                      <a:pt x="358" y="328"/>
                      <a:pt x="358" y="327"/>
                    </a:cubicBezTo>
                    <a:cubicBezTo>
                      <a:pt x="358" y="327"/>
                      <a:pt x="358" y="326"/>
                      <a:pt x="358" y="326"/>
                    </a:cubicBezTo>
                    <a:cubicBezTo>
                      <a:pt x="357" y="324"/>
                      <a:pt x="357" y="322"/>
                      <a:pt x="357" y="320"/>
                    </a:cubicBezTo>
                    <a:cubicBezTo>
                      <a:pt x="356" y="319"/>
                      <a:pt x="356" y="318"/>
                      <a:pt x="356" y="317"/>
                    </a:cubicBezTo>
                    <a:cubicBezTo>
                      <a:pt x="356" y="316"/>
                      <a:pt x="356" y="316"/>
                      <a:pt x="356" y="316"/>
                    </a:cubicBezTo>
                    <a:cubicBezTo>
                      <a:pt x="355" y="311"/>
                      <a:pt x="355" y="305"/>
                      <a:pt x="355" y="300"/>
                    </a:cubicBezTo>
                    <a:cubicBezTo>
                      <a:pt x="355" y="280"/>
                      <a:pt x="359" y="261"/>
                      <a:pt x="367" y="244"/>
                    </a:cubicBezTo>
                    <a:cubicBezTo>
                      <a:pt x="368" y="242"/>
                      <a:pt x="369" y="240"/>
                      <a:pt x="370" y="238"/>
                    </a:cubicBezTo>
                    <a:cubicBezTo>
                      <a:pt x="370" y="237"/>
                      <a:pt x="371" y="236"/>
                      <a:pt x="371" y="235"/>
                    </a:cubicBezTo>
                    <a:cubicBezTo>
                      <a:pt x="372" y="233"/>
                      <a:pt x="373" y="232"/>
                      <a:pt x="375" y="230"/>
                    </a:cubicBezTo>
                    <a:cubicBezTo>
                      <a:pt x="375" y="229"/>
                      <a:pt x="376" y="228"/>
                      <a:pt x="376" y="227"/>
                    </a:cubicBezTo>
                    <a:cubicBezTo>
                      <a:pt x="377" y="225"/>
                      <a:pt x="379" y="223"/>
                      <a:pt x="380" y="222"/>
                    </a:cubicBezTo>
                    <a:cubicBezTo>
                      <a:pt x="381" y="220"/>
                      <a:pt x="382" y="218"/>
                      <a:pt x="384" y="216"/>
                    </a:cubicBezTo>
                    <a:cubicBezTo>
                      <a:pt x="385" y="215"/>
                      <a:pt x="386" y="213"/>
                      <a:pt x="388" y="211"/>
                    </a:cubicBezTo>
                    <a:cubicBezTo>
                      <a:pt x="390" y="209"/>
                      <a:pt x="392" y="207"/>
                      <a:pt x="395" y="204"/>
                    </a:cubicBezTo>
                    <a:cubicBezTo>
                      <a:pt x="419" y="180"/>
                      <a:pt x="453" y="165"/>
                      <a:pt x="490" y="165"/>
                    </a:cubicBezTo>
                    <a:cubicBezTo>
                      <a:pt x="490" y="165"/>
                      <a:pt x="490" y="165"/>
                      <a:pt x="490" y="165"/>
                    </a:cubicBezTo>
                    <a:cubicBezTo>
                      <a:pt x="492" y="165"/>
                      <a:pt x="494" y="165"/>
                      <a:pt x="496" y="165"/>
                    </a:cubicBezTo>
                    <a:cubicBezTo>
                      <a:pt x="498" y="165"/>
                      <a:pt x="500" y="165"/>
                      <a:pt x="502" y="165"/>
                    </a:cubicBezTo>
                    <a:cubicBezTo>
                      <a:pt x="502" y="165"/>
                      <a:pt x="503" y="166"/>
                      <a:pt x="503" y="166"/>
                    </a:cubicBezTo>
                    <a:cubicBezTo>
                      <a:pt x="505" y="166"/>
                      <a:pt x="507" y="166"/>
                      <a:pt x="508" y="166"/>
                    </a:cubicBezTo>
                    <a:cubicBezTo>
                      <a:pt x="511" y="166"/>
                      <a:pt x="513" y="167"/>
                      <a:pt x="515" y="167"/>
                    </a:cubicBezTo>
                    <a:cubicBezTo>
                      <a:pt x="517" y="168"/>
                      <a:pt x="519" y="168"/>
                      <a:pt x="520" y="168"/>
                    </a:cubicBezTo>
                    <a:cubicBezTo>
                      <a:pt x="520" y="168"/>
                      <a:pt x="520" y="168"/>
                      <a:pt x="520" y="168"/>
                    </a:cubicBezTo>
                    <a:cubicBezTo>
                      <a:pt x="521" y="169"/>
                      <a:pt x="522" y="169"/>
                      <a:pt x="523" y="169"/>
                    </a:cubicBezTo>
                    <a:cubicBezTo>
                      <a:pt x="524" y="169"/>
                      <a:pt x="525" y="170"/>
                      <a:pt x="527" y="170"/>
                    </a:cubicBezTo>
                    <a:cubicBezTo>
                      <a:pt x="527" y="170"/>
                      <a:pt x="528" y="170"/>
                      <a:pt x="529" y="171"/>
                    </a:cubicBezTo>
                    <a:cubicBezTo>
                      <a:pt x="530" y="171"/>
                      <a:pt x="530" y="171"/>
                      <a:pt x="531" y="171"/>
                    </a:cubicBezTo>
                    <a:cubicBezTo>
                      <a:pt x="533" y="172"/>
                      <a:pt x="534" y="172"/>
                      <a:pt x="536" y="173"/>
                    </a:cubicBezTo>
                    <a:cubicBezTo>
                      <a:pt x="536" y="173"/>
                      <a:pt x="536" y="173"/>
                      <a:pt x="536" y="173"/>
                    </a:cubicBezTo>
                    <a:cubicBezTo>
                      <a:pt x="538" y="174"/>
                      <a:pt x="540" y="175"/>
                      <a:pt x="542" y="175"/>
                    </a:cubicBezTo>
                    <a:cubicBezTo>
                      <a:pt x="543" y="176"/>
                      <a:pt x="544" y="176"/>
                      <a:pt x="545" y="177"/>
                    </a:cubicBezTo>
                    <a:cubicBezTo>
                      <a:pt x="547" y="178"/>
                      <a:pt x="549" y="179"/>
                      <a:pt x="551" y="180"/>
                    </a:cubicBezTo>
                    <a:cubicBezTo>
                      <a:pt x="552" y="180"/>
                      <a:pt x="554" y="181"/>
                      <a:pt x="555" y="182"/>
                    </a:cubicBezTo>
                    <a:cubicBezTo>
                      <a:pt x="557" y="183"/>
                      <a:pt x="559" y="184"/>
                      <a:pt x="561" y="185"/>
                    </a:cubicBezTo>
                    <a:cubicBezTo>
                      <a:pt x="563" y="186"/>
                      <a:pt x="564" y="187"/>
                      <a:pt x="565" y="188"/>
                    </a:cubicBezTo>
                    <a:cubicBezTo>
                      <a:pt x="566" y="188"/>
                      <a:pt x="566" y="188"/>
                      <a:pt x="566" y="188"/>
                    </a:cubicBezTo>
                    <a:cubicBezTo>
                      <a:pt x="567" y="189"/>
                      <a:pt x="569" y="191"/>
                      <a:pt x="570" y="192"/>
                    </a:cubicBezTo>
                    <a:cubicBezTo>
                      <a:pt x="571" y="192"/>
                      <a:pt x="571" y="192"/>
                      <a:pt x="571" y="192"/>
                    </a:cubicBezTo>
                    <a:cubicBezTo>
                      <a:pt x="572" y="193"/>
                      <a:pt x="574" y="194"/>
                      <a:pt x="575" y="196"/>
                    </a:cubicBezTo>
                    <a:cubicBezTo>
                      <a:pt x="577" y="197"/>
                      <a:pt x="578" y="198"/>
                      <a:pt x="579" y="199"/>
                    </a:cubicBezTo>
                    <a:cubicBezTo>
                      <a:pt x="580" y="200"/>
                      <a:pt x="580" y="200"/>
                      <a:pt x="580" y="200"/>
                    </a:cubicBezTo>
                    <a:cubicBezTo>
                      <a:pt x="580" y="200"/>
                      <a:pt x="580" y="200"/>
                      <a:pt x="580" y="200"/>
                    </a:cubicBezTo>
                    <a:cubicBezTo>
                      <a:pt x="381" y="0"/>
                      <a:pt x="381" y="0"/>
                      <a:pt x="381" y="0"/>
                    </a:cubicBezTo>
                  </a:path>
                </a:pathLst>
              </a:custGeom>
              <a:solidFill>
                <a:schemeClr val="accent1">
                  <a:alpha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ZA"/>
              </a:p>
            </p:txBody>
          </p:sp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38037297-6BDF-5170-C065-DBDFAF9629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 bwMode="auto">
              <a:xfrm>
                <a:off x="10947123" y="374666"/>
                <a:ext cx="612121" cy="613267"/>
              </a:xfrm>
              <a:custGeom>
                <a:avLst/>
                <a:gdLst>
                  <a:gd name="T0" fmla="*/ 33 w 269"/>
                  <a:gd name="T1" fmla="*/ 46 h 269"/>
                  <a:gd name="T2" fmla="*/ 25 w 269"/>
                  <a:gd name="T3" fmla="*/ 57 h 269"/>
                  <a:gd name="T4" fmla="*/ 20 w 269"/>
                  <a:gd name="T5" fmla="*/ 65 h 269"/>
                  <a:gd name="T6" fmla="*/ 15 w 269"/>
                  <a:gd name="T7" fmla="*/ 73 h 269"/>
                  <a:gd name="T8" fmla="*/ 11 w 269"/>
                  <a:gd name="T9" fmla="*/ 82 h 269"/>
                  <a:gd name="T10" fmla="*/ 8 w 269"/>
                  <a:gd name="T11" fmla="*/ 90 h 269"/>
                  <a:gd name="T12" fmla="*/ 5 w 269"/>
                  <a:gd name="T13" fmla="*/ 97 h 269"/>
                  <a:gd name="T14" fmla="*/ 3 w 269"/>
                  <a:gd name="T15" fmla="*/ 106 h 269"/>
                  <a:gd name="T16" fmla="*/ 1 w 269"/>
                  <a:gd name="T17" fmla="*/ 120 h 269"/>
                  <a:gd name="T18" fmla="*/ 0 w 269"/>
                  <a:gd name="T19" fmla="*/ 143 h 269"/>
                  <a:gd name="T20" fmla="*/ 1 w 269"/>
                  <a:gd name="T21" fmla="*/ 152 h 269"/>
                  <a:gd name="T22" fmla="*/ 3 w 269"/>
                  <a:gd name="T23" fmla="*/ 161 h 269"/>
                  <a:gd name="T24" fmla="*/ 4 w 269"/>
                  <a:gd name="T25" fmla="*/ 165 h 269"/>
                  <a:gd name="T26" fmla="*/ 6 w 269"/>
                  <a:gd name="T27" fmla="*/ 173 h 269"/>
                  <a:gd name="T28" fmla="*/ 8 w 269"/>
                  <a:gd name="T29" fmla="*/ 181 h 269"/>
                  <a:gd name="T30" fmla="*/ 12 w 269"/>
                  <a:gd name="T31" fmla="*/ 190 h 269"/>
                  <a:gd name="T32" fmla="*/ 15 w 269"/>
                  <a:gd name="T33" fmla="*/ 196 h 269"/>
                  <a:gd name="T34" fmla="*/ 18 w 269"/>
                  <a:gd name="T35" fmla="*/ 202 h 269"/>
                  <a:gd name="T36" fmla="*/ 21 w 269"/>
                  <a:gd name="T37" fmla="*/ 207 h 269"/>
                  <a:gd name="T38" fmla="*/ 27 w 269"/>
                  <a:gd name="T39" fmla="*/ 215 h 269"/>
                  <a:gd name="T40" fmla="*/ 135 w 269"/>
                  <a:gd name="T41" fmla="*/ 269 h 269"/>
                  <a:gd name="T42" fmla="*/ 225 w 269"/>
                  <a:gd name="T43" fmla="*/ 35 h 269"/>
                  <a:gd name="T44" fmla="*/ 224 w 269"/>
                  <a:gd name="T45" fmla="*/ 34 h 269"/>
                  <a:gd name="T46" fmla="*/ 216 w 269"/>
                  <a:gd name="T47" fmla="*/ 27 h 269"/>
                  <a:gd name="T48" fmla="*/ 211 w 269"/>
                  <a:gd name="T49" fmla="*/ 23 h 269"/>
                  <a:gd name="T50" fmla="*/ 206 w 269"/>
                  <a:gd name="T51" fmla="*/ 20 h 269"/>
                  <a:gd name="T52" fmla="*/ 196 w 269"/>
                  <a:gd name="T53" fmla="*/ 15 h 269"/>
                  <a:gd name="T54" fmla="*/ 187 w 269"/>
                  <a:gd name="T55" fmla="*/ 10 h 269"/>
                  <a:gd name="T56" fmla="*/ 181 w 269"/>
                  <a:gd name="T57" fmla="*/ 8 h 269"/>
                  <a:gd name="T58" fmla="*/ 174 w 269"/>
                  <a:gd name="T59" fmla="*/ 6 h 269"/>
                  <a:gd name="T60" fmla="*/ 168 w 269"/>
                  <a:gd name="T61" fmla="*/ 4 h 269"/>
                  <a:gd name="T62" fmla="*/ 165 w 269"/>
                  <a:gd name="T63" fmla="*/ 3 h 269"/>
                  <a:gd name="T64" fmla="*/ 153 w 269"/>
                  <a:gd name="T65" fmla="*/ 1 h 269"/>
                  <a:gd name="T66" fmla="*/ 147 w 269"/>
                  <a:gd name="T67" fmla="*/ 0 h 269"/>
                  <a:gd name="T68" fmla="*/ 135 w 269"/>
                  <a:gd name="T69" fmla="*/ 0 h 269"/>
                  <a:gd name="T70" fmla="*/ 40 w 269"/>
                  <a:gd name="T71" fmla="*/ 39 h 269"/>
                  <a:gd name="T72" fmla="*/ 135 w 269"/>
                  <a:gd name="T73" fmla="*/ 195 h 269"/>
                  <a:gd name="T74" fmla="*/ 135 w 269"/>
                  <a:gd name="T75" fmla="*/ 7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69" h="269">
                    <a:moveTo>
                      <a:pt x="40" y="39"/>
                    </a:moveTo>
                    <a:cubicBezTo>
                      <a:pt x="37" y="42"/>
                      <a:pt x="35" y="44"/>
                      <a:pt x="33" y="46"/>
                    </a:cubicBezTo>
                    <a:cubicBezTo>
                      <a:pt x="32" y="48"/>
                      <a:pt x="30" y="50"/>
                      <a:pt x="29" y="51"/>
                    </a:cubicBezTo>
                    <a:cubicBezTo>
                      <a:pt x="27" y="53"/>
                      <a:pt x="26" y="55"/>
                      <a:pt x="25" y="57"/>
                    </a:cubicBezTo>
                    <a:cubicBezTo>
                      <a:pt x="24" y="58"/>
                      <a:pt x="22" y="60"/>
                      <a:pt x="21" y="62"/>
                    </a:cubicBezTo>
                    <a:cubicBezTo>
                      <a:pt x="21" y="63"/>
                      <a:pt x="20" y="64"/>
                      <a:pt x="20" y="65"/>
                    </a:cubicBezTo>
                    <a:cubicBezTo>
                      <a:pt x="18" y="67"/>
                      <a:pt x="17" y="68"/>
                      <a:pt x="16" y="70"/>
                    </a:cubicBezTo>
                    <a:cubicBezTo>
                      <a:pt x="16" y="71"/>
                      <a:pt x="15" y="72"/>
                      <a:pt x="15" y="73"/>
                    </a:cubicBezTo>
                    <a:cubicBezTo>
                      <a:pt x="14" y="75"/>
                      <a:pt x="13" y="77"/>
                      <a:pt x="12" y="79"/>
                    </a:cubicBezTo>
                    <a:cubicBezTo>
                      <a:pt x="11" y="80"/>
                      <a:pt x="11" y="81"/>
                      <a:pt x="11" y="82"/>
                    </a:cubicBezTo>
                    <a:cubicBezTo>
                      <a:pt x="10" y="84"/>
                      <a:pt x="10" y="85"/>
                      <a:pt x="9" y="86"/>
                    </a:cubicBezTo>
                    <a:cubicBezTo>
                      <a:pt x="9" y="87"/>
                      <a:pt x="8" y="88"/>
                      <a:pt x="8" y="90"/>
                    </a:cubicBezTo>
                    <a:cubicBezTo>
                      <a:pt x="7" y="91"/>
                      <a:pt x="7" y="92"/>
                      <a:pt x="6" y="93"/>
                    </a:cubicBezTo>
                    <a:cubicBezTo>
                      <a:pt x="6" y="95"/>
                      <a:pt x="6" y="96"/>
                      <a:pt x="5" y="97"/>
                    </a:cubicBezTo>
                    <a:cubicBezTo>
                      <a:pt x="5" y="100"/>
                      <a:pt x="4" y="102"/>
                      <a:pt x="3" y="105"/>
                    </a:cubicBezTo>
                    <a:cubicBezTo>
                      <a:pt x="3" y="106"/>
                      <a:pt x="3" y="106"/>
                      <a:pt x="3" y="106"/>
                    </a:cubicBezTo>
                    <a:cubicBezTo>
                      <a:pt x="3" y="108"/>
                      <a:pt x="2" y="110"/>
                      <a:pt x="2" y="113"/>
                    </a:cubicBezTo>
                    <a:cubicBezTo>
                      <a:pt x="1" y="115"/>
                      <a:pt x="1" y="118"/>
                      <a:pt x="1" y="120"/>
                    </a:cubicBezTo>
                    <a:cubicBezTo>
                      <a:pt x="0" y="125"/>
                      <a:pt x="0" y="130"/>
                      <a:pt x="0" y="135"/>
                    </a:cubicBezTo>
                    <a:cubicBezTo>
                      <a:pt x="0" y="137"/>
                      <a:pt x="0" y="140"/>
                      <a:pt x="0" y="143"/>
                    </a:cubicBezTo>
                    <a:cubicBezTo>
                      <a:pt x="1" y="146"/>
                      <a:pt x="1" y="148"/>
                      <a:pt x="1" y="151"/>
                    </a:cubicBezTo>
                    <a:cubicBezTo>
                      <a:pt x="1" y="152"/>
                      <a:pt x="1" y="152"/>
                      <a:pt x="1" y="152"/>
                    </a:cubicBezTo>
                    <a:cubicBezTo>
                      <a:pt x="1" y="153"/>
                      <a:pt x="1" y="154"/>
                      <a:pt x="2" y="155"/>
                    </a:cubicBezTo>
                    <a:cubicBezTo>
                      <a:pt x="2" y="157"/>
                      <a:pt x="2" y="159"/>
                      <a:pt x="3" y="161"/>
                    </a:cubicBezTo>
                    <a:cubicBezTo>
                      <a:pt x="3" y="161"/>
                      <a:pt x="3" y="162"/>
                      <a:pt x="3" y="162"/>
                    </a:cubicBezTo>
                    <a:cubicBezTo>
                      <a:pt x="3" y="163"/>
                      <a:pt x="3" y="164"/>
                      <a:pt x="4" y="165"/>
                    </a:cubicBezTo>
                    <a:cubicBezTo>
                      <a:pt x="4" y="166"/>
                      <a:pt x="4" y="167"/>
                      <a:pt x="4" y="168"/>
                    </a:cubicBezTo>
                    <a:cubicBezTo>
                      <a:pt x="5" y="170"/>
                      <a:pt x="5" y="172"/>
                      <a:pt x="6" y="173"/>
                    </a:cubicBezTo>
                    <a:cubicBezTo>
                      <a:pt x="6" y="175"/>
                      <a:pt x="7" y="176"/>
                      <a:pt x="7" y="178"/>
                    </a:cubicBezTo>
                    <a:cubicBezTo>
                      <a:pt x="8" y="179"/>
                      <a:pt x="8" y="180"/>
                      <a:pt x="8" y="181"/>
                    </a:cubicBezTo>
                    <a:cubicBezTo>
                      <a:pt x="9" y="183"/>
                      <a:pt x="10" y="185"/>
                      <a:pt x="11" y="187"/>
                    </a:cubicBezTo>
                    <a:cubicBezTo>
                      <a:pt x="11" y="188"/>
                      <a:pt x="12" y="189"/>
                      <a:pt x="12" y="190"/>
                    </a:cubicBezTo>
                    <a:cubicBezTo>
                      <a:pt x="12" y="191"/>
                      <a:pt x="13" y="192"/>
                      <a:pt x="13" y="193"/>
                    </a:cubicBezTo>
                    <a:cubicBezTo>
                      <a:pt x="14" y="194"/>
                      <a:pt x="14" y="195"/>
                      <a:pt x="15" y="196"/>
                    </a:cubicBezTo>
                    <a:cubicBezTo>
                      <a:pt x="15" y="197"/>
                      <a:pt x="16" y="198"/>
                      <a:pt x="16" y="199"/>
                    </a:cubicBezTo>
                    <a:cubicBezTo>
                      <a:pt x="17" y="200"/>
                      <a:pt x="17" y="201"/>
                      <a:pt x="18" y="202"/>
                    </a:cubicBezTo>
                    <a:cubicBezTo>
                      <a:pt x="18" y="202"/>
                      <a:pt x="19" y="203"/>
                      <a:pt x="19" y="204"/>
                    </a:cubicBezTo>
                    <a:cubicBezTo>
                      <a:pt x="20" y="205"/>
                      <a:pt x="21" y="206"/>
                      <a:pt x="21" y="207"/>
                    </a:cubicBezTo>
                    <a:cubicBezTo>
                      <a:pt x="22" y="208"/>
                      <a:pt x="22" y="209"/>
                      <a:pt x="23" y="210"/>
                    </a:cubicBezTo>
                    <a:cubicBezTo>
                      <a:pt x="24" y="212"/>
                      <a:pt x="25" y="213"/>
                      <a:pt x="27" y="215"/>
                    </a:cubicBezTo>
                    <a:cubicBezTo>
                      <a:pt x="29" y="218"/>
                      <a:pt x="32" y="222"/>
                      <a:pt x="35" y="225"/>
                    </a:cubicBezTo>
                    <a:cubicBezTo>
                      <a:pt x="60" y="252"/>
                      <a:pt x="95" y="269"/>
                      <a:pt x="135" y="269"/>
                    </a:cubicBezTo>
                    <a:cubicBezTo>
                      <a:pt x="209" y="269"/>
                      <a:pt x="269" y="209"/>
                      <a:pt x="269" y="135"/>
                    </a:cubicBezTo>
                    <a:cubicBezTo>
                      <a:pt x="269" y="95"/>
                      <a:pt x="252" y="59"/>
                      <a:pt x="225" y="35"/>
                    </a:cubicBezTo>
                    <a:cubicBezTo>
                      <a:pt x="225" y="35"/>
                      <a:pt x="225" y="35"/>
                      <a:pt x="225" y="35"/>
                    </a:cubicBezTo>
                    <a:cubicBezTo>
                      <a:pt x="224" y="34"/>
                      <a:pt x="224" y="34"/>
                      <a:pt x="224" y="34"/>
                    </a:cubicBezTo>
                    <a:cubicBezTo>
                      <a:pt x="223" y="33"/>
                      <a:pt x="222" y="32"/>
                      <a:pt x="220" y="31"/>
                    </a:cubicBezTo>
                    <a:cubicBezTo>
                      <a:pt x="219" y="29"/>
                      <a:pt x="217" y="28"/>
                      <a:pt x="216" y="27"/>
                    </a:cubicBezTo>
                    <a:cubicBezTo>
                      <a:pt x="215" y="27"/>
                      <a:pt x="215" y="27"/>
                      <a:pt x="215" y="27"/>
                    </a:cubicBezTo>
                    <a:cubicBezTo>
                      <a:pt x="214" y="26"/>
                      <a:pt x="212" y="24"/>
                      <a:pt x="211" y="23"/>
                    </a:cubicBezTo>
                    <a:cubicBezTo>
                      <a:pt x="210" y="23"/>
                      <a:pt x="210" y="23"/>
                      <a:pt x="210" y="23"/>
                    </a:cubicBezTo>
                    <a:cubicBezTo>
                      <a:pt x="209" y="22"/>
                      <a:pt x="208" y="21"/>
                      <a:pt x="206" y="20"/>
                    </a:cubicBezTo>
                    <a:cubicBezTo>
                      <a:pt x="204" y="19"/>
                      <a:pt x="202" y="18"/>
                      <a:pt x="200" y="17"/>
                    </a:cubicBezTo>
                    <a:cubicBezTo>
                      <a:pt x="199" y="16"/>
                      <a:pt x="197" y="15"/>
                      <a:pt x="196" y="15"/>
                    </a:cubicBezTo>
                    <a:cubicBezTo>
                      <a:pt x="194" y="14"/>
                      <a:pt x="192" y="13"/>
                      <a:pt x="190" y="12"/>
                    </a:cubicBezTo>
                    <a:cubicBezTo>
                      <a:pt x="189" y="11"/>
                      <a:pt x="188" y="11"/>
                      <a:pt x="187" y="10"/>
                    </a:cubicBezTo>
                    <a:cubicBezTo>
                      <a:pt x="185" y="10"/>
                      <a:pt x="183" y="9"/>
                      <a:pt x="181" y="8"/>
                    </a:cubicBezTo>
                    <a:cubicBezTo>
                      <a:pt x="181" y="8"/>
                      <a:pt x="181" y="8"/>
                      <a:pt x="181" y="8"/>
                    </a:cubicBezTo>
                    <a:cubicBezTo>
                      <a:pt x="179" y="7"/>
                      <a:pt x="178" y="7"/>
                      <a:pt x="176" y="6"/>
                    </a:cubicBezTo>
                    <a:cubicBezTo>
                      <a:pt x="175" y="6"/>
                      <a:pt x="175" y="6"/>
                      <a:pt x="174" y="6"/>
                    </a:cubicBezTo>
                    <a:cubicBezTo>
                      <a:pt x="173" y="5"/>
                      <a:pt x="172" y="5"/>
                      <a:pt x="172" y="5"/>
                    </a:cubicBezTo>
                    <a:cubicBezTo>
                      <a:pt x="170" y="5"/>
                      <a:pt x="169" y="4"/>
                      <a:pt x="168" y="4"/>
                    </a:cubicBezTo>
                    <a:cubicBezTo>
                      <a:pt x="167" y="4"/>
                      <a:pt x="166" y="4"/>
                      <a:pt x="165" y="3"/>
                    </a:cubicBezTo>
                    <a:cubicBezTo>
                      <a:pt x="165" y="3"/>
                      <a:pt x="165" y="3"/>
                      <a:pt x="165" y="3"/>
                    </a:cubicBezTo>
                    <a:cubicBezTo>
                      <a:pt x="164" y="3"/>
                      <a:pt x="162" y="3"/>
                      <a:pt x="160" y="2"/>
                    </a:cubicBezTo>
                    <a:cubicBezTo>
                      <a:pt x="158" y="2"/>
                      <a:pt x="156" y="1"/>
                      <a:pt x="153" y="1"/>
                    </a:cubicBezTo>
                    <a:cubicBezTo>
                      <a:pt x="152" y="1"/>
                      <a:pt x="150" y="1"/>
                      <a:pt x="148" y="1"/>
                    </a:cubicBezTo>
                    <a:cubicBezTo>
                      <a:pt x="148" y="1"/>
                      <a:pt x="147" y="0"/>
                      <a:pt x="147" y="0"/>
                    </a:cubicBezTo>
                    <a:cubicBezTo>
                      <a:pt x="145" y="0"/>
                      <a:pt x="143" y="0"/>
                      <a:pt x="141" y="0"/>
                    </a:cubicBezTo>
                    <a:cubicBezTo>
                      <a:pt x="139" y="0"/>
                      <a:pt x="137" y="0"/>
                      <a:pt x="135" y="0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98" y="0"/>
                      <a:pt x="64" y="15"/>
                      <a:pt x="40" y="39"/>
                    </a:cubicBezTo>
                    <a:close/>
                    <a:moveTo>
                      <a:pt x="196" y="135"/>
                    </a:moveTo>
                    <a:cubicBezTo>
                      <a:pt x="196" y="168"/>
                      <a:pt x="168" y="195"/>
                      <a:pt x="135" y="195"/>
                    </a:cubicBezTo>
                    <a:cubicBezTo>
                      <a:pt x="101" y="195"/>
                      <a:pt x="74" y="168"/>
                      <a:pt x="74" y="135"/>
                    </a:cubicBezTo>
                    <a:cubicBezTo>
                      <a:pt x="74" y="101"/>
                      <a:pt x="101" y="74"/>
                      <a:pt x="135" y="74"/>
                    </a:cubicBezTo>
                    <a:cubicBezTo>
                      <a:pt x="168" y="74"/>
                      <a:pt x="196" y="101"/>
                      <a:pt x="196" y="135"/>
                    </a:cubicBezTo>
                    <a:close/>
                  </a:path>
                </a:pathLst>
              </a:custGeom>
              <a:solidFill>
                <a:srgbClr val="14B7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ZA"/>
              </a:p>
            </p:txBody>
          </p:sp>
        </p:grpSp>
      </p:grp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51636-A52B-76CC-A192-88254AFF13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66" y="2228850"/>
            <a:ext cx="2638425" cy="35638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F22D87-5FBF-D14F-9046-F213639EBD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2483" y="2228850"/>
            <a:ext cx="2638425" cy="3563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5B0778-13D6-14ED-2983-50BB74056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196800" y="2228850"/>
            <a:ext cx="2638425" cy="35638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CED094-D901-AAD4-7DDF-4C58F045E7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01116" y="2228850"/>
            <a:ext cx="2638425" cy="35638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926EA96-3752-6404-A16D-3D6F429E941A}"/>
              </a:ext>
            </a:extLst>
          </p:cNvPr>
          <p:cNvSpPr txBox="1">
            <a:spLocks/>
          </p:cNvSpPr>
          <p:nvPr userDrawn="1"/>
        </p:nvSpPr>
        <p:spPr>
          <a:xfrm>
            <a:off x="588166" y="6159538"/>
            <a:ext cx="11051379" cy="2492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800" spc="30" baseline="0" dirty="0">
                <a:solidFill>
                  <a:schemeClr val="accent5"/>
                </a:solidFill>
              </a:rPr>
              <a:t>WINNING AT THE POINT OF PURCHASE, IN-STORE AND ONLINE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D297FA8-99A0-10F6-75A6-48908F343F2A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702533" y="532999"/>
            <a:ext cx="878693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defRPr sz="2400" b="1" spc="4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WHAT MAKES SMOLLAN UNIQUE?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383F894-7332-5B8F-D5D1-660926EBC5A6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702533" y="976139"/>
            <a:ext cx="8787600" cy="22018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ts val="1600"/>
              </a:lnSpc>
              <a:buFont typeface="Calibri" panose="020F0502020204030204" pitchFamily="34" charset="0"/>
              <a:buNone/>
              <a:defRPr sz="2000" b="1" spc="30" baseline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ADD SUB-HEADING</a:t>
            </a:r>
          </a:p>
        </p:txBody>
      </p:sp>
      <p:cxnSp>
        <p:nvCxnSpPr>
          <p:cNvPr id="42" name="Straight Connector 15">
            <a:extLst>
              <a:ext uri="{FF2B5EF4-FFF2-40B4-BE49-F238E27FC236}">
                <a16:creationId xmlns:a16="http://schemas.microsoft.com/office/drawing/2014/main" id="{B115964A-1810-BE31-851B-2C76B5FF03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312818" y="1382123"/>
            <a:ext cx="1566364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7EAE5E6-930B-B4F5-13B2-8DF68A6F7765}"/>
              </a:ext>
            </a:extLst>
          </p:cNvPr>
          <p:cNvSpPr txBox="1">
            <a:spLocks/>
          </p:cNvSpPr>
          <p:nvPr userDrawn="1"/>
        </p:nvSpPr>
        <p:spPr>
          <a:xfrm>
            <a:off x="1365347" y="2622591"/>
            <a:ext cx="1076145" cy="4708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01.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7748C3A6-FCE1-FCB0-E07C-7648F830DC1F}"/>
              </a:ext>
            </a:extLst>
          </p:cNvPr>
          <p:cNvSpPr txBox="1">
            <a:spLocks/>
          </p:cNvSpPr>
          <p:nvPr userDrawn="1"/>
        </p:nvSpPr>
        <p:spPr>
          <a:xfrm>
            <a:off x="4173622" y="2622591"/>
            <a:ext cx="1076145" cy="4708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02.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01780191-3563-3911-D470-2C8EB92EFF3F}"/>
              </a:ext>
            </a:extLst>
          </p:cNvPr>
          <p:cNvSpPr txBox="1">
            <a:spLocks/>
          </p:cNvSpPr>
          <p:nvPr userDrawn="1"/>
        </p:nvSpPr>
        <p:spPr>
          <a:xfrm>
            <a:off x="6977939" y="2622591"/>
            <a:ext cx="1076145" cy="4708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03.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FE0678B-857D-8093-E83B-69FFB17FD8FA}"/>
              </a:ext>
            </a:extLst>
          </p:cNvPr>
          <p:cNvSpPr txBox="1">
            <a:spLocks/>
          </p:cNvSpPr>
          <p:nvPr userDrawn="1"/>
        </p:nvSpPr>
        <p:spPr>
          <a:xfrm>
            <a:off x="9782255" y="2622591"/>
            <a:ext cx="1076145" cy="4708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04.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87E8D970-092F-EB58-9488-EA23C8D90C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4409" y="4358096"/>
            <a:ext cx="138017" cy="138015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150C10F3-CB88-A554-CF12-ADEC7D8314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2684" y="4358096"/>
            <a:ext cx="138017" cy="138015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8DBE3035-55B6-C86E-F7EA-705FCE48473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7001" y="4358096"/>
            <a:ext cx="138017" cy="138015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F445A578-81D1-E2FC-A86E-02C158C1D83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1317" y="4358096"/>
            <a:ext cx="138017" cy="13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38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32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1.xml"/><Relationship Id="rId63" Type="http://schemas.openxmlformats.org/officeDocument/2006/relationships/slideLayout" Target="../slideLayouts/slideLayout62.xml"/><Relationship Id="rId101" Type="http://schemas.openxmlformats.org/officeDocument/2006/relationships/slideLayout" Target="../slideLayouts/slideLayout100.xml"/><Relationship Id="rId117" Type="http://schemas.openxmlformats.org/officeDocument/2006/relationships/slideLayout" Target="../slideLayouts/slideLayout116.xml"/><Relationship Id="rId129" Type="http://schemas.openxmlformats.org/officeDocument/2006/relationships/slideLayout" Target="../slideLayouts/slideLayout128.xml"/><Relationship Id="rId157" Type="http://schemas.openxmlformats.org/officeDocument/2006/relationships/slideLayout" Target="../slideLayouts/slideLayout156.xml"/><Relationship Id="rId163" Type="http://schemas.openxmlformats.org/officeDocument/2006/relationships/slideLayout" Target="../slideLayouts/slideLayout162.xml"/><Relationship Id="rId168" Type="http://schemas.openxmlformats.org/officeDocument/2006/relationships/slideLayout" Target="../slideLayouts/slideLayout1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3" r:id="rId9"/>
    <p:sldLayoutId id="2147483689" r:id="rId32"/>
    <p:sldLayoutId id="2147483709" r:id="rId52"/>
    <p:sldLayoutId id="2147483720" r:id="rId63"/>
    <p:sldLayoutId id="2147483758" r:id="rId101"/>
    <p:sldLayoutId id="2147483774" r:id="rId117"/>
    <p:sldLayoutId id="2147483786" r:id="rId129"/>
    <p:sldLayoutId id="2147483814" r:id="rId157"/>
    <p:sldLayoutId id="2147483820" r:id="rId163"/>
    <p:sldLayoutId id="2147483825" r:id="rId16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chart" Target="../charts/chart2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3.png"/><Relationship Id="rId3" Type="http://schemas.openxmlformats.org/officeDocument/2006/relationships/image" Target="../media/image6.sv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Relationship Id="rId3" Type="http://schemas.openxmlformats.org/officeDocument/2006/relationships/image" Target="../media/image4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.dar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C663-9216-7338-AF82-AADF70A1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Q3 BUSINESS REVIEW</a:t>
            </a:r>
            <a:br>
              <a:rPr lang="en-ZA" dirty="0"/>
            </a:br>
            <a:r>
              <a:rPr lang="en-ZA" dirty="0"/>
              <a:t>ACME FOODS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FAA48-BE2D-9E45-4EF1-F42D1EEA02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Jane Doe, Client Lead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4EED6-4085-E2B0-BD4F-F8B0B326F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ZA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95180240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.one_line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661415-0365-84FE-A2A4-CAA6F7C2845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ZA"/>
              <a:t>Q3 performance highlights</a:t>
            </a:r>
          </a:p>
          <a:p>
            <a:r>
              <a:rPr lang="en-ZA"/>
              <a:t>How we delivered: our execution model</a:t>
            </a:r>
          </a:p>
          <a:p>
            <a:r>
              <a:rPr lang="en-ZA"/>
              <a:t>Your team</a:t>
            </a:r>
          </a:p>
          <a:p>
            <a:r>
              <a:rPr lang="en-ZA"/>
              <a:t>What we will measure in Q4</a:t>
            </a:r>
          </a:p>
          <a:p>
            <a:r>
              <a:rPr lang="en-ZA"/>
              <a:t>Next steps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45CC8A-727F-356D-09F2-C6473776F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88558-876A-EF97-9D54-36041E580D8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 dirty="0"/>
              <a:t>What we will cover today</a:t>
            </a:r>
          </a:p>
        </p:txBody>
      </p:sp>
    </p:spTree>
    <p:extLst>
      <p:ext uri="{BB962C8B-B14F-4D97-AF65-F5344CB8AC3E}">
        <p14:creationId xmlns:p14="http://schemas.microsoft.com/office/powerpoint/2010/main" val="367885642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.dar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B43-46AA-EEE2-B61B-30A3B3A6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Q3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EAAA6-711E-3BCC-1395-583F61FEAF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SECTION 01</a:t>
            </a:r>
          </a:p>
        </p:txBody>
      </p:sp>
    </p:spTree>
    <p:extLst>
      <p:ext uri="{BB962C8B-B14F-4D97-AF65-F5344CB8AC3E}">
        <p14:creationId xmlns:p14="http://schemas.microsoft.com/office/powerpoint/2010/main" val="235672042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s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5B511F-E6FD-004B-2C51-687DF188D25C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6332" y="4563713"/>
            <a:ext cx="3161606" cy="945323"/>
          </a:xfrm>
        </p:spPr>
        <p:txBody>
          <a:bodyPr/>
          <a:lstStyle/>
          <a:p>
            <a:r>
              <a:rPr lang="en-US" dirty="0"/>
              <a:t>On-shelf availability, up 4 points on Q2.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D17DF-AB6A-6234-59AB-85F17828F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Q3 RESULTS AT A GLANCE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01685-8990-F532-0A7B-45888E15FF5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 dirty="0"/>
              <a:t>Across 1,240 stores in modern and traditional trade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E99F9-B0F1-997F-3096-10F505390FC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16332" y="3471371"/>
            <a:ext cx="3161605" cy="923925"/>
          </a:xfrm>
        </p:spPr>
        <p:txBody>
          <a:bodyPr/>
          <a:lstStyle/>
          <a:p>
            <a:r>
              <a:rPr lang="en-ZA" sz="6600" dirty="0"/>
              <a:t>96%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A848F5-7999-D9E7-CEC2-DF242873BDF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1371348" y="2420381"/>
            <a:ext cx="2606585" cy="187039"/>
          </a:xfrm>
        </p:spPr>
        <p:txBody>
          <a:bodyPr/>
          <a:lstStyle/>
          <a:p>
            <a:r>
              <a:rPr lang="en-ZA" dirty="0"/>
              <a:t>AVAILABILITY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B4AD67-9196-1508-547F-A481BE221CF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16332" y="5917916"/>
            <a:ext cx="3161599" cy="307777"/>
          </a:xfrm>
        </p:spPr>
        <p:txBody>
          <a:bodyPr/>
          <a:lstStyle/>
          <a:p>
            <a:r>
              <a:rPr lang="en-US" dirty="0"/>
              <a:t>Source: Smollan store audits, Jul-Sep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F128D9-3074-27CD-DDDE-07669F6F399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4651369" y="4563713"/>
            <a:ext cx="3161606" cy="945323"/>
          </a:xfrm>
        </p:spPr>
        <p:txBody>
          <a:bodyPr/>
          <a:lstStyle/>
          <a:p>
            <a:r>
              <a:rPr lang="en-US" dirty="0"/>
              <a:t>Share of shelf in core categories.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F9282C-168B-3460-BDAE-5303BA28E5AB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4651369" y="3471371"/>
            <a:ext cx="3161605" cy="923925"/>
          </a:xfrm>
        </p:spPr>
        <p:txBody>
          <a:bodyPr/>
          <a:lstStyle/>
          <a:p>
            <a:r>
              <a:rPr lang="en-ZA" sz="6600" dirty="0"/>
              <a:t>31%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07091D-B7CE-DC9F-2C82-43497F92BAFA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5206385" y="2420381"/>
            <a:ext cx="2606585" cy="187039"/>
          </a:xfrm>
        </p:spPr>
        <p:txBody>
          <a:bodyPr/>
          <a:lstStyle/>
          <a:p>
            <a:r>
              <a:rPr lang="en-ZA" dirty="0"/>
              <a:t>SHARE OF SHELF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744944-C12C-32FB-FB6A-D8510B2BF449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4651369" y="5917916"/>
            <a:ext cx="3161599" cy="307777"/>
          </a:xfrm>
        </p:spPr>
        <p:txBody>
          <a:bodyPr/>
          <a:lstStyle/>
          <a:p>
            <a:r>
              <a:rPr lang="en-US" dirty="0"/>
              <a:t>Target 30%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A0912-A90B-59E8-7548-0186CF81041D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8491578" y="4563713"/>
            <a:ext cx="3161606" cy="945323"/>
          </a:xfrm>
        </p:spPr>
        <p:txBody>
          <a:bodyPr/>
          <a:lstStyle/>
          <a:p>
            <a:r>
              <a:rPr lang="en-US" dirty="0"/>
              <a:t>Planogram compliance across key accounts.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E4E6422-FC35-F168-0B46-B65C1B6B57D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8491578" y="3471371"/>
            <a:ext cx="3161605" cy="923925"/>
          </a:xfrm>
        </p:spPr>
        <p:txBody>
          <a:bodyPr/>
          <a:lstStyle/>
          <a:p>
            <a:r>
              <a:rPr lang="en-ZA" sz="6600" dirty="0"/>
              <a:t>92%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9AF793-42B1-21AA-9E7B-38CBA257CBB2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9046594" y="2420381"/>
            <a:ext cx="2606585" cy="187039"/>
          </a:xfrm>
        </p:spPr>
        <p:txBody>
          <a:bodyPr/>
          <a:lstStyle/>
          <a:p>
            <a:r>
              <a:rPr lang="en-ZA" dirty="0"/>
              <a:t>COMPLIANCE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84D266-FB42-EF66-7BFE-D059B962BD88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491578" y="5917916"/>
            <a:ext cx="3161599" cy="307777"/>
          </a:xfrm>
        </p:spPr>
        <p:txBody>
          <a:bodyPr/>
          <a:lstStyle/>
          <a:p>
            <a:r>
              <a:rPr lang="en-US" dirty="0"/>
              <a:t>Up from 85% in Q1</a:t>
            </a:r>
          </a:p>
        </p:txBody>
      </p:sp>
    </p:spTree>
    <p:extLst>
      <p:ext uri="{BB962C8B-B14F-4D97-AF65-F5344CB8AC3E}">
        <p14:creationId xmlns:p14="http://schemas.microsoft.com/office/powerpoint/2010/main" val="151920604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phs.1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Placeholder 6">
            <a:extLst>
              <a:ext uri="{FF2B5EF4-FFF2-40B4-BE49-F238E27FC236}">
                <a16:creationId xmlns:a16="http://schemas.microsoft.com/office/drawing/2014/main" id="{14E1F929-6AC5-657B-0096-92C6333A53B2}"/>
              </a:ext>
            </a:extLst>
          </p:cNvPr>
          <p:cNvGraphicFramePr>
            <a:graphicFrameLocks noGrp="1"/>
          </p:cNvGraphicFramePr>
          <p:nvPr>
            <p:ph type="chart" sz="quarter" idx="42"/>
            <p:extLst>
              <p:ext uri="{D42A27DB-BD31-4B8C-83A1-F6EECF244321}">
                <p14:modId xmlns:p14="http://schemas.microsoft.com/office/powerpoint/2010/main" val="3818532842"/>
              </p:ext>
            </p:extLst>
          </p:nvPr>
        </p:nvGraphicFramePr>
        <p:xfrm>
          <a:off x="585788" y="1716088"/>
          <a:ext cx="11050587" cy="473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0E88B69-1E16-D09A-54BC-F70B81919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SELL-OUT GROWTH BY MONTH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EE04E-F4AF-4602-3D9E-B878C7B689A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 dirty="0"/>
              <a:t>VALUE SALES, R MILLION</a:t>
            </a:r>
          </a:p>
        </p:txBody>
      </p:sp>
    </p:spTree>
    <p:extLst>
      <p:ext uri="{BB962C8B-B14F-4D97-AF65-F5344CB8AC3E}">
        <p14:creationId xmlns:p14="http://schemas.microsoft.com/office/powerpoint/2010/main" val="383958969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.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BCD67AE6-D533-5326-FC6F-FA3B7DEC2EFC}"/>
              </a:ext>
            </a:extLst>
          </p:cNvPr>
          <p:cNvGraphicFramePr>
            <a:graphicFrameLocks noGrp="1"/>
          </p:cNvGraphicFramePr>
          <p:nvPr>
            <p:ph type="tbl" sz="quarter" idx="39"/>
            <p:extLst>
              <p:ext uri="{D42A27DB-BD31-4B8C-83A1-F6EECF244321}">
                <p14:modId xmlns:p14="http://schemas.microsoft.com/office/powerpoint/2010/main" val="3738508674"/>
              </p:ext>
            </p:extLst>
          </p:nvPr>
        </p:nvGraphicFramePr>
        <p:xfrm>
          <a:off x="587375" y="1528763"/>
          <a:ext cx="11052174" cy="4471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0434">
                  <a:extLst>
                    <a:ext uri="{9D8B030D-6E8A-4147-A177-3AD203B41FA5}">
                      <a16:colId xmlns:a16="http://schemas.microsoft.com/office/drawing/2014/main" val="2070664791"/>
                    </a:ext>
                  </a:extLst>
                </a:gridCol>
                <a:gridCol w="2210434">
                  <a:extLst>
                    <a:ext uri="{9D8B030D-6E8A-4147-A177-3AD203B41FA5}">
                      <a16:colId xmlns:a16="http://schemas.microsoft.com/office/drawing/2014/main" val="2124677815"/>
                    </a:ext>
                  </a:extLst>
                </a:gridCol>
                <a:gridCol w="2210434">
                  <a:extLst>
                    <a:ext uri="{9D8B030D-6E8A-4147-A177-3AD203B41FA5}">
                      <a16:colId xmlns:a16="http://schemas.microsoft.com/office/drawing/2014/main" val="955265556"/>
                    </a:ext>
                  </a:extLst>
                </a:gridCol>
                <a:gridCol w="2210434">
                  <a:extLst>
                    <a:ext uri="{9D8B030D-6E8A-4147-A177-3AD203B41FA5}">
                      <a16:colId xmlns:a16="http://schemas.microsoft.com/office/drawing/2014/main" val="1599705045"/>
                    </a:ext>
                  </a:extLst>
                </a:gridCol>
                <a:gridCol w="2210434">
                  <a:extLst>
                    <a:ext uri="{9D8B030D-6E8A-4147-A177-3AD203B41FA5}">
                      <a16:colId xmlns:a16="http://schemas.microsoft.com/office/drawing/2014/main" val="1515869772"/>
                    </a:ext>
                  </a:extLst>
                </a:gridCol>
              </a:tblGrid>
              <a:tr h="500334"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OSA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SHARE OF SHELF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PROMO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92595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  <a:sym typeface="Wingdings 2" panose="05020102010507070707" pitchFamily="18" charset="2"/>
                        </a:rPr>
                        <a:t>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</a:rPr>
                        <a:t>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  <a:sym typeface="Wingdings 2" panose="05020102010507070707" pitchFamily="18" charset="2"/>
                        </a:rPr>
                        <a:t>94%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1"/>
                          </a:solidFill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02739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</a:rPr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  <a:sym typeface="Wingdings 2" panose="05020102010507070707" pitchFamily="18" charset="2"/>
                        </a:rPr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</a:rPr>
                        <a:t>91%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1"/>
                          </a:solidFill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226257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  <a:sym typeface="Wingdings 2" panose="05020102010507070707" pitchFamily="18" charset="2"/>
                        </a:rPr>
                        <a:t>94%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  <a:sym typeface="Wingdings 2" panose="05020102010507070707" pitchFamily="18" charset="2"/>
                        </a:rPr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  <a:sym typeface="Wingdings 2" panose="05020102010507070707" pitchFamily="18" charset="2"/>
                        </a:rPr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118016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</a:rPr>
                        <a:t>96%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1"/>
                          </a:solidFill>
                          <a:sym typeface="Wingdings 2" panose="05020102010507070707" pitchFamily="18" charset="2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193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5A5FEFE-504E-8C44-86A4-179D7637B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PERFORMANCE BY KEY ACCOUNT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06D96-4B50-6BF7-910E-1399799EEFD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ZA"/>
              <a:t>Q3 actuals vs. target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8F3E555-70A7-7D23-71C2-445EFBBBB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165" y="6264587"/>
            <a:ext cx="909709" cy="41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1706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.dar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B43-46AA-EEE2-B61B-30A3B3A6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HOW WE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EAAA6-711E-3BCC-1395-583F61FEAF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235672042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cess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A23DDD-10CC-2CD4-2298-7415F3BE9A0F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r>
              <a:rPr lang="en-US" b="1" dirty="0"/>
              <a:t>A weekly rhythm that turns store data into action within 48 hours.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AA0B06-2194-165F-7493-D392841CB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OUR EXECUTION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FE81C-7361-4C07-1E00-328DD19A02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FROM INSIGHT TO SHELF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7155E-EA5C-D238-8768-9F863F75504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7374" y="3476300"/>
            <a:ext cx="2160000" cy="304699"/>
          </a:xfrm>
        </p:spPr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5C1418-7DD3-8C59-E078-015D8BEEEC00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2810615" y="3476300"/>
            <a:ext cx="2159999" cy="304699"/>
          </a:xfrm>
        </p:spPr>
        <p:txBody>
          <a:bodyPr/>
          <a:lstStyle/>
          <a:p>
            <a:r>
              <a:rPr lang="en-US" dirty="0"/>
              <a:t>EXECUTE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A9F3EC-0296-A1AA-4DD9-35B9DBC32669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5033854" y="3476300"/>
            <a:ext cx="2159999" cy="304699"/>
          </a:xfrm>
        </p:spPr>
        <p:txBody>
          <a:bodyPr/>
          <a:lstStyle/>
          <a:p>
            <a:r>
              <a:rPr lang="en-US" dirty="0"/>
              <a:t>MEASURE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AB6C44-8F16-4373-8205-5F55C715B4B8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7257094" y="3476300"/>
            <a:ext cx="2159998" cy="304699"/>
          </a:xfrm>
        </p:spPr>
        <p:txBody>
          <a:bodyPr/>
          <a:lstStyle/>
          <a:p>
            <a:r>
              <a:rPr lang="en-US" dirty="0"/>
              <a:t>ANALYSE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0C18CA-D132-5866-939A-1767FAC16708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87375" y="5935191"/>
            <a:ext cx="2159999" cy="290849"/>
          </a:xfrm>
        </p:spPr>
        <p:txBody>
          <a:bodyPr/>
          <a:lstStyle/>
          <a:p>
            <a:r>
              <a:rPr lang="en-ZA" dirty="0"/>
              <a:t>Every Monday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1B04CF-3E09-94CA-CEAE-40C0A0778EA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810683" y="5935191"/>
            <a:ext cx="2153245" cy="290849"/>
          </a:xfrm>
        </p:spPr>
        <p:txBody>
          <a:bodyPr/>
          <a:lstStyle/>
          <a:p>
            <a:r>
              <a:rPr lang="en-ZA" dirty="0"/>
              <a:t>Daily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916F1E-F88D-894B-471E-11A6FCB696E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033854" y="5935191"/>
            <a:ext cx="2159999" cy="290849"/>
          </a:xfrm>
        </p:spPr>
        <p:txBody>
          <a:bodyPr/>
          <a:lstStyle/>
          <a:p>
            <a:r>
              <a:rPr lang="en-ZA" dirty="0"/>
              <a:t>Each visit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F949EA6-65E0-18C7-FE2E-A6AD6D2E9B22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257094" y="5935191"/>
            <a:ext cx="2159998" cy="290849"/>
          </a:xfrm>
        </p:spPr>
        <p:txBody>
          <a:bodyPr/>
          <a:lstStyle/>
          <a:p>
            <a:r>
              <a:rPr lang="en-ZA" dirty="0"/>
              <a:t>Within 24h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0EDC63-753A-3FED-1C08-00827B4F90C0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9476040" y="3476300"/>
            <a:ext cx="2159999" cy="304699"/>
          </a:xfrm>
        </p:spPr>
        <p:txBody>
          <a:bodyPr/>
          <a:lstStyle/>
          <a:p>
            <a:r>
              <a:rPr lang="en-US" dirty="0"/>
              <a:t>ACT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C9452-0BC6-DF6A-2F43-26B1BDDE4816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9476040" y="5935191"/>
            <a:ext cx="2159999" cy="290849"/>
          </a:xfrm>
        </p:spPr>
        <p:txBody>
          <a:bodyPr/>
          <a:lstStyle/>
          <a:p>
            <a:r>
              <a:rPr lang="en-ZA" dirty="0"/>
              <a:t>Within 48h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193E64-1758-10DF-1E57-E55528455F2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Route plans</a:t>
            </a:r>
          </a:p>
          <a:p>
            <a:r>
              <a:rPr lang="en-US" dirty="0"/>
              <a:t>Store priorities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08C9F3F-3D98-7119-020A-26FE601C8C2F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r>
              <a:rPr lang="en-US" dirty="0"/>
              <a:t>Merchandising</a:t>
            </a:r>
          </a:p>
          <a:p>
            <a:r>
              <a:rPr lang="en-US" dirty="0"/>
              <a:t>Promo set-up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75132B8-CD0A-1F09-4398-5D77253B3F8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r>
              <a:rPr lang="en-US" dirty="0"/>
              <a:t>Photo audits</a:t>
            </a:r>
          </a:p>
          <a:p>
            <a:r>
              <a:rPr lang="en-US" dirty="0"/>
              <a:t>OSA checks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38E4CD-0DF8-B1D9-FA96-10638ACF0F5F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r>
              <a:rPr lang="en-US" dirty="0"/>
              <a:t>Dashboards</a:t>
            </a:r>
          </a:p>
          <a:p>
            <a:r>
              <a:rPr lang="en-US" dirty="0"/>
              <a:t>Exception alerts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494C76E-C75A-775A-3574-C574A34A2841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r>
              <a:rPr lang="en-US" dirty="0"/>
              <a:t>Fix gaps</a:t>
            </a:r>
          </a:p>
          <a:p>
            <a:r>
              <a:rPr lang="en-US" dirty="0"/>
              <a:t>Share wins</a:t>
            </a:r>
          </a:p>
        </p:txBody>
      </p:sp>
    </p:spTree>
    <p:extLst>
      <p:ext uri="{BB962C8B-B14F-4D97-AF65-F5344CB8AC3E}">
        <p14:creationId xmlns:p14="http://schemas.microsoft.com/office/powerpoint/2010/main" val="316073281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s.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167A14-07B5-07BF-110B-E40C04BC484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1149618" y="5006903"/>
            <a:ext cx="4268416" cy="560603"/>
          </a:xfrm>
        </p:spPr>
        <p:txBody>
          <a:bodyPr/>
          <a:lstStyle/>
          <a:p>
            <a:r>
              <a:rPr lang="en-US" dirty="0"/>
              <a:t>Exception alerts route straight to the field team on the day.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079D41-95BA-2FA7-E603-A7A2364DD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ONE NUMBER THAT MATTERS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6500D-CED2-683C-C2D8-B411FDD02CA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88166" y="1007744"/>
            <a:ext cx="11051375" cy="205184"/>
          </a:xfrm>
        </p:spPr>
        <p:txBody>
          <a:bodyPr/>
          <a:lstStyle/>
          <a:p>
            <a:r>
              <a:rPr lang="en-ZA" dirty="0"/>
              <a:t>Out-of-stocks resolved within 48 hours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D53812-5659-9D2A-997E-CC679D1FD47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89%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FB071F-DE6F-C509-39F3-D089530B6C7E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r>
              <a:rPr lang="en-US" dirty="0"/>
              <a:t>RESOLVED IN 48H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889C08-1E7A-F5A3-5664-111EDD212A44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1149614" y="5790773"/>
            <a:ext cx="4268412" cy="307777"/>
          </a:xfrm>
        </p:spPr>
        <p:txBody>
          <a:bodyPr/>
          <a:lstStyle/>
          <a:p>
            <a:r>
              <a:rPr lang="en-US" dirty="0"/>
              <a:t>Q3 2026, all regions</a:t>
            </a:r>
          </a:p>
        </p:txBody>
      </p:sp>
      <p:pic>
        <p:nvPicPr>
          <p:cNvPr id="8" name="Picture Placeholder 7" descr="image.jpg"/>
          <p:cNvPicPr>
            <a:picLocks noGrp="1" noChangeAspect="1"/>
          </p:cNvPicPr>
          <p:nvPr>
            <p:ph type="pic" idx="31" sz="quarter"/>
          </p:nvPr>
        </p:nvPicPr>
        <p:blipFill>
          <a:blip r:embed="rId3"/>
          <a:srcRect l="16914" r="169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8983355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rg.t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6B2E28-4E16-E88B-F9F5-CA70DEF02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YOUR ACME FOODS TEAM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12668" y="294211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56345" y="3216432"/>
            <a:ext cx="7831421" cy="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56345" y="32164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56345" y="41308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37570" y="4405152"/>
            <a:ext cx="2237549" cy="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37570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87375" y="4679472"/>
            <a:ext cx="2100389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ANN LEE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Team Leader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75119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824924" y="4679472"/>
            <a:ext cx="2100389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RAJ PATEL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Team Leader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6150" y="3490752"/>
            <a:ext cx="2100389" cy="640080"/>
          </a:xfrm>
          <a:prstGeom prst="rect">
            <a:avLst/>
          </a:prstGeom>
          <a:solidFill>
            <a:srgbClr val="16B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SIPHO DLAMINI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Field Manager - Inland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1443" y="32164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31443" y="41308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12668" y="4405152"/>
            <a:ext cx="2237549" cy="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2668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62473" y="4679472"/>
            <a:ext cx="2100389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TOM BERG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Team Leader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50217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00022" y="4679472"/>
            <a:ext cx="2100389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LEA ROUX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Team Leader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248" y="3490752"/>
            <a:ext cx="2100389" cy="640080"/>
          </a:xfrm>
          <a:prstGeom prst="rect">
            <a:avLst/>
          </a:prstGeom>
          <a:solidFill>
            <a:srgbClr val="16B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MARIA SILVA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Field Manager - Coastal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87766" y="32164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587766" y="41308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87766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537571" y="4679472"/>
            <a:ext cx="2100389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OLA ADE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7571" y="3490752"/>
            <a:ext cx="2100389" cy="640080"/>
          </a:xfrm>
          <a:prstGeom prst="rect">
            <a:avLst/>
          </a:prstGeom>
          <a:solidFill>
            <a:srgbClr val="16B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KEN OTIENO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Insights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2473" y="2302032"/>
            <a:ext cx="2100389" cy="640080"/>
          </a:xfrm>
          <a:prstGeom prst="rect">
            <a:avLst/>
          </a:prstGeom>
          <a:solidFill>
            <a:srgbClr val="0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JANE DOE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Client Lead</a:t>
            </a:r>
          </a:p>
        </p:txBody>
      </p:sp>
    </p:spTree>
    <p:extLst>
      <p:ext uri="{BB962C8B-B14F-4D97-AF65-F5344CB8AC3E}">
        <p14:creationId xmlns:p14="http://schemas.microsoft.com/office/powerpoint/2010/main" val="165340915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s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0A7E-52AB-0453-819B-2D7F9E195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Q4 KPIs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3A730-1264-C5D7-F7AA-EF71F2A5EB9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4784948" y="1112161"/>
            <a:ext cx="1332000" cy="359073"/>
          </a:xfrm>
        </p:spPr>
        <p:txBody>
          <a:bodyPr/>
          <a:lstStyle/>
          <a:p>
            <a:r>
              <a:rPr lang="en-US" dirty="0"/>
              <a:t>OSA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3AE75-0D5F-0243-C2DC-1D255977C842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7077075" y="1094079"/>
            <a:ext cx="4383823" cy="395236"/>
          </a:xfrm>
        </p:spPr>
        <p:txBody>
          <a:bodyPr/>
          <a:lstStyle/>
          <a:p>
            <a:r>
              <a:rPr lang="en-GB" noProof="0" dirty="0"/>
              <a:t>On-shelf availability at or above 96% in all key accounts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B3264-2AB0-BD7E-F612-466C48C04939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588961" y="2952972"/>
            <a:ext cx="2830513" cy="487313"/>
          </a:xfrm>
        </p:spPr>
        <p:txBody>
          <a:bodyPr/>
          <a:lstStyle/>
          <a:p>
            <a:r>
              <a:rPr lang="en-US" dirty="0"/>
              <a:t>Co-created with Acme Foods, reviewed monthly.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C664E2-BED5-C49C-3769-35C3BDA75B5E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84948" y="2223839"/>
            <a:ext cx="1332000" cy="359073"/>
          </a:xfrm>
        </p:spPr>
        <p:txBody>
          <a:bodyPr/>
          <a:lstStyle/>
          <a:p>
            <a:r>
              <a:rPr lang="en-US" dirty="0"/>
              <a:t>SHARE OF SHELF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0C2267-6FFB-DF77-2676-6EC96E8F47AB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7077075" y="2308349"/>
            <a:ext cx="4383823" cy="190052"/>
          </a:xfrm>
        </p:spPr>
        <p:txBody>
          <a:bodyPr/>
          <a:lstStyle/>
          <a:p>
            <a:r>
              <a:rPr lang="en-GB" noProof="0" dirty="0"/>
              <a:t>Maintain 31%+ share of shelf in core categories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DF1511-7544-5056-40E1-30C813A9D0DD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4784948" y="3335517"/>
            <a:ext cx="1332000" cy="359073"/>
          </a:xfrm>
        </p:spPr>
        <p:txBody>
          <a:bodyPr/>
          <a:lstStyle/>
          <a:p>
            <a:r>
              <a:rPr lang="en-US" dirty="0"/>
              <a:t>COMPLIANCE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5C7AC7-FB39-547F-0534-FBD1B4CE5124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7077075" y="3420027"/>
            <a:ext cx="4383823" cy="190052"/>
          </a:xfrm>
        </p:spPr>
        <p:txBody>
          <a:bodyPr/>
          <a:lstStyle/>
          <a:p>
            <a:r>
              <a:rPr lang="en-GB" noProof="0" dirty="0"/>
              <a:t>Planogram compliance of 93% or higher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50110E-2F1C-4DD2-DE20-A7D669FB4212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784948" y="4447195"/>
            <a:ext cx="1332000" cy="359073"/>
          </a:xfrm>
        </p:spPr>
        <p:txBody>
          <a:bodyPr/>
          <a:lstStyle/>
          <a:p>
            <a:r>
              <a:rPr lang="en-US" dirty="0"/>
              <a:t>PROMO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82940E-8A94-5282-7E38-9B47E17CD910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7077075" y="4429113"/>
            <a:ext cx="4383823" cy="395236"/>
          </a:xfrm>
        </p:spPr>
        <p:txBody>
          <a:bodyPr/>
          <a:lstStyle/>
          <a:p>
            <a:r>
              <a:rPr lang="en-GB" noProof="0" dirty="0"/>
              <a:t>100% of promotions live on day one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506BE56-4763-BC52-AA3F-4F40AC83CDF3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4784948" y="5558873"/>
            <a:ext cx="1332000" cy="359073"/>
          </a:xfrm>
        </p:spPr>
        <p:txBody>
          <a:bodyPr/>
          <a:lstStyle/>
          <a:p>
            <a:r>
              <a:rPr lang="en-US" dirty="0"/>
              <a:t>RESPONSE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B56E32D-C88E-F548-B33B-288330A5FC9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>
          <a:xfrm>
            <a:off x="7077075" y="5643383"/>
            <a:ext cx="4383823" cy="190052"/>
          </a:xfrm>
        </p:spPr>
        <p:txBody>
          <a:bodyPr/>
          <a:lstStyle/>
          <a:p>
            <a:r>
              <a:rPr lang="en-GB" noProof="0" dirty="0"/>
              <a:t>Out-of-stocks resolved within 48 hours</a:t>
            </a:r>
          </a:p>
        </p:txBody>
      </p:sp>
    </p:spTree>
    <p:extLst>
      <p:ext uri="{BB962C8B-B14F-4D97-AF65-F5344CB8AC3E}">
        <p14:creationId xmlns:p14="http://schemas.microsoft.com/office/powerpoint/2010/main" val="119108149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.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3">
            <a:extLst>
              <a:ext uri="{FF2B5EF4-FFF2-40B4-BE49-F238E27FC236}">
                <a16:creationId xmlns:a16="http://schemas.microsoft.com/office/drawing/2014/main" id="{AC541C1C-3F35-07F1-A3D4-CC380D24D20B}"/>
              </a:ext>
            </a:extLst>
          </p:cNvPr>
          <p:cNvSpPr txBox="1">
            <a:spLocks/>
          </p:cNvSpPr>
          <p:nvPr userDrawn="1"/>
        </p:nvSpPr>
        <p:spPr>
          <a:xfrm>
            <a:off x="792819" y="3756666"/>
            <a:ext cx="22212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spc="30" baseline="0" dirty="0">
                <a:solidFill>
                  <a:schemeClr val="bg1"/>
                </a:solidFill>
              </a:rPr>
              <a:t>AN EXCEPTIONAL OFFER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1D5C693B-E8A4-5411-05B7-49385E73F94C}"/>
              </a:ext>
            </a:extLst>
          </p:cNvPr>
          <p:cNvSpPr txBox="1">
            <a:spLocks/>
          </p:cNvSpPr>
          <p:nvPr userDrawn="1"/>
        </p:nvSpPr>
        <p:spPr>
          <a:xfrm>
            <a:off x="3601094" y="3756666"/>
            <a:ext cx="22212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spc="30" baseline="0" dirty="0">
                <a:solidFill>
                  <a:schemeClr val="bg1"/>
                </a:solidFill>
              </a:rPr>
              <a:t>A GLOBAL</a:t>
            </a:r>
            <a:br>
              <a:rPr lang="en-ZA" sz="1600" spc="30" baseline="0" dirty="0">
                <a:solidFill>
                  <a:schemeClr val="bg1"/>
                </a:solidFill>
              </a:rPr>
            </a:br>
            <a:r>
              <a:rPr lang="en-ZA" sz="1600" spc="30" baseline="0" dirty="0">
                <a:solidFill>
                  <a:schemeClr val="bg1"/>
                </a:solidFill>
              </a:rPr>
              <a:t>BUSINESS</a:t>
            </a:r>
          </a:p>
        </p:txBody>
      </p:sp>
      <p:sp>
        <p:nvSpPr>
          <p:cNvPr id="56" name="Title 3">
            <a:extLst>
              <a:ext uri="{FF2B5EF4-FFF2-40B4-BE49-F238E27FC236}">
                <a16:creationId xmlns:a16="http://schemas.microsoft.com/office/drawing/2014/main" id="{7A7D06DA-8719-DEDA-E469-985AAD700FF7}"/>
              </a:ext>
            </a:extLst>
          </p:cNvPr>
          <p:cNvSpPr txBox="1">
            <a:spLocks/>
          </p:cNvSpPr>
          <p:nvPr userDrawn="1"/>
        </p:nvSpPr>
        <p:spPr>
          <a:xfrm>
            <a:off x="6406350" y="3756666"/>
            <a:ext cx="2219325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spc="30" baseline="0" dirty="0">
                <a:solidFill>
                  <a:schemeClr val="bg1"/>
                </a:solidFill>
              </a:rPr>
              <a:t>AN ADVANCED OPERATING MODEL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873B3D97-088C-AC85-3522-9A72E0F47D24}"/>
              </a:ext>
            </a:extLst>
          </p:cNvPr>
          <p:cNvSpPr txBox="1">
            <a:spLocks/>
          </p:cNvSpPr>
          <p:nvPr userDrawn="1"/>
        </p:nvSpPr>
        <p:spPr>
          <a:xfrm>
            <a:off x="9209727" y="3756666"/>
            <a:ext cx="22212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spc="30" baseline="0" dirty="0">
                <a:solidFill>
                  <a:schemeClr val="bg1"/>
                </a:solidFill>
              </a:rPr>
              <a:t>A GREAT PLACE</a:t>
            </a:r>
            <a:br>
              <a:rPr lang="en-ZA" sz="1600" spc="30" baseline="0" dirty="0">
                <a:solidFill>
                  <a:schemeClr val="bg1"/>
                </a:solidFill>
              </a:rPr>
            </a:br>
            <a:r>
              <a:rPr lang="en-ZA" sz="1600" spc="30" baseline="0" dirty="0">
                <a:solidFill>
                  <a:schemeClr val="bg1"/>
                </a:solidFill>
              </a:rPr>
              <a:t>TO WORK</a:t>
            </a:r>
          </a:p>
        </p:txBody>
      </p:sp>
      <p:sp>
        <p:nvSpPr>
          <p:cNvPr id="58" name="Title 3">
            <a:extLst>
              <a:ext uri="{FF2B5EF4-FFF2-40B4-BE49-F238E27FC236}">
                <a16:creationId xmlns:a16="http://schemas.microsoft.com/office/drawing/2014/main" id="{090C44C8-05EA-C32F-5621-3135BE9B3B88}"/>
              </a:ext>
            </a:extLst>
          </p:cNvPr>
          <p:cNvSpPr txBox="1">
            <a:spLocks/>
          </p:cNvSpPr>
          <p:nvPr userDrawn="1"/>
        </p:nvSpPr>
        <p:spPr>
          <a:xfrm>
            <a:off x="879816" y="4662237"/>
            <a:ext cx="2047205" cy="641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700"/>
              </a:lnSpc>
            </a:pPr>
            <a:r>
              <a:rPr lang="en-ZA" sz="1400" spc="40" baseline="0" dirty="0">
                <a:solidFill>
                  <a:schemeClr val="bg1"/>
                </a:solidFill>
              </a:rPr>
              <a:t>A broad range of services and integrated solutions</a:t>
            </a:r>
          </a:p>
        </p:txBody>
      </p:sp>
      <p:sp>
        <p:nvSpPr>
          <p:cNvPr id="59" name="Title 3">
            <a:extLst>
              <a:ext uri="{FF2B5EF4-FFF2-40B4-BE49-F238E27FC236}">
                <a16:creationId xmlns:a16="http://schemas.microsoft.com/office/drawing/2014/main" id="{29B3F146-E9F0-A087-4AC1-A1CC555276D3}"/>
              </a:ext>
            </a:extLst>
          </p:cNvPr>
          <p:cNvSpPr txBox="1">
            <a:spLocks/>
          </p:cNvSpPr>
          <p:nvPr userDrawn="1"/>
        </p:nvSpPr>
        <p:spPr>
          <a:xfrm>
            <a:off x="3764914" y="4662237"/>
            <a:ext cx="1893559" cy="641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700"/>
              </a:lnSpc>
            </a:pPr>
            <a:r>
              <a:rPr lang="en-ZA" sz="1400" spc="40" baseline="0" dirty="0">
                <a:solidFill>
                  <a:schemeClr val="bg1"/>
                </a:solidFill>
              </a:rPr>
              <a:t>We can work locally, regionally and globally</a:t>
            </a:r>
          </a:p>
        </p:txBody>
      </p:sp>
      <p:sp>
        <p:nvSpPr>
          <p:cNvPr id="60" name="Title 3">
            <a:extLst>
              <a:ext uri="{FF2B5EF4-FFF2-40B4-BE49-F238E27FC236}">
                <a16:creationId xmlns:a16="http://schemas.microsoft.com/office/drawing/2014/main" id="{007B24CD-7C03-0565-B997-D6400DF209C9}"/>
              </a:ext>
            </a:extLst>
          </p:cNvPr>
          <p:cNvSpPr txBox="1">
            <a:spLocks/>
          </p:cNvSpPr>
          <p:nvPr userDrawn="1"/>
        </p:nvSpPr>
        <p:spPr>
          <a:xfrm>
            <a:off x="6566452" y="4662237"/>
            <a:ext cx="1899117" cy="641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700"/>
              </a:lnSpc>
            </a:pPr>
            <a:r>
              <a:rPr lang="en-ZA" sz="1400" spc="40" baseline="0" dirty="0">
                <a:solidFill>
                  <a:schemeClr val="bg1"/>
                </a:solidFill>
              </a:rPr>
              <a:t>Agility, pace, precision and insight</a:t>
            </a:r>
          </a:p>
        </p:txBody>
      </p:sp>
      <p:sp>
        <p:nvSpPr>
          <p:cNvPr id="61" name="Title 3">
            <a:extLst>
              <a:ext uri="{FF2B5EF4-FFF2-40B4-BE49-F238E27FC236}">
                <a16:creationId xmlns:a16="http://schemas.microsoft.com/office/drawing/2014/main" id="{B1DE7029-0873-D6EE-1420-940B5715EAAF}"/>
              </a:ext>
            </a:extLst>
          </p:cNvPr>
          <p:cNvSpPr txBox="1">
            <a:spLocks/>
          </p:cNvSpPr>
          <p:nvPr userDrawn="1"/>
        </p:nvSpPr>
        <p:spPr>
          <a:xfrm>
            <a:off x="9296724" y="4662237"/>
            <a:ext cx="2047205" cy="641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1700"/>
              </a:lnSpc>
            </a:pPr>
            <a:r>
              <a:rPr lang="en-ZA" sz="1400" spc="40" baseline="0" dirty="0">
                <a:solidFill>
                  <a:schemeClr val="bg1"/>
                </a:solidFill>
              </a:rPr>
              <a:t>Highly engaged people to drive performance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15B46-15FD-19B0-0667-C4E8C8484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WHAT MAKES SMOLLAN UNIQUE?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BE2CE-7938-A341-94A0-1EA937AEC15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GB"/>
              <a:t>WINNING AT THE POINT OF PURCHASE</a:t>
            </a:r>
          </a:p>
        </p:txBody>
      </p:sp>
    </p:spTree>
    <p:extLst>
      <p:ext uri="{BB962C8B-B14F-4D97-AF65-F5344CB8AC3E}">
        <p14:creationId xmlns:p14="http://schemas.microsoft.com/office/powerpoint/2010/main" val="347852104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you.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EF12-F00F-0355-C84E-EE10A29F2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28ACF-53E4-96A5-C001-D1915A05271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ZA"/>
              <a:t>FOR THE OPPORTUNITY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309EB-430B-CC15-9547-D0077EBAD18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ZA"/>
              <a:t>Thank you for a strong quarter together. We look forward to an even better Q4.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446A3-3D83-7FA3-134A-2C68B322C22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/>
              <a:t>Agree Q4 KPI targets by 31 October</a:t>
            </a:r>
          </a:p>
          <a:p>
            <a:r>
              <a:rPr lang="en-ZA"/>
              <a:t>Monthly performance reviews</a:t>
            </a:r>
          </a:p>
          <a:p>
            <a:r>
              <a:rPr lang="en-ZA"/>
              <a:t>Q4 review in January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876283-B62D-F1A2-9DDE-338D71276E7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ZA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95841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OLLAN 2021">
      <a:dk1>
        <a:srgbClr val="B4C3CE"/>
      </a:dk1>
      <a:lt1>
        <a:srgbClr val="FFFFFF"/>
      </a:lt1>
      <a:dk2>
        <a:srgbClr val="00284E"/>
      </a:dk2>
      <a:lt2>
        <a:srgbClr val="EFF2F6"/>
      </a:lt2>
      <a:accent1>
        <a:srgbClr val="005083"/>
      </a:accent1>
      <a:accent2>
        <a:srgbClr val="16B795"/>
      </a:accent2>
      <a:accent3>
        <a:srgbClr val="0079C0"/>
      </a:accent3>
      <a:accent4>
        <a:srgbClr val="00BBF0"/>
      </a:accent4>
      <a:accent5>
        <a:srgbClr val="37465B"/>
      </a:accent5>
      <a:accent6>
        <a:srgbClr val="8AC546"/>
      </a:accent6>
      <a:hlink>
        <a:srgbClr val="549AD3"/>
      </a:hlink>
      <a:folHlink>
        <a:srgbClr val="0E1D29"/>
      </a:folHlink>
    </a:clrScheme>
    <a:fontScheme name="SMOLLAN FONTS">
      <a:majorFont>
        <a:latin typeface="Montserra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THIS PACK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Smollan master template</dc:title>
  <dc:creator>Smollan Design System</dc:creator>
  <cp:lastModifiedBy>Smollan Design System</cp:lastModifiedBy>
  <cp:revision>28</cp:revision>
  <dcterms:created xsi:type="dcterms:W3CDTF">2024-02-06T14:31:56Z</dcterms:created>
  <dcterms:modified xsi:type="dcterms:W3CDTF">2024-02-25T11:22:04Z</dcterms:modified>
  <dc:description/>
  <cp:keywords/>
  <dc:subject/>
</cp:coreProperties>
</file>